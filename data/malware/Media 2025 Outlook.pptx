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2.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3.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5"/>
    <p:sldMasterId id="2147483652" r:id="rId6"/>
  </p:sldMasterIdLst>
  <p:notesMasterIdLst>
    <p:notesMasterId r:id="rId34"/>
  </p:notesMasterIdLst>
  <p:handoutMasterIdLst>
    <p:handoutMasterId r:id="rId35"/>
  </p:handoutMasterIdLst>
  <p:sldIdLst>
    <p:sldId id="256" r:id="rId7"/>
    <p:sldId id="265" r:id="rId8"/>
    <p:sldId id="261" r:id="rId9"/>
    <p:sldId id="323" r:id="rId10"/>
    <p:sldId id="273" r:id="rId11"/>
    <p:sldId id="303" r:id="rId12"/>
    <p:sldId id="307" r:id="rId13"/>
    <p:sldId id="322" r:id="rId14"/>
    <p:sldId id="334" r:id="rId15"/>
    <p:sldId id="332" r:id="rId16"/>
    <p:sldId id="308" r:id="rId17"/>
    <p:sldId id="299" r:id="rId18"/>
    <p:sldId id="325" r:id="rId19"/>
    <p:sldId id="324" r:id="rId20"/>
    <p:sldId id="326" r:id="rId21"/>
    <p:sldId id="333" r:id="rId22"/>
    <p:sldId id="328" r:id="rId23"/>
    <p:sldId id="329" r:id="rId24"/>
    <p:sldId id="313" r:id="rId25"/>
    <p:sldId id="314" r:id="rId26"/>
    <p:sldId id="305" r:id="rId27"/>
    <p:sldId id="331" r:id="rId28"/>
    <p:sldId id="311" r:id="rId29"/>
    <p:sldId id="320" r:id="rId30"/>
    <p:sldId id="330" r:id="rId31"/>
    <p:sldId id="327" r:id="rId32"/>
    <p:sldId id="312" r:id="rId33"/>
  </p:sldIdLst>
  <p:sldSz cx="10058400" cy="7772400"/>
  <p:notesSz cx="7150100" cy="9436100"/>
  <p:custDataLst>
    <p:tags r:id="rId36"/>
  </p:custDataLst>
  <p:defaultTextStyle>
    <a:defPPr>
      <a:defRPr lang="en-US"/>
    </a:defPPr>
    <a:lvl1pPr algn="ctr" rtl="0" eaLnBrk="0" fontAlgn="base" hangingPunct="0">
      <a:spcBef>
        <a:spcPct val="50000"/>
      </a:spcBef>
      <a:spcAft>
        <a:spcPct val="0"/>
      </a:spcAft>
      <a:defRPr sz="1100" kern="1200">
        <a:solidFill>
          <a:schemeClr val="tx1"/>
        </a:solidFill>
        <a:latin typeface="Arial" charset="0"/>
        <a:ea typeface="LF_Kai" pitchFamily="65" charset="-120"/>
        <a:cs typeface="+mn-cs"/>
      </a:defRPr>
    </a:lvl1pPr>
    <a:lvl2pPr marL="457200" algn="ctr" rtl="0" eaLnBrk="0" fontAlgn="base" hangingPunct="0">
      <a:spcBef>
        <a:spcPct val="50000"/>
      </a:spcBef>
      <a:spcAft>
        <a:spcPct val="0"/>
      </a:spcAft>
      <a:defRPr sz="1100" kern="1200">
        <a:solidFill>
          <a:schemeClr val="tx1"/>
        </a:solidFill>
        <a:latin typeface="Arial" charset="0"/>
        <a:ea typeface="LF_Kai" pitchFamily="65" charset="-120"/>
        <a:cs typeface="+mn-cs"/>
      </a:defRPr>
    </a:lvl2pPr>
    <a:lvl3pPr marL="914400" algn="ctr" rtl="0" eaLnBrk="0" fontAlgn="base" hangingPunct="0">
      <a:spcBef>
        <a:spcPct val="50000"/>
      </a:spcBef>
      <a:spcAft>
        <a:spcPct val="0"/>
      </a:spcAft>
      <a:defRPr sz="1100" kern="1200">
        <a:solidFill>
          <a:schemeClr val="tx1"/>
        </a:solidFill>
        <a:latin typeface="Arial" charset="0"/>
        <a:ea typeface="LF_Kai" pitchFamily="65" charset="-120"/>
        <a:cs typeface="+mn-cs"/>
      </a:defRPr>
    </a:lvl3pPr>
    <a:lvl4pPr marL="1371600" algn="ctr" rtl="0" eaLnBrk="0" fontAlgn="base" hangingPunct="0">
      <a:spcBef>
        <a:spcPct val="50000"/>
      </a:spcBef>
      <a:spcAft>
        <a:spcPct val="0"/>
      </a:spcAft>
      <a:defRPr sz="1100" kern="1200">
        <a:solidFill>
          <a:schemeClr val="tx1"/>
        </a:solidFill>
        <a:latin typeface="Arial" charset="0"/>
        <a:ea typeface="LF_Kai" pitchFamily="65" charset="-120"/>
        <a:cs typeface="+mn-cs"/>
      </a:defRPr>
    </a:lvl4pPr>
    <a:lvl5pPr marL="1828800" algn="ctr" rtl="0" eaLnBrk="0" fontAlgn="base" hangingPunct="0">
      <a:spcBef>
        <a:spcPct val="50000"/>
      </a:spcBef>
      <a:spcAft>
        <a:spcPct val="0"/>
      </a:spcAft>
      <a:defRPr sz="1100" kern="1200">
        <a:solidFill>
          <a:schemeClr val="tx1"/>
        </a:solidFill>
        <a:latin typeface="Arial" charset="0"/>
        <a:ea typeface="LF_Kai" pitchFamily="65" charset="-120"/>
        <a:cs typeface="+mn-cs"/>
      </a:defRPr>
    </a:lvl5pPr>
    <a:lvl6pPr marL="2286000" algn="l" defTabSz="914400" rtl="0" eaLnBrk="1" latinLnBrk="0" hangingPunct="1">
      <a:defRPr sz="1100" kern="1200">
        <a:solidFill>
          <a:schemeClr val="tx1"/>
        </a:solidFill>
        <a:latin typeface="Arial" charset="0"/>
        <a:ea typeface="LF_Kai" pitchFamily="65" charset="-120"/>
        <a:cs typeface="+mn-cs"/>
      </a:defRPr>
    </a:lvl6pPr>
    <a:lvl7pPr marL="2743200" algn="l" defTabSz="914400" rtl="0" eaLnBrk="1" latinLnBrk="0" hangingPunct="1">
      <a:defRPr sz="1100" kern="1200">
        <a:solidFill>
          <a:schemeClr val="tx1"/>
        </a:solidFill>
        <a:latin typeface="Arial" charset="0"/>
        <a:ea typeface="LF_Kai" pitchFamily="65" charset="-120"/>
        <a:cs typeface="+mn-cs"/>
      </a:defRPr>
    </a:lvl7pPr>
    <a:lvl8pPr marL="3200400" algn="l" defTabSz="914400" rtl="0" eaLnBrk="1" latinLnBrk="0" hangingPunct="1">
      <a:defRPr sz="1100" kern="1200">
        <a:solidFill>
          <a:schemeClr val="tx1"/>
        </a:solidFill>
        <a:latin typeface="Arial" charset="0"/>
        <a:ea typeface="LF_Kai" pitchFamily="65" charset="-120"/>
        <a:cs typeface="+mn-cs"/>
      </a:defRPr>
    </a:lvl8pPr>
    <a:lvl9pPr marL="3657600" algn="l" defTabSz="914400" rtl="0" eaLnBrk="1" latinLnBrk="0" hangingPunct="1">
      <a:defRPr sz="1100" kern="1200">
        <a:solidFill>
          <a:schemeClr val="tx1"/>
        </a:solidFill>
        <a:latin typeface="Arial" charset="0"/>
        <a:ea typeface="LF_Kai" pitchFamily="65" charset="-120"/>
        <a:cs typeface="+mn-cs"/>
      </a:defRPr>
    </a:lvl9pPr>
  </p:defaultTextStyle>
  <p:extLst>
    <p:ext uri="{EFAFB233-063F-42B5-8137-9DF3F51BA10A}">
      <p15:sldGuideLst xmlns:p15="http://schemas.microsoft.com/office/powerpoint/2012/main">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FFFFF9"/>
    <a:srgbClr val="FFFFFA"/>
    <a:srgbClr val="FFFFFB"/>
    <a:srgbClr val="FFFFFC"/>
    <a:srgbClr val="4E8ABE"/>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87531" autoAdjust="0"/>
  </p:normalViewPr>
  <p:slideViewPr>
    <p:cSldViewPr>
      <p:cViewPr varScale="1">
        <p:scale>
          <a:sx n="126" d="100"/>
          <a:sy n="126" d="100"/>
        </p:scale>
        <p:origin x="2454" y="120"/>
      </p:cViewPr>
      <p:guideLst>
        <p:guide orient="horz" pos="2448"/>
        <p:guide pos="31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gs" Target="tags/tag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NAEAST.ad.jpmorganchase.com\amerib$\GR\RESDATA5\aquadrani\David\Agency\Agency%20Multiple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NAEAST.ad.jpmorganchase.com\amerib$\GR\RESDATA5\aquadrani\David\Agency\Agency%20Multiple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NAEAST.ad.jpmorganchase.com\amerib$\GR\RESDATA5\aquadrani\Kiscada\Cinema\2025%20BO%20Model%20+%20wide%20release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NAEAST.ad.jpmorganchase.com\amerib$\GR\RESDATA5\aquadrani\Kiscada\Cinema\2025%20BO%20Model%20+%20wide%20releases.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xMode val="edge"/>
          <c:yMode val="edge"/>
          <c:x val="1.1695906432748537E-2"/>
          <c:y val="2.839256181949373E-2"/>
          <c:w val="0.98830409356725146"/>
          <c:h val="0.9716074381805061"/>
        </c:manualLayout>
      </c:layout>
      <c:lineChart>
        <c:grouping val="standard"/>
        <c:varyColors val="0"/>
        <c:ser>
          <c:idx val="0"/>
          <c:order val="0"/>
          <c:spPr>
            <a:ln w="28575" cap="rnd">
              <a:solidFill>
                <a:schemeClr val="accent1"/>
              </a:solidFill>
              <a:round/>
            </a:ln>
            <a:effectLst/>
          </c:spPr>
          <c:marker>
            <c:symbol val="none"/>
          </c:marker>
          <c:cat>
            <c:numRef>
              <c:f>OMC!$B$4640:$B$4902</c:f>
              <c:numCache>
                <c:formatCode>m/d/yyyy</c:formatCode>
                <c:ptCount val="263"/>
                <c:pt idx="0">
                  <c:v>45266</c:v>
                </c:pt>
                <c:pt idx="1">
                  <c:v>45267</c:v>
                </c:pt>
                <c:pt idx="2">
                  <c:v>45268</c:v>
                </c:pt>
                <c:pt idx="3">
                  <c:v>45271</c:v>
                </c:pt>
                <c:pt idx="4">
                  <c:v>45272</c:v>
                </c:pt>
                <c:pt idx="5">
                  <c:v>45273</c:v>
                </c:pt>
                <c:pt idx="6">
                  <c:v>45274</c:v>
                </c:pt>
                <c:pt idx="7">
                  <c:v>45275</c:v>
                </c:pt>
                <c:pt idx="8">
                  <c:v>45278</c:v>
                </c:pt>
                <c:pt idx="9">
                  <c:v>45279</c:v>
                </c:pt>
                <c:pt idx="10">
                  <c:v>45280</c:v>
                </c:pt>
                <c:pt idx="11">
                  <c:v>45281</c:v>
                </c:pt>
                <c:pt idx="12">
                  <c:v>45282</c:v>
                </c:pt>
                <c:pt idx="13">
                  <c:v>45285</c:v>
                </c:pt>
                <c:pt idx="14">
                  <c:v>45286</c:v>
                </c:pt>
                <c:pt idx="15">
                  <c:v>45287</c:v>
                </c:pt>
                <c:pt idx="16">
                  <c:v>45288</c:v>
                </c:pt>
                <c:pt idx="17">
                  <c:v>45289</c:v>
                </c:pt>
                <c:pt idx="18">
                  <c:v>45292</c:v>
                </c:pt>
                <c:pt idx="19">
                  <c:v>45293</c:v>
                </c:pt>
                <c:pt idx="20">
                  <c:v>45294</c:v>
                </c:pt>
                <c:pt idx="21">
                  <c:v>45295</c:v>
                </c:pt>
                <c:pt idx="22">
                  <c:v>45296</c:v>
                </c:pt>
                <c:pt idx="23">
                  <c:v>45299</c:v>
                </c:pt>
                <c:pt idx="24">
                  <c:v>45300</c:v>
                </c:pt>
                <c:pt idx="25">
                  <c:v>45301</c:v>
                </c:pt>
                <c:pt idx="26">
                  <c:v>45302</c:v>
                </c:pt>
                <c:pt idx="27">
                  <c:v>45303</c:v>
                </c:pt>
                <c:pt idx="28">
                  <c:v>45306</c:v>
                </c:pt>
                <c:pt idx="29">
                  <c:v>45307</c:v>
                </c:pt>
                <c:pt idx="30">
                  <c:v>45308</c:v>
                </c:pt>
                <c:pt idx="31">
                  <c:v>45309</c:v>
                </c:pt>
                <c:pt idx="32">
                  <c:v>45310</c:v>
                </c:pt>
                <c:pt idx="33">
                  <c:v>45313</c:v>
                </c:pt>
                <c:pt idx="34">
                  <c:v>45314</c:v>
                </c:pt>
                <c:pt idx="35">
                  <c:v>45315</c:v>
                </c:pt>
                <c:pt idx="36">
                  <c:v>45316</c:v>
                </c:pt>
                <c:pt idx="37">
                  <c:v>45317</c:v>
                </c:pt>
                <c:pt idx="38">
                  <c:v>45320</c:v>
                </c:pt>
                <c:pt idx="39">
                  <c:v>45321</c:v>
                </c:pt>
                <c:pt idx="40">
                  <c:v>45322</c:v>
                </c:pt>
                <c:pt idx="41">
                  <c:v>45323</c:v>
                </c:pt>
                <c:pt idx="42">
                  <c:v>45324</c:v>
                </c:pt>
                <c:pt idx="43">
                  <c:v>45327</c:v>
                </c:pt>
                <c:pt idx="44">
                  <c:v>45328</c:v>
                </c:pt>
                <c:pt idx="45">
                  <c:v>45329</c:v>
                </c:pt>
                <c:pt idx="46">
                  <c:v>45330</c:v>
                </c:pt>
                <c:pt idx="47">
                  <c:v>45331</c:v>
                </c:pt>
                <c:pt idx="48">
                  <c:v>45334</c:v>
                </c:pt>
                <c:pt idx="49">
                  <c:v>45335</c:v>
                </c:pt>
                <c:pt idx="50">
                  <c:v>45336</c:v>
                </c:pt>
                <c:pt idx="51">
                  <c:v>45337</c:v>
                </c:pt>
                <c:pt idx="52">
                  <c:v>45338</c:v>
                </c:pt>
                <c:pt idx="53">
                  <c:v>45341</c:v>
                </c:pt>
                <c:pt idx="54">
                  <c:v>45342</c:v>
                </c:pt>
                <c:pt idx="55">
                  <c:v>45343</c:v>
                </c:pt>
                <c:pt idx="56">
                  <c:v>45344</c:v>
                </c:pt>
                <c:pt idx="57">
                  <c:v>45345</c:v>
                </c:pt>
                <c:pt idx="58">
                  <c:v>45348</c:v>
                </c:pt>
                <c:pt idx="59">
                  <c:v>45349</c:v>
                </c:pt>
                <c:pt idx="60">
                  <c:v>45350</c:v>
                </c:pt>
                <c:pt idx="61">
                  <c:v>45351</c:v>
                </c:pt>
                <c:pt idx="62">
                  <c:v>45352</c:v>
                </c:pt>
                <c:pt idx="63">
                  <c:v>45355</c:v>
                </c:pt>
                <c:pt idx="64">
                  <c:v>45356</c:v>
                </c:pt>
                <c:pt idx="65">
                  <c:v>45357</c:v>
                </c:pt>
                <c:pt idx="66">
                  <c:v>45358</c:v>
                </c:pt>
                <c:pt idx="67">
                  <c:v>45359</c:v>
                </c:pt>
                <c:pt idx="68">
                  <c:v>45362</c:v>
                </c:pt>
                <c:pt idx="69">
                  <c:v>45363</c:v>
                </c:pt>
                <c:pt idx="70">
                  <c:v>45364</c:v>
                </c:pt>
                <c:pt idx="71">
                  <c:v>45365</c:v>
                </c:pt>
                <c:pt idx="72">
                  <c:v>45366</c:v>
                </c:pt>
                <c:pt idx="73">
                  <c:v>45369</c:v>
                </c:pt>
                <c:pt idx="74">
                  <c:v>45370</c:v>
                </c:pt>
                <c:pt idx="75">
                  <c:v>45371</c:v>
                </c:pt>
                <c:pt idx="76">
                  <c:v>45372</c:v>
                </c:pt>
                <c:pt idx="77">
                  <c:v>45373</c:v>
                </c:pt>
                <c:pt idx="78">
                  <c:v>45376</c:v>
                </c:pt>
                <c:pt idx="79">
                  <c:v>45377</c:v>
                </c:pt>
                <c:pt idx="80">
                  <c:v>45378</c:v>
                </c:pt>
                <c:pt idx="81">
                  <c:v>45379</c:v>
                </c:pt>
                <c:pt idx="82">
                  <c:v>45380</c:v>
                </c:pt>
                <c:pt idx="83">
                  <c:v>45383</c:v>
                </c:pt>
                <c:pt idx="84">
                  <c:v>45384</c:v>
                </c:pt>
                <c:pt idx="85">
                  <c:v>45385</c:v>
                </c:pt>
                <c:pt idx="86">
                  <c:v>45386</c:v>
                </c:pt>
                <c:pt idx="87">
                  <c:v>45387</c:v>
                </c:pt>
                <c:pt idx="88">
                  <c:v>45390</c:v>
                </c:pt>
                <c:pt idx="89">
                  <c:v>45391</c:v>
                </c:pt>
                <c:pt idx="90">
                  <c:v>45392</c:v>
                </c:pt>
                <c:pt idx="91">
                  <c:v>45393</c:v>
                </c:pt>
                <c:pt idx="92">
                  <c:v>45394</c:v>
                </c:pt>
                <c:pt idx="93">
                  <c:v>45397</c:v>
                </c:pt>
                <c:pt idx="94">
                  <c:v>45398</c:v>
                </c:pt>
                <c:pt idx="95">
                  <c:v>45399</c:v>
                </c:pt>
                <c:pt idx="96">
                  <c:v>45400</c:v>
                </c:pt>
                <c:pt idx="97">
                  <c:v>45401</c:v>
                </c:pt>
                <c:pt idx="98">
                  <c:v>45404</c:v>
                </c:pt>
                <c:pt idx="99">
                  <c:v>45405</c:v>
                </c:pt>
                <c:pt idx="100">
                  <c:v>45406</c:v>
                </c:pt>
                <c:pt idx="101">
                  <c:v>45407</c:v>
                </c:pt>
                <c:pt idx="102">
                  <c:v>45408</c:v>
                </c:pt>
                <c:pt idx="103">
                  <c:v>45411</c:v>
                </c:pt>
                <c:pt idx="104">
                  <c:v>45412</c:v>
                </c:pt>
                <c:pt idx="105">
                  <c:v>45413</c:v>
                </c:pt>
                <c:pt idx="106">
                  <c:v>45414</c:v>
                </c:pt>
                <c:pt idx="107">
                  <c:v>45415</c:v>
                </c:pt>
                <c:pt idx="108">
                  <c:v>45418</c:v>
                </c:pt>
                <c:pt idx="109">
                  <c:v>45419</c:v>
                </c:pt>
                <c:pt idx="110">
                  <c:v>45420</c:v>
                </c:pt>
                <c:pt idx="111">
                  <c:v>45421</c:v>
                </c:pt>
                <c:pt idx="112">
                  <c:v>45422</c:v>
                </c:pt>
                <c:pt idx="113">
                  <c:v>45425</c:v>
                </c:pt>
                <c:pt idx="114">
                  <c:v>45426</c:v>
                </c:pt>
                <c:pt idx="115">
                  <c:v>45427</c:v>
                </c:pt>
                <c:pt idx="116">
                  <c:v>45428</c:v>
                </c:pt>
                <c:pt idx="117">
                  <c:v>45429</c:v>
                </c:pt>
                <c:pt idx="118">
                  <c:v>45432</c:v>
                </c:pt>
                <c:pt idx="119">
                  <c:v>45433</c:v>
                </c:pt>
                <c:pt idx="120">
                  <c:v>45434</c:v>
                </c:pt>
                <c:pt idx="121">
                  <c:v>45435</c:v>
                </c:pt>
                <c:pt idx="122">
                  <c:v>45436</c:v>
                </c:pt>
                <c:pt idx="123">
                  <c:v>45439</c:v>
                </c:pt>
                <c:pt idx="124">
                  <c:v>45440</c:v>
                </c:pt>
                <c:pt idx="125">
                  <c:v>45441</c:v>
                </c:pt>
                <c:pt idx="126">
                  <c:v>45442</c:v>
                </c:pt>
                <c:pt idx="127">
                  <c:v>45443</c:v>
                </c:pt>
                <c:pt idx="128">
                  <c:v>45446</c:v>
                </c:pt>
                <c:pt idx="129">
                  <c:v>45447</c:v>
                </c:pt>
                <c:pt idx="130">
                  <c:v>45448</c:v>
                </c:pt>
                <c:pt idx="131">
                  <c:v>45449</c:v>
                </c:pt>
                <c:pt idx="132">
                  <c:v>45450</c:v>
                </c:pt>
                <c:pt idx="133">
                  <c:v>45453</c:v>
                </c:pt>
                <c:pt idx="134">
                  <c:v>45454</c:v>
                </c:pt>
                <c:pt idx="135">
                  <c:v>45455</c:v>
                </c:pt>
                <c:pt idx="136">
                  <c:v>45456</c:v>
                </c:pt>
                <c:pt idx="137">
                  <c:v>45457</c:v>
                </c:pt>
                <c:pt idx="138">
                  <c:v>45460</c:v>
                </c:pt>
                <c:pt idx="139">
                  <c:v>45461</c:v>
                </c:pt>
                <c:pt idx="140">
                  <c:v>45462</c:v>
                </c:pt>
                <c:pt idx="141">
                  <c:v>45463</c:v>
                </c:pt>
                <c:pt idx="142">
                  <c:v>45464</c:v>
                </c:pt>
                <c:pt idx="143">
                  <c:v>45467</c:v>
                </c:pt>
                <c:pt idx="144">
                  <c:v>45468</c:v>
                </c:pt>
                <c:pt idx="145">
                  <c:v>45469</c:v>
                </c:pt>
                <c:pt idx="146">
                  <c:v>45470</c:v>
                </c:pt>
                <c:pt idx="147">
                  <c:v>45471</c:v>
                </c:pt>
                <c:pt idx="148">
                  <c:v>45474</c:v>
                </c:pt>
                <c:pt idx="149">
                  <c:v>45475</c:v>
                </c:pt>
                <c:pt idx="150">
                  <c:v>45476</c:v>
                </c:pt>
                <c:pt idx="151">
                  <c:v>45477</c:v>
                </c:pt>
                <c:pt idx="152">
                  <c:v>45478</c:v>
                </c:pt>
                <c:pt idx="153">
                  <c:v>45481</c:v>
                </c:pt>
                <c:pt idx="154">
                  <c:v>45482</c:v>
                </c:pt>
                <c:pt idx="155">
                  <c:v>45483</c:v>
                </c:pt>
                <c:pt idx="156">
                  <c:v>45484</c:v>
                </c:pt>
                <c:pt idx="157">
                  <c:v>45485</c:v>
                </c:pt>
                <c:pt idx="158">
                  <c:v>45488</c:v>
                </c:pt>
                <c:pt idx="159">
                  <c:v>45489</c:v>
                </c:pt>
                <c:pt idx="160">
                  <c:v>45490</c:v>
                </c:pt>
                <c:pt idx="161">
                  <c:v>45491</c:v>
                </c:pt>
                <c:pt idx="162">
                  <c:v>45492</c:v>
                </c:pt>
                <c:pt idx="163">
                  <c:v>45495</c:v>
                </c:pt>
                <c:pt idx="164">
                  <c:v>45496</c:v>
                </c:pt>
                <c:pt idx="165">
                  <c:v>45497</c:v>
                </c:pt>
                <c:pt idx="166">
                  <c:v>45498</c:v>
                </c:pt>
                <c:pt idx="167">
                  <c:v>45499</c:v>
                </c:pt>
                <c:pt idx="168">
                  <c:v>45502</c:v>
                </c:pt>
                <c:pt idx="169">
                  <c:v>45503</c:v>
                </c:pt>
                <c:pt idx="170">
                  <c:v>45504</c:v>
                </c:pt>
                <c:pt idx="171">
                  <c:v>45505</c:v>
                </c:pt>
                <c:pt idx="172">
                  <c:v>45506</c:v>
                </c:pt>
                <c:pt idx="173">
                  <c:v>45509</c:v>
                </c:pt>
                <c:pt idx="174">
                  <c:v>45510</c:v>
                </c:pt>
                <c:pt idx="175">
                  <c:v>45511</c:v>
                </c:pt>
                <c:pt idx="176">
                  <c:v>45512</c:v>
                </c:pt>
                <c:pt idx="177">
                  <c:v>45513</c:v>
                </c:pt>
                <c:pt idx="178">
                  <c:v>45516</c:v>
                </c:pt>
                <c:pt idx="179">
                  <c:v>45517</c:v>
                </c:pt>
                <c:pt idx="180">
                  <c:v>45518</c:v>
                </c:pt>
                <c:pt idx="181">
                  <c:v>45519</c:v>
                </c:pt>
                <c:pt idx="182">
                  <c:v>45520</c:v>
                </c:pt>
                <c:pt idx="183">
                  <c:v>45523</c:v>
                </c:pt>
                <c:pt idx="184">
                  <c:v>45524</c:v>
                </c:pt>
                <c:pt idx="185">
                  <c:v>45525</c:v>
                </c:pt>
                <c:pt idx="186">
                  <c:v>45526</c:v>
                </c:pt>
                <c:pt idx="187">
                  <c:v>45527</c:v>
                </c:pt>
                <c:pt idx="188">
                  <c:v>45530</c:v>
                </c:pt>
                <c:pt idx="189">
                  <c:v>45531</c:v>
                </c:pt>
                <c:pt idx="190">
                  <c:v>45532</c:v>
                </c:pt>
                <c:pt idx="191">
                  <c:v>45533</c:v>
                </c:pt>
                <c:pt idx="192">
                  <c:v>45534</c:v>
                </c:pt>
                <c:pt idx="193">
                  <c:v>45537</c:v>
                </c:pt>
                <c:pt idx="194">
                  <c:v>45538</c:v>
                </c:pt>
                <c:pt idx="195">
                  <c:v>45539</c:v>
                </c:pt>
                <c:pt idx="196">
                  <c:v>45540</c:v>
                </c:pt>
                <c:pt idx="197">
                  <c:v>45541</c:v>
                </c:pt>
                <c:pt idx="198">
                  <c:v>45544</c:v>
                </c:pt>
                <c:pt idx="199">
                  <c:v>45545</c:v>
                </c:pt>
                <c:pt idx="200">
                  <c:v>45546</c:v>
                </c:pt>
                <c:pt idx="201">
                  <c:v>45547</c:v>
                </c:pt>
                <c:pt idx="202">
                  <c:v>45548</c:v>
                </c:pt>
                <c:pt idx="203">
                  <c:v>45551</c:v>
                </c:pt>
                <c:pt idx="204">
                  <c:v>45552</c:v>
                </c:pt>
                <c:pt idx="205">
                  <c:v>45553</c:v>
                </c:pt>
                <c:pt idx="206">
                  <c:v>45554</c:v>
                </c:pt>
                <c:pt idx="207">
                  <c:v>45555</c:v>
                </c:pt>
                <c:pt idx="208">
                  <c:v>45558</c:v>
                </c:pt>
                <c:pt idx="209">
                  <c:v>45559</c:v>
                </c:pt>
                <c:pt idx="210">
                  <c:v>45560</c:v>
                </c:pt>
                <c:pt idx="211">
                  <c:v>45561</c:v>
                </c:pt>
                <c:pt idx="212">
                  <c:v>45562</c:v>
                </c:pt>
                <c:pt idx="213">
                  <c:v>45565</c:v>
                </c:pt>
                <c:pt idx="214">
                  <c:v>45566</c:v>
                </c:pt>
                <c:pt idx="215">
                  <c:v>45567</c:v>
                </c:pt>
                <c:pt idx="216">
                  <c:v>45568</c:v>
                </c:pt>
                <c:pt idx="217">
                  <c:v>45569</c:v>
                </c:pt>
                <c:pt idx="218">
                  <c:v>45572</c:v>
                </c:pt>
                <c:pt idx="219">
                  <c:v>45573</c:v>
                </c:pt>
                <c:pt idx="220">
                  <c:v>45574</c:v>
                </c:pt>
                <c:pt idx="221">
                  <c:v>45575</c:v>
                </c:pt>
                <c:pt idx="222">
                  <c:v>45576</c:v>
                </c:pt>
                <c:pt idx="223">
                  <c:v>45579</c:v>
                </c:pt>
                <c:pt idx="224">
                  <c:v>45580</c:v>
                </c:pt>
                <c:pt idx="225">
                  <c:v>45581</c:v>
                </c:pt>
                <c:pt idx="226">
                  <c:v>45582</c:v>
                </c:pt>
                <c:pt idx="227">
                  <c:v>45583</c:v>
                </c:pt>
                <c:pt idx="228">
                  <c:v>45586</c:v>
                </c:pt>
                <c:pt idx="229">
                  <c:v>45587</c:v>
                </c:pt>
                <c:pt idx="230">
                  <c:v>45588</c:v>
                </c:pt>
                <c:pt idx="231">
                  <c:v>45589</c:v>
                </c:pt>
                <c:pt idx="232">
                  <c:v>45590</c:v>
                </c:pt>
                <c:pt idx="233">
                  <c:v>45593</c:v>
                </c:pt>
                <c:pt idx="234">
                  <c:v>45594</c:v>
                </c:pt>
                <c:pt idx="235">
                  <c:v>45595</c:v>
                </c:pt>
                <c:pt idx="236">
                  <c:v>45596</c:v>
                </c:pt>
                <c:pt idx="237">
                  <c:v>45597</c:v>
                </c:pt>
                <c:pt idx="238">
                  <c:v>45600</c:v>
                </c:pt>
                <c:pt idx="239">
                  <c:v>45601</c:v>
                </c:pt>
                <c:pt idx="240">
                  <c:v>45602</c:v>
                </c:pt>
                <c:pt idx="241">
                  <c:v>45603</c:v>
                </c:pt>
                <c:pt idx="242">
                  <c:v>45604</c:v>
                </c:pt>
                <c:pt idx="243">
                  <c:v>45607</c:v>
                </c:pt>
                <c:pt idx="244">
                  <c:v>45608</c:v>
                </c:pt>
                <c:pt idx="245">
                  <c:v>45609</c:v>
                </c:pt>
                <c:pt idx="246">
                  <c:v>45610</c:v>
                </c:pt>
                <c:pt idx="247">
                  <c:v>45611</c:v>
                </c:pt>
                <c:pt idx="248">
                  <c:v>45614</c:v>
                </c:pt>
                <c:pt idx="249">
                  <c:v>45615</c:v>
                </c:pt>
                <c:pt idx="250">
                  <c:v>45616</c:v>
                </c:pt>
                <c:pt idx="251">
                  <c:v>45617</c:v>
                </c:pt>
                <c:pt idx="252">
                  <c:v>45618</c:v>
                </c:pt>
                <c:pt idx="253">
                  <c:v>45621</c:v>
                </c:pt>
                <c:pt idx="254">
                  <c:v>45622</c:v>
                </c:pt>
                <c:pt idx="255">
                  <c:v>45623</c:v>
                </c:pt>
                <c:pt idx="256">
                  <c:v>45624</c:v>
                </c:pt>
                <c:pt idx="257">
                  <c:v>45625</c:v>
                </c:pt>
                <c:pt idx="258">
                  <c:v>45628</c:v>
                </c:pt>
                <c:pt idx="259">
                  <c:v>45629</c:v>
                </c:pt>
                <c:pt idx="260">
                  <c:v>45630</c:v>
                </c:pt>
                <c:pt idx="261">
                  <c:v>45631</c:v>
                </c:pt>
                <c:pt idx="262">
                  <c:v>45632</c:v>
                </c:pt>
              </c:numCache>
            </c:numRef>
          </c:cat>
          <c:val>
            <c:numRef>
              <c:f>OMC!$G$4640:$G$4902</c:f>
              <c:numCache>
                <c:formatCode>0.0</c:formatCode>
                <c:ptCount val="263"/>
                <c:pt idx="0">
                  <c:v>10.523950173365867</c:v>
                </c:pt>
                <c:pt idx="1">
                  <c:v>10.541859270672829</c:v>
                </c:pt>
                <c:pt idx="2">
                  <c:v>10.518613607188703</c:v>
                </c:pt>
                <c:pt idx="3">
                  <c:v>10.78670431211499</c:v>
                </c:pt>
                <c:pt idx="4">
                  <c:v>10.773771333247785</c:v>
                </c:pt>
                <c:pt idx="5">
                  <c:v>10.767158434894164</c:v>
                </c:pt>
                <c:pt idx="6">
                  <c:v>11.086454592098512</c:v>
                </c:pt>
                <c:pt idx="7">
                  <c:v>11.108267212695162</c:v>
                </c:pt>
                <c:pt idx="8">
                  <c:v>11.06241189286172</c:v>
                </c:pt>
                <c:pt idx="9">
                  <c:v>11.105701473414479</c:v>
                </c:pt>
                <c:pt idx="10">
                  <c:v>10.98117074420392</c:v>
                </c:pt>
                <c:pt idx="11">
                  <c:v>11.069415983606559</c:v>
                </c:pt>
                <c:pt idx="12">
                  <c:v>11.021766965428938</c:v>
                </c:pt>
                <c:pt idx="13">
                  <c:v>11.018945212493598</c:v>
                </c:pt>
                <c:pt idx="14">
                  <c:v>11.095469669823395</c:v>
                </c:pt>
                <c:pt idx="15">
                  <c:v>11.08637236084453</c:v>
                </c:pt>
                <c:pt idx="16">
                  <c:v>11.09504925163106</c:v>
                </c:pt>
                <c:pt idx="17">
                  <c:v>11.064074689858039</c:v>
                </c:pt>
                <c:pt idx="18">
                  <c:v>11.061245365042835</c:v>
                </c:pt>
                <c:pt idx="19">
                  <c:v>11.151584867075664</c:v>
                </c:pt>
                <c:pt idx="20">
                  <c:v>10.859953999488884</c:v>
                </c:pt>
                <c:pt idx="21">
                  <c:v>10.871342787785871</c:v>
                </c:pt>
                <c:pt idx="22">
                  <c:v>10.965270684371808</c:v>
                </c:pt>
                <c:pt idx="23">
                  <c:v>11.253986477867073</c:v>
                </c:pt>
                <c:pt idx="24">
                  <c:v>11.271359347105331</c:v>
                </c:pt>
                <c:pt idx="25">
                  <c:v>11.240922410498152</c:v>
                </c:pt>
                <c:pt idx="26">
                  <c:v>11.307711821410452</c:v>
                </c:pt>
                <c:pt idx="27">
                  <c:v>11.25824454591578</c:v>
                </c:pt>
                <c:pt idx="28">
                  <c:v>11.24683223517486</c:v>
                </c:pt>
                <c:pt idx="29">
                  <c:v>11.202026599113363</c:v>
                </c:pt>
                <c:pt idx="30">
                  <c:v>11.099151576548056</c:v>
                </c:pt>
                <c:pt idx="31">
                  <c:v>11.131645569620252</c:v>
                </c:pt>
                <c:pt idx="32">
                  <c:v>11.124050632911391</c:v>
                </c:pt>
                <c:pt idx="33">
                  <c:v>11.226605968639353</c:v>
                </c:pt>
                <c:pt idx="34">
                  <c:v>11.336458069419812</c:v>
                </c:pt>
                <c:pt idx="35">
                  <c:v>11.289097125490693</c:v>
                </c:pt>
                <c:pt idx="36">
                  <c:v>11.52083069520071</c:v>
                </c:pt>
                <c:pt idx="37">
                  <c:v>11.509433962264151</c:v>
                </c:pt>
                <c:pt idx="38">
                  <c:v>11.588429332656688</c:v>
                </c:pt>
                <c:pt idx="39">
                  <c:v>11.59056316590563</c:v>
                </c:pt>
                <c:pt idx="40">
                  <c:v>11.459363509572714</c:v>
                </c:pt>
                <c:pt idx="41">
                  <c:v>11.387092684163814</c:v>
                </c:pt>
                <c:pt idx="42">
                  <c:v>11.406111322429314</c:v>
                </c:pt>
                <c:pt idx="43">
                  <c:v>11.249049911325056</c:v>
                </c:pt>
                <c:pt idx="44">
                  <c:v>11.277242777496198</c:v>
                </c:pt>
                <c:pt idx="45">
                  <c:v>10.994777735320341</c:v>
                </c:pt>
                <c:pt idx="46">
                  <c:v>11.072341513292432</c:v>
                </c:pt>
                <c:pt idx="47">
                  <c:v>10.811605316973417</c:v>
                </c:pt>
                <c:pt idx="48">
                  <c:v>11.040868454661558</c:v>
                </c:pt>
                <c:pt idx="49">
                  <c:v>10.869398697816928</c:v>
                </c:pt>
                <c:pt idx="50">
                  <c:v>10.94958519463944</c:v>
                </c:pt>
                <c:pt idx="51">
                  <c:v>11.102181400688863</c:v>
                </c:pt>
                <c:pt idx="52">
                  <c:v>11.163413700727133</c:v>
                </c:pt>
                <c:pt idx="53">
                  <c:v>11.19339984650806</c:v>
                </c:pt>
                <c:pt idx="54">
                  <c:v>11.29923273657289</c:v>
                </c:pt>
                <c:pt idx="55">
                  <c:v>11.329583226796217</c:v>
                </c:pt>
                <c:pt idx="56">
                  <c:v>11.288508244918829</c:v>
                </c:pt>
                <c:pt idx="57">
                  <c:v>11.325578422600024</c:v>
                </c:pt>
                <c:pt idx="58">
                  <c:v>11.37948652446034</c:v>
                </c:pt>
                <c:pt idx="59">
                  <c:v>11.384065372829417</c:v>
                </c:pt>
                <c:pt idx="60">
                  <c:v>11.245851416900688</c:v>
                </c:pt>
                <c:pt idx="61">
                  <c:v>11.282869543017616</c:v>
                </c:pt>
                <c:pt idx="62">
                  <c:v>11.28781110402042</c:v>
                </c:pt>
                <c:pt idx="63">
                  <c:v>11.379002423778543</c:v>
                </c:pt>
                <c:pt idx="64">
                  <c:v>11.35824512179569</c:v>
                </c:pt>
                <c:pt idx="65">
                  <c:v>11.573837506387326</c:v>
                </c:pt>
                <c:pt idx="66">
                  <c:v>11.842676541948665</c:v>
                </c:pt>
                <c:pt idx="67">
                  <c:v>11.708594049291277</c:v>
                </c:pt>
                <c:pt idx="68">
                  <c:v>12.049776643267389</c:v>
                </c:pt>
                <c:pt idx="69">
                  <c:v>12.102845476585427</c:v>
                </c:pt>
                <c:pt idx="70">
                  <c:v>12.190366972477065</c:v>
                </c:pt>
                <c:pt idx="71">
                  <c:v>11.750602562476214</c:v>
                </c:pt>
                <c:pt idx="72">
                  <c:v>11.703666116960548</c:v>
                </c:pt>
                <c:pt idx="73">
                  <c:v>11.812277126846663</c:v>
                </c:pt>
                <c:pt idx="74">
                  <c:v>11.885663356251591</c:v>
                </c:pt>
                <c:pt idx="75">
                  <c:v>11.99847250509165</c:v>
                </c:pt>
                <c:pt idx="76">
                  <c:v>12.001781623822856</c:v>
                </c:pt>
                <c:pt idx="77">
                  <c:v>11.956991983712941</c:v>
                </c:pt>
                <c:pt idx="78">
                  <c:v>11.820483605519687</c:v>
                </c:pt>
                <c:pt idx="79">
                  <c:v>11.74281736489052</c:v>
                </c:pt>
                <c:pt idx="80">
                  <c:v>12.040997089712768</c:v>
                </c:pt>
                <c:pt idx="81">
                  <c:v>12.232616940581543</c:v>
                </c:pt>
                <c:pt idx="82">
                  <c:v>12.231070661104791</c:v>
                </c:pt>
                <c:pt idx="83">
                  <c:v>12.202147820593808</c:v>
                </c:pt>
                <c:pt idx="84">
                  <c:v>12.043214556482184</c:v>
                </c:pt>
                <c:pt idx="85">
                  <c:v>11.97700859019707</c:v>
                </c:pt>
                <c:pt idx="86">
                  <c:v>11.761586058845815</c:v>
                </c:pt>
                <c:pt idx="87">
                  <c:v>11.695921202171993</c:v>
                </c:pt>
                <c:pt idx="88">
                  <c:v>11.7480752240313</c:v>
                </c:pt>
                <c:pt idx="89">
                  <c:v>11.852132223063336</c:v>
                </c:pt>
                <c:pt idx="90">
                  <c:v>11.547948653410522</c:v>
                </c:pt>
                <c:pt idx="91">
                  <c:v>11.6482133870156</c:v>
                </c:pt>
                <c:pt idx="92">
                  <c:v>11.396402063152598</c:v>
                </c:pt>
                <c:pt idx="93">
                  <c:v>11.385640638752671</c:v>
                </c:pt>
                <c:pt idx="94">
                  <c:v>11.415662650602409</c:v>
                </c:pt>
                <c:pt idx="95">
                  <c:v>11.437585055053816</c:v>
                </c:pt>
                <c:pt idx="96">
                  <c:v>11.290720631786773</c:v>
                </c:pt>
                <c:pt idx="97">
                  <c:v>11.410619687076505</c:v>
                </c:pt>
                <c:pt idx="98">
                  <c:v>11.54660756064524</c:v>
                </c:pt>
                <c:pt idx="99">
                  <c:v>11.599162870860519</c:v>
                </c:pt>
                <c:pt idx="100">
                  <c:v>11.812923076923077</c:v>
                </c:pt>
                <c:pt idx="101">
                  <c:v>11.899840039374922</c:v>
                </c:pt>
                <c:pt idx="102">
                  <c:v>11.797490157480315</c:v>
                </c:pt>
                <c:pt idx="103">
                  <c:v>11.79168716182981</c:v>
                </c:pt>
                <c:pt idx="104">
                  <c:v>11.413818539463978</c:v>
                </c:pt>
                <c:pt idx="105">
                  <c:v>11.510570304818094</c:v>
                </c:pt>
                <c:pt idx="106">
                  <c:v>11.381005037473891</c:v>
                </c:pt>
                <c:pt idx="107">
                  <c:v>11.423820667569897</c:v>
                </c:pt>
                <c:pt idx="108">
                  <c:v>11.472362427674506</c:v>
                </c:pt>
                <c:pt idx="109">
                  <c:v>11.616781157998039</c:v>
                </c:pt>
                <c:pt idx="110">
                  <c:v>11.659308314937453</c:v>
                </c:pt>
                <c:pt idx="111">
                  <c:v>11.732466895537026</c:v>
                </c:pt>
                <c:pt idx="112">
                  <c:v>11.74696579624862</c:v>
                </c:pt>
                <c:pt idx="113">
                  <c:v>11.800024506800638</c:v>
                </c:pt>
                <c:pt idx="114">
                  <c:v>11.831434521621953</c:v>
                </c:pt>
                <c:pt idx="115">
                  <c:v>11.959343619887337</c:v>
                </c:pt>
                <c:pt idx="116">
                  <c:v>11.832761998041137</c:v>
                </c:pt>
                <c:pt idx="117">
                  <c:v>11.767658220100378</c:v>
                </c:pt>
                <c:pt idx="118">
                  <c:v>11.771687262938945</c:v>
                </c:pt>
                <c:pt idx="119">
                  <c:v>11.617125382262996</c:v>
                </c:pt>
                <c:pt idx="120">
                  <c:v>11.649749296808121</c:v>
                </c:pt>
                <c:pt idx="121">
                  <c:v>11.519745690182173</c:v>
                </c:pt>
                <c:pt idx="122">
                  <c:v>11.627139364303179</c:v>
                </c:pt>
                <c:pt idx="123">
                  <c:v>11.62145650048876</c:v>
                </c:pt>
                <c:pt idx="124">
                  <c:v>11.386513559736134</c:v>
                </c:pt>
                <c:pt idx="125">
                  <c:v>11.127121748687264</c:v>
                </c:pt>
                <c:pt idx="126">
                  <c:v>11.07557074838237</c:v>
                </c:pt>
                <c:pt idx="127">
                  <c:v>11.347656249999998</c:v>
                </c:pt>
                <c:pt idx="128">
                  <c:v>11.026235509456985</c:v>
                </c:pt>
                <c:pt idx="129">
                  <c:v>11.127104171749206</c:v>
                </c:pt>
                <c:pt idx="130">
                  <c:v>11.135365853658538</c:v>
                </c:pt>
                <c:pt idx="131">
                  <c:v>11.089978054133137</c:v>
                </c:pt>
                <c:pt idx="132">
                  <c:v>11.104473972936733</c:v>
                </c:pt>
                <c:pt idx="133">
                  <c:v>10.994866780738205</c:v>
                </c:pt>
                <c:pt idx="134">
                  <c:v>10.9529627367135</c:v>
                </c:pt>
                <c:pt idx="135">
                  <c:v>10.891657505801883</c:v>
                </c:pt>
                <c:pt idx="136">
                  <c:v>10.915862742703627</c:v>
                </c:pt>
                <c:pt idx="137">
                  <c:v>10.794871794871796</c:v>
                </c:pt>
                <c:pt idx="138">
                  <c:v>10.993409812057601</c:v>
                </c:pt>
                <c:pt idx="139">
                  <c:v>11.122498779892631</c:v>
                </c:pt>
                <c:pt idx="140">
                  <c:v>11.119785313491095</c:v>
                </c:pt>
                <c:pt idx="141">
                  <c:v>10.943787343006949</c:v>
                </c:pt>
                <c:pt idx="142">
                  <c:v>11.030236527676177</c:v>
                </c:pt>
                <c:pt idx="143">
                  <c:v>11.05789152955515</c:v>
                </c:pt>
                <c:pt idx="144">
                  <c:v>10.940545808966862</c:v>
                </c:pt>
                <c:pt idx="145">
                  <c:v>10.802679658952496</c:v>
                </c:pt>
                <c:pt idx="146">
                  <c:v>10.836580613735995</c:v>
                </c:pt>
                <c:pt idx="147">
                  <c:v>10.921709484962864</c:v>
                </c:pt>
                <c:pt idx="148">
                  <c:v>10.67177802117561</c:v>
                </c:pt>
                <c:pt idx="149">
                  <c:v>10.838301496532425</c:v>
                </c:pt>
                <c:pt idx="150">
                  <c:v>10.853910716457852</c:v>
                </c:pt>
                <c:pt idx="151">
                  <c:v>10.849951361867705</c:v>
                </c:pt>
                <c:pt idx="152">
                  <c:v>10.807196693411134</c:v>
                </c:pt>
                <c:pt idx="153">
                  <c:v>10.884246325762176</c:v>
                </c:pt>
                <c:pt idx="154">
                  <c:v>10.99089253187614</c:v>
                </c:pt>
                <c:pt idx="155">
                  <c:v>11.065792668123331</c:v>
                </c:pt>
                <c:pt idx="156">
                  <c:v>11.197815533980581</c:v>
                </c:pt>
                <c:pt idx="157">
                  <c:v>11.320067944673621</c:v>
                </c:pt>
                <c:pt idx="158">
                  <c:v>11.370527592480292</c:v>
                </c:pt>
                <c:pt idx="159">
                  <c:v>11.532414126753748</c:v>
                </c:pt>
                <c:pt idx="160">
                  <c:v>11.113539769277475</c:v>
                </c:pt>
                <c:pt idx="161">
                  <c:v>11.185473096076764</c:v>
                </c:pt>
                <c:pt idx="162">
                  <c:v>10.999637374592046</c:v>
                </c:pt>
                <c:pt idx="163">
                  <c:v>11.084934154887037</c:v>
                </c:pt>
                <c:pt idx="164">
                  <c:v>11.145065829206425</c:v>
                </c:pt>
                <c:pt idx="165">
                  <c:v>10.957498188843275</c:v>
                </c:pt>
                <c:pt idx="166">
                  <c:v>11.268710767745048</c:v>
                </c:pt>
                <c:pt idx="167">
                  <c:v>11.514237451737452</c:v>
                </c:pt>
                <c:pt idx="168">
                  <c:v>11.516101797129418</c:v>
                </c:pt>
                <c:pt idx="169">
                  <c:v>11.80754853490896</c:v>
                </c:pt>
                <c:pt idx="170">
                  <c:v>11.817743490838961</c:v>
                </c:pt>
                <c:pt idx="171">
                  <c:v>11.430465172330681</c:v>
                </c:pt>
                <c:pt idx="172">
                  <c:v>11.08433734939759</c:v>
                </c:pt>
                <c:pt idx="173">
                  <c:v>10.826207394917498</c:v>
                </c:pt>
                <c:pt idx="174">
                  <c:v>11.036357047952652</c:v>
                </c:pt>
                <c:pt idx="175">
                  <c:v>10.943008935039845</c:v>
                </c:pt>
                <c:pt idx="176">
                  <c:v>11.29526798647996</c:v>
                </c:pt>
                <c:pt idx="177">
                  <c:v>11.262370263094375</c:v>
                </c:pt>
                <c:pt idx="178">
                  <c:v>11.349981903727832</c:v>
                </c:pt>
                <c:pt idx="179">
                  <c:v>11.387046194668917</c:v>
                </c:pt>
                <c:pt idx="180">
                  <c:v>11.387750180853629</c:v>
                </c:pt>
                <c:pt idx="181">
                  <c:v>11.595949855351979</c:v>
                </c:pt>
                <c:pt idx="182">
                  <c:v>11.638949144372138</c:v>
                </c:pt>
                <c:pt idx="183">
                  <c:v>11.674497048548368</c:v>
                </c:pt>
                <c:pt idx="184">
                  <c:v>11.593208092485549</c:v>
                </c:pt>
                <c:pt idx="185">
                  <c:v>11.71321935949916</c:v>
                </c:pt>
                <c:pt idx="186">
                  <c:v>11.711397280057771</c:v>
                </c:pt>
                <c:pt idx="187">
                  <c:v>11.848375451263536</c:v>
                </c:pt>
                <c:pt idx="188">
                  <c:v>11.89078662496993</c:v>
                </c:pt>
                <c:pt idx="189">
                  <c:v>11.917989417989418</c:v>
                </c:pt>
                <c:pt idx="190">
                  <c:v>11.870417117441999</c:v>
                </c:pt>
                <c:pt idx="191">
                  <c:v>11.853142651123663</c:v>
                </c:pt>
                <c:pt idx="192">
                  <c:v>12.066562537546558</c:v>
                </c:pt>
                <c:pt idx="193">
                  <c:v>12.062214748979102</c:v>
                </c:pt>
                <c:pt idx="194">
                  <c:v>11.925801416736702</c:v>
                </c:pt>
                <c:pt idx="195">
                  <c:v>11.853318929300205</c:v>
                </c:pt>
                <c:pt idx="196">
                  <c:v>11.948098541018894</c:v>
                </c:pt>
                <c:pt idx="197">
                  <c:v>11.805356288857004</c:v>
                </c:pt>
                <c:pt idx="198">
                  <c:v>11.820246205330465</c:v>
                </c:pt>
                <c:pt idx="199">
                  <c:v>11.892699247221891</c:v>
                </c:pt>
                <c:pt idx="200">
                  <c:v>11.740324892498807</c:v>
                </c:pt>
                <c:pt idx="201">
                  <c:v>11.769974919383735</c:v>
                </c:pt>
                <c:pt idx="202">
                  <c:v>11.936716417910448</c:v>
                </c:pt>
                <c:pt idx="203">
                  <c:v>12.066125566961089</c:v>
                </c:pt>
                <c:pt idx="204">
                  <c:v>12.139618138424821</c:v>
                </c:pt>
                <c:pt idx="205">
                  <c:v>12.240248121197663</c:v>
                </c:pt>
                <c:pt idx="206">
                  <c:v>12.391174716756113</c:v>
                </c:pt>
                <c:pt idx="207">
                  <c:v>12.197448432097293</c:v>
                </c:pt>
                <c:pt idx="208">
                  <c:v>12.194278903456496</c:v>
                </c:pt>
                <c:pt idx="209">
                  <c:v>12.120814964851661</c:v>
                </c:pt>
                <c:pt idx="210">
                  <c:v>11.986423722758127</c:v>
                </c:pt>
                <c:pt idx="211">
                  <c:v>12.260714285714284</c:v>
                </c:pt>
                <c:pt idx="212">
                  <c:v>12.219709592954059</c:v>
                </c:pt>
                <c:pt idx="213">
                  <c:v>12.279097387173397</c:v>
                </c:pt>
                <c:pt idx="214">
                  <c:v>12.188724035608308</c:v>
                </c:pt>
                <c:pt idx="215">
                  <c:v>12.107261509254863</c:v>
                </c:pt>
                <c:pt idx="216">
                  <c:v>11.983392645314353</c:v>
                </c:pt>
                <c:pt idx="217">
                  <c:v>12.043406072106261</c:v>
                </c:pt>
                <c:pt idx="218">
                  <c:v>11.955903271692746</c:v>
                </c:pt>
                <c:pt idx="219">
                  <c:v>12.026546575017777</c:v>
                </c:pt>
                <c:pt idx="220">
                  <c:v>12.176282430991588</c:v>
                </c:pt>
                <c:pt idx="221">
                  <c:v>12.047850290181216</c:v>
                </c:pt>
                <c:pt idx="222">
                  <c:v>12.179988158673771</c:v>
                </c:pt>
                <c:pt idx="223">
                  <c:v>12.214336408800568</c:v>
                </c:pt>
                <c:pt idx="224">
                  <c:v>12.292602221696999</c:v>
                </c:pt>
                <c:pt idx="225">
                  <c:v>12.412048476291327</c:v>
                </c:pt>
                <c:pt idx="226">
                  <c:v>12.375911550223476</c:v>
                </c:pt>
                <c:pt idx="227">
                  <c:v>12.285983066792099</c:v>
                </c:pt>
                <c:pt idx="228">
                  <c:v>12.179381685670625</c:v>
                </c:pt>
                <c:pt idx="229">
                  <c:v>11.873310612292865</c:v>
                </c:pt>
                <c:pt idx="230">
                  <c:v>11.834097050875339</c:v>
                </c:pt>
                <c:pt idx="231">
                  <c:v>11.799389241249706</c:v>
                </c:pt>
                <c:pt idx="232">
                  <c:v>11.803663691874119</c:v>
                </c:pt>
                <c:pt idx="233">
                  <c:v>12.031928630120905</c:v>
                </c:pt>
                <c:pt idx="234">
                  <c:v>11.935218871024526</c:v>
                </c:pt>
                <c:pt idx="235">
                  <c:v>12.006100422336933</c:v>
                </c:pt>
                <c:pt idx="236">
                  <c:v>11.846117757447807</c:v>
                </c:pt>
                <c:pt idx="237">
                  <c:v>11.852720450281424</c:v>
                </c:pt>
                <c:pt idx="238">
                  <c:v>11.949361153440393</c:v>
                </c:pt>
                <c:pt idx="239">
                  <c:v>12.09046168268104</c:v>
                </c:pt>
                <c:pt idx="240">
                  <c:v>12.307872539831303</c:v>
                </c:pt>
                <c:pt idx="241">
                  <c:v>12.268415505328495</c:v>
                </c:pt>
                <c:pt idx="242">
                  <c:v>12.23041798384264</c:v>
                </c:pt>
                <c:pt idx="243">
                  <c:v>12.220531429240316</c:v>
                </c:pt>
                <c:pt idx="244">
                  <c:v>12.149543646150246</c:v>
                </c:pt>
                <c:pt idx="245">
                  <c:v>12.089377632194665</c:v>
                </c:pt>
                <c:pt idx="246">
                  <c:v>12.283943398432932</c:v>
                </c:pt>
                <c:pt idx="247">
                  <c:v>11.324681398339763</c:v>
                </c:pt>
                <c:pt idx="248">
                  <c:v>11.492519869097711</c:v>
                </c:pt>
                <c:pt idx="249">
                  <c:v>11.455947651320402</c:v>
                </c:pt>
                <c:pt idx="250">
                  <c:v>11.573414320756921</c:v>
                </c:pt>
                <c:pt idx="251">
                  <c:v>11.904706294522946</c:v>
                </c:pt>
                <c:pt idx="252">
                  <c:v>11.953298307063632</c:v>
                </c:pt>
                <c:pt idx="253">
                  <c:v>12.208216619981325</c:v>
                </c:pt>
                <c:pt idx="254">
                  <c:v>12.207443705518608</c:v>
                </c:pt>
                <c:pt idx="255">
                  <c:v>12.171935145223374</c:v>
                </c:pt>
                <c:pt idx="256">
                  <c:v>12.169096209912537</c:v>
                </c:pt>
                <c:pt idx="257">
                  <c:v>12.21963161576125</c:v>
                </c:pt>
                <c:pt idx="258">
                  <c:v>12.238927738927739</c:v>
                </c:pt>
                <c:pt idx="259">
                  <c:v>12.093673540720028</c:v>
                </c:pt>
                <c:pt idx="260">
                  <c:v>12.029120559114734</c:v>
                </c:pt>
                <c:pt idx="261">
                  <c:v>11.993023255813954</c:v>
                </c:pt>
                <c:pt idx="262">
                  <c:v>12.021387887946066</c:v>
                </c:pt>
              </c:numCache>
            </c:numRef>
          </c:val>
          <c:smooth val="0"/>
          <c:extLst>
            <c:ext xmlns:c16="http://schemas.microsoft.com/office/drawing/2014/chart" uri="{C3380CC4-5D6E-409C-BE32-E72D297353CC}">
              <c16:uniqueId val="{00000000-D0DE-432F-998D-050980C14272}"/>
            </c:ext>
          </c:extLst>
        </c:ser>
        <c:dLbls>
          <c:showLegendKey val="0"/>
          <c:showVal val="0"/>
          <c:showCatName val="0"/>
          <c:showSerName val="0"/>
          <c:showPercent val="0"/>
          <c:showBubbleSize val="0"/>
        </c:dLbls>
        <c:smooth val="0"/>
        <c:axId val="346392671"/>
        <c:axId val="346397351"/>
      </c:lineChart>
      <c:dateAx>
        <c:axId val="346392671"/>
        <c:scaling>
          <c:orientation val="minMax"/>
        </c:scaling>
        <c:delete val="0"/>
        <c:axPos val="b"/>
        <c:numFmt formatCode="m/d/yyyy"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rgbClr val="000000"/>
                </a:solidFill>
                <a:latin typeface="Arial Narrow"/>
                <a:ea typeface="Arial Narrow"/>
                <a:cs typeface="Arial Narrow"/>
              </a:defRPr>
            </a:pPr>
            <a:endParaRPr lang="en-US"/>
          </a:p>
        </c:txPr>
        <c:crossAx val="346397351"/>
        <c:crosses val="autoZero"/>
        <c:auto val="1"/>
        <c:lblOffset val="100"/>
        <c:baseTimeUnit val="days"/>
      </c:dateAx>
      <c:valAx>
        <c:axId val="346397351"/>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out"/>
        <c:minorTickMark val="none"/>
        <c:tickLblPos val="low"/>
        <c:spPr>
          <a:noFill/>
          <a:ln>
            <a:noFill/>
          </a:ln>
          <a:effectLst/>
        </c:spPr>
        <c:txPr>
          <a:bodyPr rot="-60000000" spcFirstLastPara="1" vertOverflow="ellipsis" vert="horz" wrap="square" anchor="ctr" anchorCtr="1"/>
          <a:lstStyle/>
          <a:p>
            <a:pPr>
              <a:defRPr sz="800" b="0" i="0" u="none" strike="noStrike" kern="1200" baseline="0">
                <a:solidFill>
                  <a:srgbClr val="000000"/>
                </a:solidFill>
                <a:latin typeface="Arial Narrow"/>
                <a:ea typeface="Arial Narrow"/>
                <a:cs typeface="Arial Narrow"/>
              </a:defRPr>
            </a:pPr>
            <a:endParaRPr lang="en-US"/>
          </a:p>
        </c:txPr>
        <c:crossAx val="346392671"/>
        <c:crosses val="autoZero"/>
        <c:crossBetween val="between"/>
      </c:valAx>
      <c:spPr>
        <a:noFill/>
        <a:ln w="25400">
          <a:noFill/>
        </a:ln>
        <a:effectLst/>
      </c:spPr>
    </c:plotArea>
    <c:plotVisOnly val="1"/>
    <c:dispBlanksAs val="gap"/>
    <c:showDLblsOverMax val="0"/>
  </c:chart>
  <c:spPr>
    <a:solidFill>
      <a:schemeClr val="bg1"/>
    </a:solidFill>
    <a:ln w="25400" cap="flat" cmpd="sng" algn="ctr">
      <a:noFill/>
      <a:round/>
    </a:ln>
    <a:effectLst/>
  </c:spPr>
  <c:txPr>
    <a:bodyPr/>
    <a:lstStyle/>
    <a:p>
      <a:pPr>
        <a:defRPr sz="800" b="0" i="0" u="none" strike="noStrike" baseline="0">
          <a:solidFill>
            <a:srgbClr val="000000"/>
          </a:solidFill>
          <a:latin typeface="Arial Narrow"/>
          <a:ea typeface="Arial Narrow"/>
          <a:cs typeface="Arial Narrow"/>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xMode val="edge"/>
          <c:yMode val="edge"/>
          <c:x val="1.1695906432748537E-2"/>
          <c:y val="2.839256181949373E-2"/>
          <c:w val="0.98830409356725146"/>
          <c:h val="0.9716074381805061"/>
        </c:manualLayout>
      </c:layout>
      <c:lineChart>
        <c:grouping val="standard"/>
        <c:varyColors val="0"/>
        <c:ser>
          <c:idx val="0"/>
          <c:order val="0"/>
          <c:spPr>
            <a:ln w="28575" cap="rnd">
              <a:solidFill>
                <a:schemeClr val="accent1"/>
              </a:solidFill>
              <a:round/>
            </a:ln>
            <a:effectLst/>
          </c:spPr>
          <c:marker>
            <c:symbol val="none"/>
          </c:marker>
          <c:cat>
            <c:numRef>
              <c:f>OMC!$B$2833:$B$4902</c:f>
              <c:numCache>
                <c:formatCode>m/d/yyyy</c:formatCode>
                <c:ptCount val="2070"/>
                <c:pt idx="0">
                  <c:v>42737</c:v>
                </c:pt>
                <c:pt idx="1">
                  <c:v>42738</c:v>
                </c:pt>
                <c:pt idx="2">
                  <c:v>42739</c:v>
                </c:pt>
                <c:pt idx="3">
                  <c:v>42740</c:v>
                </c:pt>
                <c:pt idx="4">
                  <c:v>42741</c:v>
                </c:pt>
                <c:pt idx="5">
                  <c:v>42744</c:v>
                </c:pt>
                <c:pt idx="6">
                  <c:v>42745</c:v>
                </c:pt>
                <c:pt idx="7">
                  <c:v>42746</c:v>
                </c:pt>
                <c:pt idx="8">
                  <c:v>42747</c:v>
                </c:pt>
                <c:pt idx="9">
                  <c:v>42748</c:v>
                </c:pt>
                <c:pt idx="10">
                  <c:v>42751</c:v>
                </c:pt>
                <c:pt idx="11">
                  <c:v>42752</c:v>
                </c:pt>
                <c:pt idx="12">
                  <c:v>42753</c:v>
                </c:pt>
                <c:pt idx="13">
                  <c:v>42754</c:v>
                </c:pt>
                <c:pt idx="14">
                  <c:v>42755</c:v>
                </c:pt>
                <c:pt idx="15">
                  <c:v>42758</c:v>
                </c:pt>
                <c:pt idx="16">
                  <c:v>42759</c:v>
                </c:pt>
                <c:pt idx="17">
                  <c:v>42760</c:v>
                </c:pt>
                <c:pt idx="18">
                  <c:v>42761</c:v>
                </c:pt>
                <c:pt idx="19">
                  <c:v>42762</c:v>
                </c:pt>
                <c:pt idx="20">
                  <c:v>42765</c:v>
                </c:pt>
                <c:pt idx="21">
                  <c:v>42766</c:v>
                </c:pt>
                <c:pt idx="22">
                  <c:v>42767</c:v>
                </c:pt>
                <c:pt idx="23">
                  <c:v>42768</c:v>
                </c:pt>
                <c:pt idx="24">
                  <c:v>42769</c:v>
                </c:pt>
                <c:pt idx="25">
                  <c:v>42772</c:v>
                </c:pt>
                <c:pt idx="26">
                  <c:v>42773</c:v>
                </c:pt>
                <c:pt idx="27">
                  <c:v>42774</c:v>
                </c:pt>
                <c:pt idx="28">
                  <c:v>42775</c:v>
                </c:pt>
                <c:pt idx="29">
                  <c:v>42776</c:v>
                </c:pt>
                <c:pt idx="30">
                  <c:v>42779</c:v>
                </c:pt>
                <c:pt idx="31">
                  <c:v>42780</c:v>
                </c:pt>
                <c:pt idx="32">
                  <c:v>42781</c:v>
                </c:pt>
                <c:pt idx="33">
                  <c:v>42782</c:v>
                </c:pt>
                <c:pt idx="34">
                  <c:v>42783</c:v>
                </c:pt>
                <c:pt idx="35">
                  <c:v>42786</c:v>
                </c:pt>
                <c:pt idx="36">
                  <c:v>42787</c:v>
                </c:pt>
                <c:pt idx="37">
                  <c:v>42788</c:v>
                </c:pt>
                <c:pt idx="38">
                  <c:v>42789</c:v>
                </c:pt>
                <c:pt idx="39">
                  <c:v>42790</c:v>
                </c:pt>
                <c:pt idx="40">
                  <c:v>42793</c:v>
                </c:pt>
                <c:pt idx="41">
                  <c:v>42794</c:v>
                </c:pt>
                <c:pt idx="42">
                  <c:v>42795</c:v>
                </c:pt>
                <c:pt idx="43">
                  <c:v>42796</c:v>
                </c:pt>
                <c:pt idx="44">
                  <c:v>42797</c:v>
                </c:pt>
                <c:pt idx="45">
                  <c:v>42800</c:v>
                </c:pt>
                <c:pt idx="46">
                  <c:v>42801</c:v>
                </c:pt>
                <c:pt idx="47">
                  <c:v>42802</c:v>
                </c:pt>
                <c:pt idx="48">
                  <c:v>42803</c:v>
                </c:pt>
                <c:pt idx="49">
                  <c:v>42804</c:v>
                </c:pt>
                <c:pt idx="50">
                  <c:v>42807</c:v>
                </c:pt>
                <c:pt idx="51">
                  <c:v>42808</c:v>
                </c:pt>
                <c:pt idx="52">
                  <c:v>42809</c:v>
                </c:pt>
                <c:pt idx="53">
                  <c:v>42810</c:v>
                </c:pt>
                <c:pt idx="54">
                  <c:v>42811</c:v>
                </c:pt>
                <c:pt idx="55">
                  <c:v>42814</c:v>
                </c:pt>
                <c:pt idx="56">
                  <c:v>42815</c:v>
                </c:pt>
                <c:pt idx="57">
                  <c:v>42816</c:v>
                </c:pt>
                <c:pt idx="58">
                  <c:v>42817</c:v>
                </c:pt>
                <c:pt idx="59">
                  <c:v>42818</c:v>
                </c:pt>
                <c:pt idx="60">
                  <c:v>42821</c:v>
                </c:pt>
                <c:pt idx="61">
                  <c:v>42822</c:v>
                </c:pt>
                <c:pt idx="62">
                  <c:v>42823</c:v>
                </c:pt>
                <c:pt idx="63">
                  <c:v>42824</c:v>
                </c:pt>
                <c:pt idx="64">
                  <c:v>42825</c:v>
                </c:pt>
                <c:pt idx="65">
                  <c:v>42828</c:v>
                </c:pt>
                <c:pt idx="66">
                  <c:v>42829</c:v>
                </c:pt>
                <c:pt idx="67">
                  <c:v>42830</c:v>
                </c:pt>
                <c:pt idx="68">
                  <c:v>42831</c:v>
                </c:pt>
                <c:pt idx="69">
                  <c:v>42832</c:v>
                </c:pt>
                <c:pt idx="70">
                  <c:v>42835</c:v>
                </c:pt>
                <c:pt idx="71">
                  <c:v>42836</c:v>
                </c:pt>
                <c:pt idx="72">
                  <c:v>42837</c:v>
                </c:pt>
                <c:pt idx="73">
                  <c:v>42838</c:v>
                </c:pt>
                <c:pt idx="74">
                  <c:v>42839</c:v>
                </c:pt>
                <c:pt idx="75">
                  <c:v>42842</c:v>
                </c:pt>
                <c:pt idx="76">
                  <c:v>42843</c:v>
                </c:pt>
                <c:pt idx="77">
                  <c:v>42844</c:v>
                </c:pt>
                <c:pt idx="78">
                  <c:v>42845</c:v>
                </c:pt>
                <c:pt idx="79">
                  <c:v>42846</c:v>
                </c:pt>
                <c:pt idx="80">
                  <c:v>42849</c:v>
                </c:pt>
                <c:pt idx="81">
                  <c:v>42850</c:v>
                </c:pt>
                <c:pt idx="82">
                  <c:v>42851</c:v>
                </c:pt>
                <c:pt idx="83">
                  <c:v>42852</c:v>
                </c:pt>
                <c:pt idx="84">
                  <c:v>42853</c:v>
                </c:pt>
                <c:pt idx="85">
                  <c:v>42856</c:v>
                </c:pt>
                <c:pt idx="86">
                  <c:v>42857</c:v>
                </c:pt>
                <c:pt idx="87">
                  <c:v>42858</c:v>
                </c:pt>
                <c:pt idx="88">
                  <c:v>42859</c:v>
                </c:pt>
                <c:pt idx="89">
                  <c:v>42860</c:v>
                </c:pt>
                <c:pt idx="90">
                  <c:v>42863</c:v>
                </c:pt>
                <c:pt idx="91">
                  <c:v>42864</c:v>
                </c:pt>
                <c:pt idx="92">
                  <c:v>42865</c:v>
                </c:pt>
                <c:pt idx="93">
                  <c:v>42866</c:v>
                </c:pt>
                <c:pt idx="94">
                  <c:v>42867</c:v>
                </c:pt>
                <c:pt idx="95">
                  <c:v>42870</c:v>
                </c:pt>
                <c:pt idx="96">
                  <c:v>42871</c:v>
                </c:pt>
                <c:pt idx="97">
                  <c:v>42872</c:v>
                </c:pt>
                <c:pt idx="98">
                  <c:v>42873</c:v>
                </c:pt>
                <c:pt idx="99">
                  <c:v>42874</c:v>
                </c:pt>
                <c:pt idx="100">
                  <c:v>42877</c:v>
                </c:pt>
                <c:pt idx="101">
                  <c:v>42878</c:v>
                </c:pt>
                <c:pt idx="102">
                  <c:v>42879</c:v>
                </c:pt>
                <c:pt idx="103">
                  <c:v>42880</c:v>
                </c:pt>
                <c:pt idx="104">
                  <c:v>42881</c:v>
                </c:pt>
                <c:pt idx="105">
                  <c:v>42884</c:v>
                </c:pt>
                <c:pt idx="106">
                  <c:v>42885</c:v>
                </c:pt>
                <c:pt idx="107">
                  <c:v>42886</c:v>
                </c:pt>
                <c:pt idx="108">
                  <c:v>42887</c:v>
                </c:pt>
                <c:pt idx="109">
                  <c:v>42888</c:v>
                </c:pt>
                <c:pt idx="110">
                  <c:v>42891</c:v>
                </c:pt>
                <c:pt idx="111">
                  <c:v>42892</c:v>
                </c:pt>
                <c:pt idx="112">
                  <c:v>42893</c:v>
                </c:pt>
                <c:pt idx="113">
                  <c:v>42894</c:v>
                </c:pt>
                <c:pt idx="114">
                  <c:v>42895</c:v>
                </c:pt>
                <c:pt idx="115">
                  <c:v>42898</c:v>
                </c:pt>
                <c:pt idx="116">
                  <c:v>42899</c:v>
                </c:pt>
                <c:pt idx="117">
                  <c:v>42900</c:v>
                </c:pt>
                <c:pt idx="118">
                  <c:v>42901</c:v>
                </c:pt>
                <c:pt idx="119">
                  <c:v>42902</c:v>
                </c:pt>
                <c:pt idx="120">
                  <c:v>42905</c:v>
                </c:pt>
                <c:pt idx="121">
                  <c:v>42906</c:v>
                </c:pt>
                <c:pt idx="122">
                  <c:v>42907</c:v>
                </c:pt>
                <c:pt idx="123">
                  <c:v>42908</c:v>
                </c:pt>
                <c:pt idx="124">
                  <c:v>42909</c:v>
                </c:pt>
                <c:pt idx="125">
                  <c:v>42912</c:v>
                </c:pt>
                <c:pt idx="126">
                  <c:v>42913</c:v>
                </c:pt>
                <c:pt idx="127">
                  <c:v>42914</c:v>
                </c:pt>
                <c:pt idx="128">
                  <c:v>42915</c:v>
                </c:pt>
                <c:pt idx="129">
                  <c:v>42916</c:v>
                </c:pt>
                <c:pt idx="130">
                  <c:v>42919</c:v>
                </c:pt>
                <c:pt idx="131">
                  <c:v>42920</c:v>
                </c:pt>
                <c:pt idx="132">
                  <c:v>42921</c:v>
                </c:pt>
                <c:pt idx="133">
                  <c:v>42922</c:v>
                </c:pt>
                <c:pt idx="134">
                  <c:v>42923</c:v>
                </c:pt>
                <c:pt idx="135">
                  <c:v>42926</c:v>
                </c:pt>
                <c:pt idx="136">
                  <c:v>42927</c:v>
                </c:pt>
                <c:pt idx="137">
                  <c:v>42928</c:v>
                </c:pt>
                <c:pt idx="138">
                  <c:v>42929</c:v>
                </c:pt>
                <c:pt idx="139">
                  <c:v>42930</c:v>
                </c:pt>
                <c:pt idx="140">
                  <c:v>42933</c:v>
                </c:pt>
                <c:pt idx="141">
                  <c:v>42934</c:v>
                </c:pt>
                <c:pt idx="142">
                  <c:v>42935</c:v>
                </c:pt>
                <c:pt idx="143">
                  <c:v>42936</c:v>
                </c:pt>
                <c:pt idx="144">
                  <c:v>42937</c:v>
                </c:pt>
                <c:pt idx="145">
                  <c:v>42940</c:v>
                </c:pt>
                <c:pt idx="146">
                  <c:v>42941</c:v>
                </c:pt>
                <c:pt idx="147">
                  <c:v>42942</c:v>
                </c:pt>
                <c:pt idx="148">
                  <c:v>42943</c:v>
                </c:pt>
                <c:pt idx="149">
                  <c:v>42944</c:v>
                </c:pt>
                <c:pt idx="150">
                  <c:v>42947</c:v>
                </c:pt>
                <c:pt idx="151">
                  <c:v>42948</c:v>
                </c:pt>
                <c:pt idx="152">
                  <c:v>42949</c:v>
                </c:pt>
                <c:pt idx="153">
                  <c:v>42950</c:v>
                </c:pt>
                <c:pt idx="154">
                  <c:v>42951</c:v>
                </c:pt>
                <c:pt idx="155">
                  <c:v>42954</c:v>
                </c:pt>
                <c:pt idx="156">
                  <c:v>42955</c:v>
                </c:pt>
                <c:pt idx="157">
                  <c:v>42956</c:v>
                </c:pt>
                <c:pt idx="158">
                  <c:v>42957</c:v>
                </c:pt>
                <c:pt idx="159">
                  <c:v>42958</c:v>
                </c:pt>
                <c:pt idx="160">
                  <c:v>42961</c:v>
                </c:pt>
                <c:pt idx="161">
                  <c:v>42962</c:v>
                </c:pt>
                <c:pt idx="162">
                  <c:v>42963</c:v>
                </c:pt>
                <c:pt idx="163">
                  <c:v>42964</c:v>
                </c:pt>
                <c:pt idx="164">
                  <c:v>42965</c:v>
                </c:pt>
                <c:pt idx="165">
                  <c:v>42968</c:v>
                </c:pt>
                <c:pt idx="166">
                  <c:v>42969</c:v>
                </c:pt>
                <c:pt idx="167">
                  <c:v>42970</c:v>
                </c:pt>
                <c:pt idx="168">
                  <c:v>42971</c:v>
                </c:pt>
                <c:pt idx="169">
                  <c:v>42972</c:v>
                </c:pt>
                <c:pt idx="170">
                  <c:v>42975</c:v>
                </c:pt>
                <c:pt idx="171">
                  <c:v>42976</c:v>
                </c:pt>
                <c:pt idx="172">
                  <c:v>42977</c:v>
                </c:pt>
                <c:pt idx="173">
                  <c:v>42978</c:v>
                </c:pt>
                <c:pt idx="174">
                  <c:v>42979</c:v>
                </c:pt>
                <c:pt idx="175">
                  <c:v>42982</c:v>
                </c:pt>
                <c:pt idx="176">
                  <c:v>42983</c:v>
                </c:pt>
                <c:pt idx="177">
                  <c:v>42984</c:v>
                </c:pt>
                <c:pt idx="178">
                  <c:v>42985</c:v>
                </c:pt>
                <c:pt idx="179">
                  <c:v>42986</c:v>
                </c:pt>
                <c:pt idx="180">
                  <c:v>42989</c:v>
                </c:pt>
                <c:pt idx="181">
                  <c:v>42990</c:v>
                </c:pt>
                <c:pt idx="182">
                  <c:v>42991</c:v>
                </c:pt>
                <c:pt idx="183">
                  <c:v>42992</c:v>
                </c:pt>
                <c:pt idx="184">
                  <c:v>42993</c:v>
                </c:pt>
                <c:pt idx="185">
                  <c:v>42996</c:v>
                </c:pt>
                <c:pt idx="186">
                  <c:v>42997</c:v>
                </c:pt>
                <c:pt idx="187">
                  <c:v>42998</c:v>
                </c:pt>
                <c:pt idx="188">
                  <c:v>42999</c:v>
                </c:pt>
                <c:pt idx="189">
                  <c:v>43000</c:v>
                </c:pt>
                <c:pt idx="190">
                  <c:v>43003</c:v>
                </c:pt>
                <c:pt idx="191">
                  <c:v>43004</c:v>
                </c:pt>
                <c:pt idx="192">
                  <c:v>43005</c:v>
                </c:pt>
                <c:pt idx="193">
                  <c:v>43006</c:v>
                </c:pt>
                <c:pt idx="194">
                  <c:v>43007</c:v>
                </c:pt>
                <c:pt idx="195">
                  <c:v>43010</c:v>
                </c:pt>
                <c:pt idx="196">
                  <c:v>43011</c:v>
                </c:pt>
                <c:pt idx="197">
                  <c:v>43012</c:v>
                </c:pt>
                <c:pt idx="198">
                  <c:v>43013</c:v>
                </c:pt>
                <c:pt idx="199">
                  <c:v>43014</c:v>
                </c:pt>
                <c:pt idx="200">
                  <c:v>43017</c:v>
                </c:pt>
                <c:pt idx="201">
                  <c:v>43018</c:v>
                </c:pt>
                <c:pt idx="202">
                  <c:v>43019</c:v>
                </c:pt>
                <c:pt idx="203">
                  <c:v>43020</c:v>
                </c:pt>
                <c:pt idx="204">
                  <c:v>43021</c:v>
                </c:pt>
                <c:pt idx="205">
                  <c:v>43024</c:v>
                </c:pt>
                <c:pt idx="206">
                  <c:v>43025</c:v>
                </c:pt>
                <c:pt idx="207">
                  <c:v>43026</c:v>
                </c:pt>
                <c:pt idx="208">
                  <c:v>43027</c:v>
                </c:pt>
                <c:pt idx="209">
                  <c:v>43028</c:v>
                </c:pt>
                <c:pt idx="210">
                  <c:v>43031</c:v>
                </c:pt>
                <c:pt idx="211">
                  <c:v>43032</c:v>
                </c:pt>
                <c:pt idx="212">
                  <c:v>43033</c:v>
                </c:pt>
                <c:pt idx="213">
                  <c:v>43034</c:v>
                </c:pt>
                <c:pt idx="214">
                  <c:v>43035</c:v>
                </c:pt>
                <c:pt idx="215">
                  <c:v>43038</c:v>
                </c:pt>
                <c:pt idx="216">
                  <c:v>43039</c:v>
                </c:pt>
                <c:pt idx="217">
                  <c:v>43040</c:v>
                </c:pt>
                <c:pt idx="218">
                  <c:v>43041</c:v>
                </c:pt>
                <c:pt idx="219">
                  <c:v>43042</c:v>
                </c:pt>
                <c:pt idx="220">
                  <c:v>43045</c:v>
                </c:pt>
                <c:pt idx="221">
                  <c:v>43046</c:v>
                </c:pt>
                <c:pt idx="222">
                  <c:v>43047</c:v>
                </c:pt>
                <c:pt idx="223">
                  <c:v>43048</c:v>
                </c:pt>
                <c:pt idx="224">
                  <c:v>43049</c:v>
                </c:pt>
                <c:pt idx="225">
                  <c:v>43052</c:v>
                </c:pt>
                <c:pt idx="226">
                  <c:v>43053</c:v>
                </c:pt>
                <c:pt idx="227">
                  <c:v>43054</c:v>
                </c:pt>
                <c:pt idx="228">
                  <c:v>43055</c:v>
                </c:pt>
                <c:pt idx="229">
                  <c:v>43056</c:v>
                </c:pt>
                <c:pt idx="230">
                  <c:v>43059</c:v>
                </c:pt>
                <c:pt idx="231">
                  <c:v>43060</c:v>
                </c:pt>
                <c:pt idx="232">
                  <c:v>43061</c:v>
                </c:pt>
                <c:pt idx="233">
                  <c:v>43062</c:v>
                </c:pt>
                <c:pt idx="234">
                  <c:v>43063</c:v>
                </c:pt>
                <c:pt idx="235">
                  <c:v>43066</c:v>
                </c:pt>
                <c:pt idx="236">
                  <c:v>43067</c:v>
                </c:pt>
                <c:pt idx="237">
                  <c:v>43068</c:v>
                </c:pt>
                <c:pt idx="238">
                  <c:v>43069</c:v>
                </c:pt>
                <c:pt idx="239">
                  <c:v>43070</c:v>
                </c:pt>
                <c:pt idx="240">
                  <c:v>43073</c:v>
                </c:pt>
                <c:pt idx="241">
                  <c:v>43074</c:v>
                </c:pt>
                <c:pt idx="242">
                  <c:v>43075</c:v>
                </c:pt>
                <c:pt idx="243">
                  <c:v>43076</c:v>
                </c:pt>
                <c:pt idx="244">
                  <c:v>43077</c:v>
                </c:pt>
                <c:pt idx="245">
                  <c:v>43080</c:v>
                </c:pt>
                <c:pt idx="246">
                  <c:v>43081</c:v>
                </c:pt>
                <c:pt idx="247">
                  <c:v>43082</c:v>
                </c:pt>
                <c:pt idx="248">
                  <c:v>43083</c:v>
                </c:pt>
                <c:pt idx="249">
                  <c:v>43084</c:v>
                </c:pt>
                <c:pt idx="250">
                  <c:v>43087</c:v>
                </c:pt>
                <c:pt idx="251">
                  <c:v>43088</c:v>
                </c:pt>
                <c:pt idx="252">
                  <c:v>43089</c:v>
                </c:pt>
                <c:pt idx="253">
                  <c:v>43090</c:v>
                </c:pt>
                <c:pt idx="254">
                  <c:v>43091</c:v>
                </c:pt>
                <c:pt idx="255">
                  <c:v>43094</c:v>
                </c:pt>
                <c:pt idx="256">
                  <c:v>43095</c:v>
                </c:pt>
                <c:pt idx="257">
                  <c:v>43096</c:v>
                </c:pt>
                <c:pt idx="258">
                  <c:v>43097</c:v>
                </c:pt>
                <c:pt idx="259">
                  <c:v>43098</c:v>
                </c:pt>
                <c:pt idx="260">
                  <c:v>43101</c:v>
                </c:pt>
                <c:pt idx="261">
                  <c:v>43102</c:v>
                </c:pt>
                <c:pt idx="262">
                  <c:v>43103</c:v>
                </c:pt>
                <c:pt idx="263">
                  <c:v>43104</c:v>
                </c:pt>
                <c:pt idx="264">
                  <c:v>43105</c:v>
                </c:pt>
                <c:pt idx="265">
                  <c:v>43108</c:v>
                </c:pt>
                <c:pt idx="266">
                  <c:v>43109</c:v>
                </c:pt>
                <c:pt idx="267">
                  <c:v>43110</c:v>
                </c:pt>
                <c:pt idx="268">
                  <c:v>43111</c:v>
                </c:pt>
                <c:pt idx="269">
                  <c:v>43112</c:v>
                </c:pt>
                <c:pt idx="270">
                  <c:v>43115</c:v>
                </c:pt>
                <c:pt idx="271">
                  <c:v>43116</c:v>
                </c:pt>
                <c:pt idx="272">
                  <c:v>43117</c:v>
                </c:pt>
                <c:pt idx="273">
                  <c:v>43118</c:v>
                </c:pt>
                <c:pt idx="274">
                  <c:v>43119</c:v>
                </c:pt>
                <c:pt idx="275">
                  <c:v>43122</c:v>
                </c:pt>
                <c:pt idx="276">
                  <c:v>43123</c:v>
                </c:pt>
                <c:pt idx="277">
                  <c:v>43124</c:v>
                </c:pt>
                <c:pt idx="278">
                  <c:v>43125</c:v>
                </c:pt>
                <c:pt idx="279">
                  <c:v>43126</c:v>
                </c:pt>
                <c:pt idx="280">
                  <c:v>43129</c:v>
                </c:pt>
                <c:pt idx="281">
                  <c:v>43130</c:v>
                </c:pt>
                <c:pt idx="282">
                  <c:v>43131</c:v>
                </c:pt>
                <c:pt idx="283">
                  <c:v>43132</c:v>
                </c:pt>
                <c:pt idx="284">
                  <c:v>43133</c:v>
                </c:pt>
                <c:pt idx="285">
                  <c:v>43136</c:v>
                </c:pt>
                <c:pt idx="286">
                  <c:v>43137</c:v>
                </c:pt>
                <c:pt idx="287">
                  <c:v>43138</c:v>
                </c:pt>
                <c:pt idx="288">
                  <c:v>43139</c:v>
                </c:pt>
                <c:pt idx="289">
                  <c:v>43140</c:v>
                </c:pt>
                <c:pt idx="290">
                  <c:v>43143</c:v>
                </c:pt>
                <c:pt idx="291">
                  <c:v>43144</c:v>
                </c:pt>
                <c:pt idx="292">
                  <c:v>43145</c:v>
                </c:pt>
                <c:pt idx="293">
                  <c:v>43146</c:v>
                </c:pt>
                <c:pt idx="294">
                  <c:v>43147</c:v>
                </c:pt>
                <c:pt idx="295">
                  <c:v>43150</c:v>
                </c:pt>
                <c:pt idx="296">
                  <c:v>43151</c:v>
                </c:pt>
                <c:pt idx="297">
                  <c:v>43152</c:v>
                </c:pt>
                <c:pt idx="298">
                  <c:v>43153</c:v>
                </c:pt>
                <c:pt idx="299">
                  <c:v>43154</c:v>
                </c:pt>
                <c:pt idx="300">
                  <c:v>43157</c:v>
                </c:pt>
                <c:pt idx="301">
                  <c:v>43158</c:v>
                </c:pt>
                <c:pt idx="302">
                  <c:v>43159</c:v>
                </c:pt>
                <c:pt idx="303">
                  <c:v>43160</c:v>
                </c:pt>
                <c:pt idx="304">
                  <c:v>43161</c:v>
                </c:pt>
                <c:pt idx="305">
                  <c:v>43164</c:v>
                </c:pt>
                <c:pt idx="306">
                  <c:v>43165</c:v>
                </c:pt>
                <c:pt idx="307">
                  <c:v>43166</c:v>
                </c:pt>
                <c:pt idx="308">
                  <c:v>43167</c:v>
                </c:pt>
                <c:pt idx="309">
                  <c:v>43168</c:v>
                </c:pt>
                <c:pt idx="310">
                  <c:v>43171</c:v>
                </c:pt>
                <c:pt idx="311">
                  <c:v>43172</c:v>
                </c:pt>
                <c:pt idx="312">
                  <c:v>43173</c:v>
                </c:pt>
                <c:pt idx="313">
                  <c:v>43174</c:v>
                </c:pt>
                <c:pt idx="314">
                  <c:v>43175</c:v>
                </c:pt>
                <c:pt idx="315">
                  <c:v>43178</c:v>
                </c:pt>
                <c:pt idx="316">
                  <c:v>43179</c:v>
                </c:pt>
                <c:pt idx="317">
                  <c:v>43180</c:v>
                </c:pt>
                <c:pt idx="318">
                  <c:v>43181</c:v>
                </c:pt>
                <c:pt idx="319">
                  <c:v>43182</c:v>
                </c:pt>
                <c:pt idx="320">
                  <c:v>43185</c:v>
                </c:pt>
                <c:pt idx="321">
                  <c:v>43186</c:v>
                </c:pt>
                <c:pt idx="322">
                  <c:v>43187</c:v>
                </c:pt>
                <c:pt idx="323">
                  <c:v>43188</c:v>
                </c:pt>
                <c:pt idx="324">
                  <c:v>43189</c:v>
                </c:pt>
                <c:pt idx="325">
                  <c:v>43192</c:v>
                </c:pt>
                <c:pt idx="326">
                  <c:v>43193</c:v>
                </c:pt>
                <c:pt idx="327">
                  <c:v>43194</c:v>
                </c:pt>
                <c:pt idx="328">
                  <c:v>43195</c:v>
                </c:pt>
                <c:pt idx="329">
                  <c:v>43196</c:v>
                </c:pt>
                <c:pt idx="330">
                  <c:v>43199</c:v>
                </c:pt>
                <c:pt idx="331">
                  <c:v>43200</c:v>
                </c:pt>
                <c:pt idx="332">
                  <c:v>43201</c:v>
                </c:pt>
                <c:pt idx="333">
                  <c:v>43202</c:v>
                </c:pt>
                <c:pt idx="334">
                  <c:v>43203</c:v>
                </c:pt>
                <c:pt idx="335">
                  <c:v>43206</c:v>
                </c:pt>
                <c:pt idx="336">
                  <c:v>43207</c:v>
                </c:pt>
                <c:pt idx="337">
                  <c:v>43208</c:v>
                </c:pt>
                <c:pt idx="338">
                  <c:v>43209</c:v>
                </c:pt>
                <c:pt idx="339">
                  <c:v>43210</c:v>
                </c:pt>
                <c:pt idx="340">
                  <c:v>43213</c:v>
                </c:pt>
                <c:pt idx="341">
                  <c:v>43214</c:v>
                </c:pt>
                <c:pt idx="342">
                  <c:v>43215</c:v>
                </c:pt>
                <c:pt idx="343">
                  <c:v>43216</c:v>
                </c:pt>
                <c:pt idx="344">
                  <c:v>43217</c:v>
                </c:pt>
                <c:pt idx="345">
                  <c:v>43220</c:v>
                </c:pt>
                <c:pt idx="346">
                  <c:v>43221</c:v>
                </c:pt>
                <c:pt idx="347">
                  <c:v>43222</c:v>
                </c:pt>
                <c:pt idx="348">
                  <c:v>43223</c:v>
                </c:pt>
                <c:pt idx="349">
                  <c:v>43224</c:v>
                </c:pt>
                <c:pt idx="350">
                  <c:v>43227</c:v>
                </c:pt>
                <c:pt idx="351">
                  <c:v>43228</c:v>
                </c:pt>
                <c:pt idx="352">
                  <c:v>43229</c:v>
                </c:pt>
                <c:pt idx="353">
                  <c:v>43230</c:v>
                </c:pt>
                <c:pt idx="354">
                  <c:v>43231</c:v>
                </c:pt>
                <c:pt idx="355">
                  <c:v>43234</c:v>
                </c:pt>
                <c:pt idx="356">
                  <c:v>43235</c:v>
                </c:pt>
                <c:pt idx="357">
                  <c:v>43236</c:v>
                </c:pt>
                <c:pt idx="358">
                  <c:v>43237</c:v>
                </c:pt>
                <c:pt idx="359">
                  <c:v>43238</c:v>
                </c:pt>
                <c:pt idx="360">
                  <c:v>43241</c:v>
                </c:pt>
                <c:pt idx="361">
                  <c:v>43242</c:v>
                </c:pt>
                <c:pt idx="362">
                  <c:v>43243</c:v>
                </c:pt>
                <c:pt idx="363">
                  <c:v>43244</c:v>
                </c:pt>
                <c:pt idx="364">
                  <c:v>43245</c:v>
                </c:pt>
                <c:pt idx="365">
                  <c:v>43248</c:v>
                </c:pt>
                <c:pt idx="366">
                  <c:v>43249</c:v>
                </c:pt>
                <c:pt idx="367">
                  <c:v>43250</c:v>
                </c:pt>
                <c:pt idx="368">
                  <c:v>43251</c:v>
                </c:pt>
                <c:pt idx="369">
                  <c:v>43252</c:v>
                </c:pt>
                <c:pt idx="370">
                  <c:v>43255</c:v>
                </c:pt>
                <c:pt idx="371">
                  <c:v>43256</c:v>
                </c:pt>
                <c:pt idx="372">
                  <c:v>43257</c:v>
                </c:pt>
                <c:pt idx="373">
                  <c:v>43258</c:v>
                </c:pt>
                <c:pt idx="374">
                  <c:v>43259</c:v>
                </c:pt>
                <c:pt idx="375">
                  <c:v>43262</c:v>
                </c:pt>
                <c:pt idx="376">
                  <c:v>43263</c:v>
                </c:pt>
                <c:pt idx="377">
                  <c:v>43264</c:v>
                </c:pt>
                <c:pt idx="378">
                  <c:v>43265</c:v>
                </c:pt>
                <c:pt idx="379">
                  <c:v>43266</c:v>
                </c:pt>
                <c:pt idx="380">
                  <c:v>43269</c:v>
                </c:pt>
                <c:pt idx="381">
                  <c:v>43270</c:v>
                </c:pt>
                <c:pt idx="382">
                  <c:v>43271</c:v>
                </c:pt>
                <c:pt idx="383">
                  <c:v>43272</c:v>
                </c:pt>
                <c:pt idx="384">
                  <c:v>43273</c:v>
                </c:pt>
                <c:pt idx="385">
                  <c:v>43276</c:v>
                </c:pt>
                <c:pt idx="386">
                  <c:v>43277</c:v>
                </c:pt>
                <c:pt idx="387">
                  <c:v>43278</c:v>
                </c:pt>
                <c:pt idx="388">
                  <c:v>43279</c:v>
                </c:pt>
                <c:pt idx="389">
                  <c:v>43280</c:v>
                </c:pt>
                <c:pt idx="390">
                  <c:v>43283</c:v>
                </c:pt>
                <c:pt idx="391">
                  <c:v>43284</c:v>
                </c:pt>
                <c:pt idx="392">
                  <c:v>43285</c:v>
                </c:pt>
                <c:pt idx="393">
                  <c:v>43286</c:v>
                </c:pt>
                <c:pt idx="394">
                  <c:v>43287</c:v>
                </c:pt>
                <c:pt idx="395">
                  <c:v>43290</c:v>
                </c:pt>
                <c:pt idx="396">
                  <c:v>43291</c:v>
                </c:pt>
                <c:pt idx="397">
                  <c:v>43292</c:v>
                </c:pt>
                <c:pt idx="398">
                  <c:v>43293</c:v>
                </c:pt>
                <c:pt idx="399">
                  <c:v>43294</c:v>
                </c:pt>
                <c:pt idx="400">
                  <c:v>43297</c:v>
                </c:pt>
                <c:pt idx="401">
                  <c:v>43298</c:v>
                </c:pt>
                <c:pt idx="402">
                  <c:v>43299</c:v>
                </c:pt>
                <c:pt idx="403">
                  <c:v>43300</c:v>
                </c:pt>
                <c:pt idx="404">
                  <c:v>43301</c:v>
                </c:pt>
                <c:pt idx="405">
                  <c:v>43304</c:v>
                </c:pt>
                <c:pt idx="406">
                  <c:v>43305</c:v>
                </c:pt>
                <c:pt idx="407">
                  <c:v>43306</c:v>
                </c:pt>
                <c:pt idx="408">
                  <c:v>43307</c:v>
                </c:pt>
                <c:pt idx="409">
                  <c:v>43308</c:v>
                </c:pt>
                <c:pt idx="410">
                  <c:v>43311</c:v>
                </c:pt>
                <c:pt idx="411">
                  <c:v>43312</c:v>
                </c:pt>
                <c:pt idx="412">
                  <c:v>43313</c:v>
                </c:pt>
                <c:pt idx="413">
                  <c:v>43314</c:v>
                </c:pt>
                <c:pt idx="414">
                  <c:v>43315</c:v>
                </c:pt>
                <c:pt idx="415">
                  <c:v>43318</c:v>
                </c:pt>
                <c:pt idx="416">
                  <c:v>43319</c:v>
                </c:pt>
                <c:pt idx="417">
                  <c:v>43320</c:v>
                </c:pt>
                <c:pt idx="418">
                  <c:v>43321</c:v>
                </c:pt>
                <c:pt idx="419">
                  <c:v>43322</c:v>
                </c:pt>
                <c:pt idx="420">
                  <c:v>43325</c:v>
                </c:pt>
                <c:pt idx="421">
                  <c:v>43326</c:v>
                </c:pt>
                <c:pt idx="422">
                  <c:v>43327</c:v>
                </c:pt>
                <c:pt idx="423">
                  <c:v>43328</c:v>
                </c:pt>
                <c:pt idx="424">
                  <c:v>43329</c:v>
                </c:pt>
                <c:pt idx="425">
                  <c:v>43332</c:v>
                </c:pt>
                <c:pt idx="426">
                  <c:v>43333</c:v>
                </c:pt>
                <c:pt idx="427">
                  <c:v>43334</c:v>
                </c:pt>
                <c:pt idx="428">
                  <c:v>43335</c:v>
                </c:pt>
                <c:pt idx="429">
                  <c:v>43336</c:v>
                </c:pt>
                <c:pt idx="430">
                  <c:v>43339</c:v>
                </c:pt>
                <c:pt idx="431">
                  <c:v>43340</c:v>
                </c:pt>
                <c:pt idx="432">
                  <c:v>43341</c:v>
                </c:pt>
                <c:pt idx="433">
                  <c:v>43342</c:v>
                </c:pt>
                <c:pt idx="434">
                  <c:v>43343</c:v>
                </c:pt>
                <c:pt idx="435">
                  <c:v>43346</c:v>
                </c:pt>
                <c:pt idx="436">
                  <c:v>43347</c:v>
                </c:pt>
                <c:pt idx="437">
                  <c:v>43348</c:v>
                </c:pt>
                <c:pt idx="438">
                  <c:v>43349</c:v>
                </c:pt>
                <c:pt idx="439">
                  <c:v>43350</c:v>
                </c:pt>
                <c:pt idx="440">
                  <c:v>43353</c:v>
                </c:pt>
                <c:pt idx="441">
                  <c:v>43354</c:v>
                </c:pt>
                <c:pt idx="442">
                  <c:v>43355</c:v>
                </c:pt>
                <c:pt idx="443">
                  <c:v>43356</c:v>
                </c:pt>
                <c:pt idx="444">
                  <c:v>43357</c:v>
                </c:pt>
                <c:pt idx="445">
                  <c:v>43360</c:v>
                </c:pt>
                <c:pt idx="446">
                  <c:v>43361</c:v>
                </c:pt>
                <c:pt idx="447">
                  <c:v>43362</c:v>
                </c:pt>
                <c:pt idx="448">
                  <c:v>43363</c:v>
                </c:pt>
                <c:pt idx="449">
                  <c:v>43364</c:v>
                </c:pt>
                <c:pt idx="450">
                  <c:v>43367</c:v>
                </c:pt>
                <c:pt idx="451">
                  <c:v>43368</c:v>
                </c:pt>
                <c:pt idx="452">
                  <c:v>43369</c:v>
                </c:pt>
                <c:pt idx="453">
                  <c:v>43370</c:v>
                </c:pt>
                <c:pt idx="454">
                  <c:v>43371</c:v>
                </c:pt>
                <c:pt idx="455">
                  <c:v>43374</c:v>
                </c:pt>
                <c:pt idx="456">
                  <c:v>43375</c:v>
                </c:pt>
                <c:pt idx="457">
                  <c:v>43376</c:v>
                </c:pt>
                <c:pt idx="458">
                  <c:v>43377</c:v>
                </c:pt>
                <c:pt idx="459">
                  <c:v>43378</c:v>
                </c:pt>
                <c:pt idx="460">
                  <c:v>43381</c:v>
                </c:pt>
                <c:pt idx="461">
                  <c:v>43382</c:v>
                </c:pt>
                <c:pt idx="462">
                  <c:v>43383</c:v>
                </c:pt>
                <c:pt idx="463">
                  <c:v>43384</c:v>
                </c:pt>
                <c:pt idx="464">
                  <c:v>43385</c:v>
                </c:pt>
                <c:pt idx="465">
                  <c:v>43388</c:v>
                </c:pt>
                <c:pt idx="466">
                  <c:v>43389</c:v>
                </c:pt>
                <c:pt idx="467">
                  <c:v>43390</c:v>
                </c:pt>
                <c:pt idx="468">
                  <c:v>43391</c:v>
                </c:pt>
                <c:pt idx="469">
                  <c:v>43392</c:v>
                </c:pt>
                <c:pt idx="470">
                  <c:v>43395</c:v>
                </c:pt>
                <c:pt idx="471">
                  <c:v>43396</c:v>
                </c:pt>
                <c:pt idx="472">
                  <c:v>43397</c:v>
                </c:pt>
                <c:pt idx="473">
                  <c:v>43398</c:v>
                </c:pt>
                <c:pt idx="474">
                  <c:v>43399</c:v>
                </c:pt>
                <c:pt idx="475">
                  <c:v>43402</c:v>
                </c:pt>
                <c:pt idx="476">
                  <c:v>43403</c:v>
                </c:pt>
                <c:pt idx="477">
                  <c:v>43404</c:v>
                </c:pt>
                <c:pt idx="478">
                  <c:v>43405</c:v>
                </c:pt>
                <c:pt idx="479">
                  <c:v>43406</c:v>
                </c:pt>
                <c:pt idx="480">
                  <c:v>43409</c:v>
                </c:pt>
                <c:pt idx="481">
                  <c:v>43410</c:v>
                </c:pt>
                <c:pt idx="482">
                  <c:v>43411</c:v>
                </c:pt>
                <c:pt idx="483">
                  <c:v>43412</c:v>
                </c:pt>
                <c:pt idx="484">
                  <c:v>43413</c:v>
                </c:pt>
                <c:pt idx="485">
                  <c:v>43416</c:v>
                </c:pt>
                <c:pt idx="486">
                  <c:v>43417</c:v>
                </c:pt>
                <c:pt idx="487">
                  <c:v>43418</c:v>
                </c:pt>
                <c:pt idx="488">
                  <c:v>43419</c:v>
                </c:pt>
                <c:pt idx="489">
                  <c:v>43420</c:v>
                </c:pt>
                <c:pt idx="490">
                  <c:v>43423</c:v>
                </c:pt>
                <c:pt idx="491">
                  <c:v>43424</c:v>
                </c:pt>
                <c:pt idx="492">
                  <c:v>43425</c:v>
                </c:pt>
                <c:pt idx="493">
                  <c:v>43426</c:v>
                </c:pt>
                <c:pt idx="494">
                  <c:v>43427</c:v>
                </c:pt>
                <c:pt idx="495">
                  <c:v>43430</c:v>
                </c:pt>
                <c:pt idx="496">
                  <c:v>43431</c:v>
                </c:pt>
                <c:pt idx="497">
                  <c:v>43432</c:v>
                </c:pt>
                <c:pt idx="498">
                  <c:v>43433</c:v>
                </c:pt>
                <c:pt idx="499">
                  <c:v>43434</c:v>
                </c:pt>
                <c:pt idx="500">
                  <c:v>43437</c:v>
                </c:pt>
                <c:pt idx="501">
                  <c:v>43438</c:v>
                </c:pt>
                <c:pt idx="502">
                  <c:v>43439</c:v>
                </c:pt>
                <c:pt idx="503">
                  <c:v>43440</c:v>
                </c:pt>
                <c:pt idx="504">
                  <c:v>43441</c:v>
                </c:pt>
                <c:pt idx="505">
                  <c:v>43444</c:v>
                </c:pt>
                <c:pt idx="506">
                  <c:v>43445</c:v>
                </c:pt>
                <c:pt idx="507">
                  <c:v>43446</c:v>
                </c:pt>
                <c:pt idx="508">
                  <c:v>43447</c:v>
                </c:pt>
                <c:pt idx="509">
                  <c:v>43448</c:v>
                </c:pt>
                <c:pt idx="510">
                  <c:v>43451</c:v>
                </c:pt>
                <c:pt idx="511">
                  <c:v>43452</c:v>
                </c:pt>
                <c:pt idx="512">
                  <c:v>43453</c:v>
                </c:pt>
                <c:pt idx="513">
                  <c:v>43454</c:v>
                </c:pt>
                <c:pt idx="514">
                  <c:v>43455</c:v>
                </c:pt>
                <c:pt idx="515">
                  <c:v>43458</c:v>
                </c:pt>
                <c:pt idx="516">
                  <c:v>43459</c:v>
                </c:pt>
                <c:pt idx="517">
                  <c:v>43460</c:v>
                </c:pt>
                <c:pt idx="518">
                  <c:v>43461</c:v>
                </c:pt>
                <c:pt idx="519">
                  <c:v>43462</c:v>
                </c:pt>
                <c:pt idx="520">
                  <c:v>43465</c:v>
                </c:pt>
                <c:pt idx="521">
                  <c:v>43466</c:v>
                </c:pt>
                <c:pt idx="522">
                  <c:v>43467</c:v>
                </c:pt>
                <c:pt idx="523">
                  <c:v>43468</c:v>
                </c:pt>
                <c:pt idx="524">
                  <c:v>43469</c:v>
                </c:pt>
                <c:pt idx="525">
                  <c:v>43472</c:v>
                </c:pt>
                <c:pt idx="526">
                  <c:v>43473</c:v>
                </c:pt>
                <c:pt idx="527">
                  <c:v>43474</c:v>
                </c:pt>
                <c:pt idx="528">
                  <c:v>43475</c:v>
                </c:pt>
                <c:pt idx="529">
                  <c:v>43476</c:v>
                </c:pt>
                <c:pt idx="530">
                  <c:v>43479</c:v>
                </c:pt>
                <c:pt idx="531">
                  <c:v>43480</c:v>
                </c:pt>
                <c:pt idx="532">
                  <c:v>43481</c:v>
                </c:pt>
                <c:pt idx="533">
                  <c:v>43482</c:v>
                </c:pt>
                <c:pt idx="534">
                  <c:v>43483</c:v>
                </c:pt>
                <c:pt idx="535">
                  <c:v>43486</c:v>
                </c:pt>
                <c:pt idx="536">
                  <c:v>43487</c:v>
                </c:pt>
                <c:pt idx="537">
                  <c:v>43488</c:v>
                </c:pt>
                <c:pt idx="538">
                  <c:v>43489</c:v>
                </c:pt>
                <c:pt idx="539">
                  <c:v>43490</c:v>
                </c:pt>
                <c:pt idx="540">
                  <c:v>43493</c:v>
                </c:pt>
                <c:pt idx="541">
                  <c:v>43494</c:v>
                </c:pt>
                <c:pt idx="542">
                  <c:v>43495</c:v>
                </c:pt>
                <c:pt idx="543">
                  <c:v>43496</c:v>
                </c:pt>
                <c:pt idx="544">
                  <c:v>43497</c:v>
                </c:pt>
                <c:pt idx="545">
                  <c:v>43500</c:v>
                </c:pt>
                <c:pt idx="546">
                  <c:v>43501</c:v>
                </c:pt>
                <c:pt idx="547">
                  <c:v>43502</c:v>
                </c:pt>
                <c:pt idx="548">
                  <c:v>43503</c:v>
                </c:pt>
                <c:pt idx="549">
                  <c:v>43504</c:v>
                </c:pt>
                <c:pt idx="550">
                  <c:v>43507</c:v>
                </c:pt>
                <c:pt idx="551">
                  <c:v>43508</c:v>
                </c:pt>
                <c:pt idx="552">
                  <c:v>43509</c:v>
                </c:pt>
                <c:pt idx="553">
                  <c:v>43510</c:v>
                </c:pt>
                <c:pt idx="554">
                  <c:v>43511</c:v>
                </c:pt>
                <c:pt idx="555">
                  <c:v>43514</c:v>
                </c:pt>
                <c:pt idx="556">
                  <c:v>43515</c:v>
                </c:pt>
                <c:pt idx="557">
                  <c:v>43516</c:v>
                </c:pt>
                <c:pt idx="558">
                  <c:v>43517</c:v>
                </c:pt>
                <c:pt idx="559">
                  <c:v>43518</c:v>
                </c:pt>
                <c:pt idx="560">
                  <c:v>43521</c:v>
                </c:pt>
                <c:pt idx="561">
                  <c:v>43522</c:v>
                </c:pt>
                <c:pt idx="562">
                  <c:v>43523</c:v>
                </c:pt>
                <c:pt idx="563">
                  <c:v>43524</c:v>
                </c:pt>
                <c:pt idx="564">
                  <c:v>43525</c:v>
                </c:pt>
                <c:pt idx="565">
                  <c:v>43528</c:v>
                </c:pt>
                <c:pt idx="566">
                  <c:v>43529</c:v>
                </c:pt>
                <c:pt idx="567">
                  <c:v>43530</c:v>
                </c:pt>
                <c:pt idx="568">
                  <c:v>43531</c:v>
                </c:pt>
                <c:pt idx="569">
                  <c:v>43532</c:v>
                </c:pt>
                <c:pt idx="570">
                  <c:v>43535</c:v>
                </c:pt>
                <c:pt idx="571">
                  <c:v>43536</c:v>
                </c:pt>
                <c:pt idx="572">
                  <c:v>43537</c:v>
                </c:pt>
                <c:pt idx="573">
                  <c:v>43538</c:v>
                </c:pt>
                <c:pt idx="574">
                  <c:v>43539</c:v>
                </c:pt>
                <c:pt idx="575">
                  <c:v>43542</c:v>
                </c:pt>
                <c:pt idx="576">
                  <c:v>43543</c:v>
                </c:pt>
                <c:pt idx="577">
                  <c:v>43544</c:v>
                </c:pt>
                <c:pt idx="578">
                  <c:v>43545</c:v>
                </c:pt>
                <c:pt idx="579">
                  <c:v>43546</c:v>
                </c:pt>
                <c:pt idx="580">
                  <c:v>43549</c:v>
                </c:pt>
                <c:pt idx="581">
                  <c:v>43550</c:v>
                </c:pt>
                <c:pt idx="582">
                  <c:v>43551</c:v>
                </c:pt>
                <c:pt idx="583">
                  <c:v>43552</c:v>
                </c:pt>
                <c:pt idx="584">
                  <c:v>43553</c:v>
                </c:pt>
                <c:pt idx="585">
                  <c:v>43556</c:v>
                </c:pt>
                <c:pt idx="586">
                  <c:v>43557</c:v>
                </c:pt>
                <c:pt idx="587">
                  <c:v>43558</c:v>
                </c:pt>
                <c:pt idx="588">
                  <c:v>43559</c:v>
                </c:pt>
                <c:pt idx="589">
                  <c:v>43560</c:v>
                </c:pt>
                <c:pt idx="590">
                  <c:v>43563</c:v>
                </c:pt>
                <c:pt idx="591">
                  <c:v>43564</c:v>
                </c:pt>
                <c:pt idx="592">
                  <c:v>43565</c:v>
                </c:pt>
                <c:pt idx="593">
                  <c:v>43566</c:v>
                </c:pt>
                <c:pt idx="594">
                  <c:v>43567</c:v>
                </c:pt>
                <c:pt idx="595">
                  <c:v>43570</c:v>
                </c:pt>
                <c:pt idx="596">
                  <c:v>43571</c:v>
                </c:pt>
                <c:pt idx="597">
                  <c:v>43572</c:v>
                </c:pt>
                <c:pt idx="598">
                  <c:v>43573</c:v>
                </c:pt>
                <c:pt idx="599">
                  <c:v>43574</c:v>
                </c:pt>
                <c:pt idx="600">
                  <c:v>43577</c:v>
                </c:pt>
                <c:pt idx="601">
                  <c:v>43578</c:v>
                </c:pt>
                <c:pt idx="602">
                  <c:v>43579</c:v>
                </c:pt>
                <c:pt idx="603">
                  <c:v>43580</c:v>
                </c:pt>
                <c:pt idx="604">
                  <c:v>43581</c:v>
                </c:pt>
                <c:pt idx="605">
                  <c:v>43584</c:v>
                </c:pt>
                <c:pt idx="606">
                  <c:v>43585</c:v>
                </c:pt>
                <c:pt idx="607">
                  <c:v>43586</c:v>
                </c:pt>
                <c:pt idx="608">
                  <c:v>43587</c:v>
                </c:pt>
                <c:pt idx="609">
                  <c:v>43588</c:v>
                </c:pt>
                <c:pt idx="610">
                  <c:v>43591</c:v>
                </c:pt>
                <c:pt idx="611">
                  <c:v>43592</c:v>
                </c:pt>
                <c:pt idx="612">
                  <c:v>43593</c:v>
                </c:pt>
                <c:pt idx="613">
                  <c:v>43594</c:v>
                </c:pt>
                <c:pt idx="614">
                  <c:v>43595</c:v>
                </c:pt>
                <c:pt idx="615">
                  <c:v>43598</c:v>
                </c:pt>
                <c:pt idx="616">
                  <c:v>43599</c:v>
                </c:pt>
                <c:pt idx="617">
                  <c:v>43600</c:v>
                </c:pt>
                <c:pt idx="618">
                  <c:v>43601</c:v>
                </c:pt>
                <c:pt idx="619">
                  <c:v>43602</c:v>
                </c:pt>
                <c:pt idx="620">
                  <c:v>43605</c:v>
                </c:pt>
                <c:pt idx="621">
                  <c:v>43606</c:v>
                </c:pt>
                <c:pt idx="622">
                  <c:v>43607</c:v>
                </c:pt>
                <c:pt idx="623">
                  <c:v>43608</c:v>
                </c:pt>
                <c:pt idx="624">
                  <c:v>43609</c:v>
                </c:pt>
                <c:pt idx="625">
                  <c:v>43612</c:v>
                </c:pt>
                <c:pt idx="626">
                  <c:v>43613</c:v>
                </c:pt>
                <c:pt idx="627">
                  <c:v>43614</c:v>
                </c:pt>
                <c:pt idx="628">
                  <c:v>43615</c:v>
                </c:pt>
                <c:pt idx="629">
                  <c:v>43616</c:v>
                </c:pt>
                <c:pt idx="630">
                  <c:v>43619</c:v>
                </c:pt>
                <c:pt idx="631">
                  <c:v>43620</c:v>
                </c:pt>
                <c:pt idx="632">
                  <c:v>43621</c:v>
                </c:pt>
                <c:pt idx="633">
                  <c:v>43622</c:v>
                </c:pt>
                <c:pt idx="634">
                  <c:v>43623</c:v>
                </c:pt>
                <c:pt idx="635">
                  <c:v>43626</c:v>
                </c:pt>
                <c:pt idx="636">
                  <c:v>43627</c:v>
                </c:pt>
                <c:pt idx="637">
                  <c:v>43628</c:v>
                </c:pt>
                <c:pt idx="638">
                  <c:v>43629</c:v>
                </c:pt>
                <c:pt idx="639">
                  <c:v>43630</c:v>
                </c:pt>
                <c:pt idx="640">
                  <c:v>43633</c:v>
                </c:pt>
                <c:pt idx="641">
                  <c:v>43634</c:v>
                </c:pt>
                <c:pt idx="642">
                  <c:v>43635</c:v>
                </c:pt>
                <c:pt idx="643">
                  <c:v>43636</c:v>
                </c:pt>
                <c:pt idx="644">
                  <c:v>43637</c:v>
                </c:pt>
                <c:pt idx="645">
                  <c:v>43640</c:v>
                </c:pt>
                <c:pt idx="646">
                  <c:v>43641</c:v>
                </c:pt>
                <c:pt idx="647">
                  <c:v>43642</c:v>
                </c:pt>
                <c:pt idx="648">
                  <c:v>43643</c:v>
                </c:pt>
                <c:pt idx="649">
                  <c:v>43644</c:v>
                </c:pt>
                <c:pt idx="650">
                  <c:v>43647</c:v>
                </c:pt>
                <c:pt idx="651">
                  <c:v>43648</c:v>
                </c:pt>
                <c:pt idx="652">
                  <c:v>43649</c:v>
                </c:pt>
                <c:pt idx="653">
                  <c:v>43650</c:v>
                </c:pt>
                <c:pt idx="654">
                  <c:v>43651</c:v>
                </c:pt>
                <c:pt idx="655">
                  <c:v>43654</c:v>
                </c:pt>
                <c:pt idx="656">
                  <c:v>43655</c:v>
                </c:pt>
                <c:pt idx="657">
                  <c:v>43656</c:v>
                </c:pt>
                <c:pt idx="658">
                  <c:v>43657</c:v>
                </c:pt>
                <c:pt idx="659">
                  <c:v>43658</c:v>
                </c:pt>
                <c:pt idx="660">
                  <c:v>43661</c:v>
                </c:pt>
                <c:pt idx="661">
                  <c:v>43662</c:v>
                </c:pt>
                <c:pt idx="662">
                  <c:v>43663</c:v>
                </c:pt>
                <c:pt idx="663">
                  <c:v>43664</c:v>
                </c:pt>
                <c:pt idx="664">
                  <c:v>43665</c:v>
                </c:pt>
                <c:pt idx="665">
                  <c:v>43668</c:v>
                </c:pt>
                <c:pt idx="666">
                  <c:v>43669</c:v>
                </c:pt>
                <c:pt idx="667">
                  <c:v>43670</c:v>
                </c:pt>
                <c:pt idx="668">
                  <c:v>43671</c:v>
                </c:pt>
                <c:pt idx="669">
                  <c:v>43672</c:v>
                </c:pt>
                <c:pt idx="670">
                  <c:v>43675</c:v>
                </c:pt>
                <c:pt idx="671">
                  <c:v>43676</c:v>
                </c:pt>
                <c:pt idx="672">
                  <c:v>43677</c:v>
                </c:pt>
                <c:pt idx="673">
                  <c:v>43678</c:v>
                </c:pt>
                <c:pt idx="674">
                  <c:v>43679</c:v>
                </c:pt>
                <c:pt idx="675">
                  <c:v>43682</c:v>
                </c:pt>
                <c:pt idx="676">
                  <c:v>43683</c:v>
                </c:pt>
                <c:pt idx="677">
                  <c:v>43684</c:v>
                </c:pt>
                <c:pt idx="678">
                  <c:v>43685</c:v>
                </c:pt>
                <c:pt idx="679">
                  <c:v>43686</c:v>
                </c:pt>
                <c:pt idx="680">
                  <c:v>43689</c:v>
                </c:pt>
                <c:pt idx="681">
                  <c:v>43690</c:v>
                </c:pt>
                <c:pt idx="682">
                  <c:v>43691</c:v>
                </c:pt>
                <c:pt idx="683">
                  <c:v>43692</c:v>
                </c:pt>
                <c:pt idx="684">
                  <c:v>43693</c:v>
                </c:pt>
                <c:pt idx="685">
                  <c:v>43696</c:v>
                </c:pt>
                <c:pt idx="686">
                  <c:v>43697</c:v>
                </c:pt>
                <c:pt idx="687">
                  <c:v>43698</c:v>
                </c:pt>
                <c:pt idx="688">
                  <c:v>43699</c:v>
                </c:pt>
                <c:pt idx="689">
                  <c:v>43700</c:v>
                </c:pt>
                <c:pt idx="690">
                  <c:v>43703</c:v>
                </c:pt>
                <c:pt idx="691">
                  <c:v>43704</c:v>
                </c:pt>
                <c:pt idx="692">
                  <c:v>43705</c:v>
                </c:pt>
                <c:pt idx="693">
                  <c:v>43706</c:v>
                </c:pt>
                <c:pt idx="694">
                  <c:v>43707</c:v>
                </c:pt>
                <c:pt idx="695">
                  <c:v>43710</c:v>
                </c:pt>
                <c:pt idx="696">
                  <c:v>43711</c:v>
                </c:pt>
                <c:pt idx="697">
                  <c:v>43712</c:v>
                </c:pt>
                <c:pt idx="698">
                  <c:v>43713</c:v>
                </c:pt>
                <c:pt idx="699">
                  <c:v>43714</c:v>
                </c:pt>
                <c:pt idx="700">
                  <c:v>43717</c:v>
                </c:pt>
                <c:pt idx="701">
                  <c:v>43718</c:v>
                </c:pt>
                <c:pt idx="702">
                  <c:v>43719</c:v>
                </c:pt>
                <c:pt idx="703">
                  <c:v>43720</c:v>
                </c:pt>
                <c:pt idx="704">
                  <c:v>43721</c:v>
                </c:pt>
                <c:pt idx="705">
                  <c:v>43724</c:v>
                </c:pt>
                <c:pt idx="706">
                  <c:v>43725</c:v>
                </c:pt>
                <c:pt idx="707">
                  <c:v>43726</c:v>
                </c:pt>
                <c:pt idx="708">
                  <c:v>43727</c:v>
                </c:pt>
                <c:pt idx="709">
                  <c:v>43728</c:v>
                </c:pt>
                <c:pt idx="710">
                  <c:v>43731</c:v>
                </c:pt>
                <c:pt idx="711">
                  <c:v>43732</c:v>
                </c:pt>
                <c:pt idx="712">
                  <c:v>43733</c:v>
                </c:pt>
                <c:pt idx="713">
                  <c:v>43734</c:v>
                </c:pt>
                <c:pt idx="714">
                  <c:v>43735</c:v>
                </c:pt>
                <c:pt idx="715">
                  <c:v>43738</c:v>
                </c:pt>
                <c:pt idx="716">
                  <c:v>43739</c:v>
                </c:pt>
                <c:pt idx="717">
                  <c:v>43740</c:v>
                </c:pt>
                <c:pt idx="718">
                  <c:v>43741</c:v>
                </c:pt>
                <c:pt idx="719">
                  <c:v>43742</c:v>
                </c:pt>
                <c:pt idx="720">
                  <c:v>43745</c:v>
                </c:pt>
                <c:pt idx="721">
                  <c:v>43746</c:v>
                </c:pt>
                <c:pt idx="722">
                  <c:v>43747</c:v>
                </c:pt>
                <c:pt idx="723">
                  <c:v>43748</c:v>
                </c:pt>
                <c:pt idx="724">
                  <c:v>43749</c:v>
                </c:pt>
                <c:pt idx="725">
                  <c:v>43752</c:v>
                </c:pt>
                <c:pt idx="726">
                  <c:v>43753</c:v>
                </c:pt>
                <c:pt idx="727">
                  <c:v>43754</c:v>
                </c:pt>
                <c:pt idx="728">
                  <c:v>43755</c:v>
                </c:pt>
                <c:pt idx="729">
                  <c:v>43756</c:v>
                </c:pt>
                <c:pt idx="730">
                  <c:v>43759</c:v>
                </c:pt>
                <c:pt idx="731">
                  <c:v>43760</c:v>
                </c:pt>
                <c:pt idx="732">
                  <c:v>43761</c:v>
                </c:pt>
                <c:pt idx="733">
                  <c:v>43762</c:v>
                </c:pt>
                <c:pt idx="734">
                  <c:v>43763</c:v>
                </c:pt>
                <c:pt idx="735">
                  <c:v>43766</c:v>
                </c:pt>
                <c:pt idx="736">
                  <c:v>43767</c:v>
                </c:pt>
                <c:pt idx="737">
                  <c:v>43768</c:v>
                </c:pt>
                <c:pt idx="738">
                  <c:v>43769</c:v>
                </c:pt>
                <c:pt idx="739">
                  <c:v>43770</c:v>
                </c:pt>
                <c:pt idx="740">
                  <c:v>43773</c:v>
                </c:pt>
                <c:pt idx="741">
                  <c:v>43774</c:v>
                </c:pt>
                <c:pt idx="742">
                  <c:v>43775</c:v>
                </c:pt>
                <c:pt idx="743">
                  <c:v>43776</c:v>
                </c:pt>
                <c:pt idx="744">
                  <c:v>43777</c:v>
                </c:pt>
                <c:pt idx="745">
                  <c:v>43780</c:v>
                </c:pt>
                <c:pt idx="746">
                  <c:v>43781</c:v>
                </c:pt>
                <c:pt idx="747">
                  <c:v>43782</c:v>
                </c:pt>
                <c:pt idx="748">
                  <c:v>43783</c:v>
                </c:pt>
                <c:pt idx="749">
                  <c:v>43784</c:v>
                </c:pt>
                <c:pt idx="750">
                  <c:v>43787</c:v>
                </c:pt>
                <c:pt idx="751">
                  <c:v>43788</c:v>
                </c:pt>
                <c:pt idx="752">
                  <c:v>43789</c:v>
                </c:pt>
                <c:pt idx="753">
                  <c:v>43790</c:v>
                </c:pt>
                <c:pt idx="754">
                  <c:v>43791</c:v>
                </c:pt>
                <c:pt idx="755">
                  <c:v>43794</c:v>
                </c:pt>
                <c:pt idx="756">
                  <c:v>43795</c:v>
                </c:pt>
                <c:pt idx="757">
                  <c:v>43796</c:v>
                </c:pt>
                <c:pt idx="758">
                  <c:v>43797</c:v>
                </c:pt>
                <c:pt idx="759">
                  <c:v>43798</c:v>
                </c:pt>
                <c:pt idx="760">
                  <c:v>43801</c:v>
                </c:pt>
                <c:pt idx="761">
                  <c:v>43802</c:v>
                </c:pt>
                <c:pt idx="762">
                  <c:v>43803</c:v>
                </c:pt>
                <c:pt idx="763">
                  <c:v>43804</c:v>
                </c:pt>
                <c:pt idx="764">
                  <c:v>43805</c:v>
                </c:pt>
                <c:pt idx="765">
                  <c:v>43808</c:v>
                </c:pt>
                <c:pt idx="766">
                  <c:v>43809</c:v>
                </c:pt>
                <c:pt idx="767">
                  <c:v>43810</c:v>
                </c:pt>
                <c:pt idx="768">
                  <c:v>43811</c:v>
                </c:pt>
                <c:pt idx="769">
                  <c:v>43812</c:v>
                </c:pt>
                <c:pt idx="770">
                  <c:v>43815</c:v>
                </c:pt>
                <c:pt idx="771">
                  <c:v>43816</c:v>
                </c:pt>
                <c:pt idx="772">
                  <c:v>43817</c:v>
                </c:pt>
                <c:pt idx="773">
                  <c:v>43818</c:v>
                </c:pt>
                <c:pt idx="774">
                  <c:v>43819</c:v>
                </c:pt>
                <c:pt idx="775">
                  <c:v>43822</c:v>
                </c:pt>
                <c:pt idx="776">
                  <c:v>43823</c:v>
                </c:pt>
                <c:pt idx="777">
                  <c:v>43824</c:v>
                </c:pt>
                <c:pt idx="778">
                  <c:v>43825</c:v>
                </c:pt>
                <c:pt idx="779">
                  <c:v>43826</c:v>
                </c:pt>
                <c:pt idx="780">
                  <c:v>43829</c:v>
                </c:pt>
                <c:pt idx="781">
                  <c:v>43830</c:v>
                </c:pt>
                <c:pt idx="782">
                  <c:v>43831</c:v>
                </c:pt>
                <c:pt idx="783">
                  <c:v>43832</c:v>
                </c:pt>
                <c:pt idx="784">
                  <c:v>43833</c:v>
                </c:pt>
                <c:pt idx="785">
                  <c:v>43836</c:v>
                </c:pt>
                <c:pt idx="786">
                  <c:v>43837</c:v>
                </c:pt>
                <c:pt idx="787">
                  <c:v>43838</c:v>
                </c:pt>
                <c:pt idx="788">
                  <c:v>43839</c:v>
                </c:pt>
                <c:pt idx="789">
                  <c:v>43840</c:v>
                </c:pt>
                <c:pt idx="790">
                  <c:v>43843</c:v>
                </c:pt>
                <c:pt idx="791">
                  <c:v>43844</c:v>
                </c:pt>
                <c:pt idx="792">
                  <c:v>43845</c:v>
                </c:pt>
                <c:pt idx="793">
                  <c:v>43846</c:v>
                </c:pt>
                <c:pt idx="794">
                  <c:v>43847</c:v>
                </c:pt>
                <c:pt idx="795">
                  <c:v>43850</c:v>
                </c:pt>
                <c:pt idx="796">
                  <c:v>43851</c:v>
                </c:pt>
                <c:pt idx="797">
                  <c:v>43852</c:v>
                </c:pt>
                <c:pt idx="798">
                  <c:v>43853</c:v>
                </c:pt>
                <c:pt idx="799">
                  <c:v>43854</c:v>
                </c:pt>
                <c:pt idx="800">
                  <c:v>43857</c:v>
                </c:pt>
                <c:pt idx="801">
                  <c:v>43858</c:v>
                </c:pt>
                <c:pt idx="802">
                  <c:v>43859</c:v>
                </c:pt>
                <c:pt idx="803">
                  <c:v>43860</c:v>
                </c:pt>
                <c:pt idx="804">
                  <c:v>43861</c:v>
                </c:pt>
                <c:pt idx="805">
                  <c:v>43864</c:v>
                </c:pt>
                <c:pt idx="806">
                  <c:v>43865</c:v>
                </c:pt>
                <c:pt idx="807">
                  <c:v>43866</c:v>
                </c:pt>
                <c:pt idx="808">
                  <c:v>43867</c:v>
                </c:pt>
                <c:pt idx="809">
                  <c:v>43868</c:v>
                </c:pt>
                <c:pt idx="810">
                  <c:v>43871</c:v>
                </c:pt>
                <c:pt idx="811">
                  <c:v>43872</c:v>
                </c:pt>
                <c:pt idx="812">
                  <c:v>43873</c:v>
                </c:pt>
                <c:pt idx="813">
                  <c:v>43874</c:v>
                </c:pt>
                <c:pt idx="814">
                  <c:v>43875</c:v>
                </c:pt>
                <c:pt idx="815">
                  <c:v>43878</c:v>
                </c:pt>
                <c:pt idx="816">
                  <c:v>43879</c:v>
                </c:pt>
                <c:pt idx="817">
                  <c:v>43880</c:v>
                </c:pt>
                <c:pt idx="818">
                  <c:v>43881</c:v>
                </c:pt>
                <c:pt idx="819">
                  <c:v>43882</c:v>
                </c:pt>
                <c:pt idx="820">
                  <c:v>43885</c:v>
                </c:pt>
                <c:pt idx="821">
                  <c:v>43886</c:v>
                </c:pt>
                <c:pt idx="822">
                  <c:v>43887</c:v>
                </c:pt>
                <c:pt idx="823">
                  <c:v>43888</c:v>
                </c:pt>
                <c:pt idx="824">
                  <c:v>43889</c:v>
                </c:pt>
                <c:pt idx="825">
                  <c:v>43892</c:v>
                </c:pt>
                <c:pt idx="826">
                  <c:v>43893</c:v>
                </c:pt>
                <c:pt idx="827">
                  <c:v>43894</c:v>
                </c:pt>
                <c:pt idx="828">
                  <c:v>43895</c:v>
                </c:pt>
                <c:pt idx="829">
                  <c:v>43896</c:v>
                </c:pt>
                <c:pt idx="830">
                  <c:v>43899</c:v>
                </c:pt>
                <c:pt idx="831">
                  <c:v>43900</c:v>
                </c:pt>
                <c:pt idx="832">
                  <c:v>43901</c:v>
                </c:pt>
                <c:pt idx="833">
                  <c:v>43902</c:v>
                </c:pt>
                <c:pt idx="834">
                  <c:v>43903</c:v>
                </c:pt>
                <c:pt idx="835">
                  <c:v>43906</c:v>
                </c:pt>
                <c:pt idx="836">
                  <c:v>43907</c:v>
                </c:pt>
                <c:pt idx="837">
                  <c:v>43908</c:v>
                </c:pt>
                <c:pt idx="838">
                  <c:v>43909</c:v>
                </c:pt>
                <c:pt idx="839">
                  <c:v>43910</c:v>
                </c:pt>
                <c:pt idx="840">
                  <c:v>43913</c:v>
                </c:pt>
                <c:pt idx="841">
                  <c:v>43914</c:v>
                </c:pt>
                <c:pt idx="842">
                  <c:v>43915</c:v>
                </c:pt>
                <c:pt idx="843">
                  <c:v>43916</c:v>
                </c:pt>
                <c:pt idx="844">
                  <c:v>43917</c:v>
                </c:pt>
                <c:pt idx="845">
                  <c:v>43920</c:v>
                </c:pt>
                <c:pt idx="846">
                  <c:v>43921</c:v>
                </c:pt>
                <c:pt idx="847">
                  <c:v>43922</c:v>
                </c:pt>
                <c:pt idx="848">
                  <c:v>43923</c:v>
                </c:pt>
                <c:pt idx="849">
                  <c:v>43924</c:v>
                </c:pt>
                <c:pt idx="850">
                  <c:v>43927</c:v>
                </c:pt>
                <c:pt idx="851">
                  <c:v>43928</c:v>
                </c:pt>
                <c:pt idx="852">
                  <c:v>43929</c:v>
                </c:pt>
                <c:pt idx="853">
                  <c:v>43930</c:v>
                </c:pt>
                <c:pt idx="854">
                  <c:v>43931</c:v>
                </c:pt>
                <c:pt idx="855">
                  <c:v>43934</c:v>
                </c:pt>
                <c:pt idx="856">
                  <c:v>43935</c:v>
                </c:pt>
                <c:pt idx="857">
                  <c:v>43936</c:v>
                </c:pt>
                <c:pt idx="858">
                  <c:v>43937</c:v>
                </c:pt>
                <c:pt idx="859">
                  <c:v>43938</c:v>
                </c:pt>
                <c:pt idx="860">
                  <c:v>43941</c:v>
                </c:pt>
                <c:pt idx="861">
                  <c:v>43942</c:v>
                </c:pt>
                <c:pt idx="862">
                  <c:v>43943</c:v>
                </c:pt>
                <c:pt idx="863">
                  <c:v>43944</c:v>
                </c:pt>
                <c:pt idx="864">
                  <c:v>43945</c:v>
                </c:pt>
                <c:pt idx="865">
                  <c:v>43948</c:v>
                </c:pt>
                <c:pt idx="866">
                  <c:v>43949</c:v>
                </c:pt>
                <c:pt idx="867">
                  <c:v>43950</c:v>
                </c:pt>
                <c:pt idx="868">
                  <c:v>43951</c:v>
                </c:pt>
                <c:pt idx="869">
                  <c:v>43952</c:v>
                </c:pt>
                <c:pt idx="870">
                  <c:v>43955</c:v>
                </c:pt>
                <c:pt idx="871">
                  <c:v>43956</c:v>
                </c:pt>
                <c:pt idx="872">
                  <c:v>43957</c:v>
                </c:pt>
                <c:pt idx="873">
                  <c:v>43958</c:v>
                </c:pt>
                <c:pt idx="874">
                  <c:v>43959</c:v>
                </c:pt>
                <c:pt idx="875">
                  <c:v>43962</c:v>
                </c:pt>
                <c:pt idx="876">
                  <c:v>43963</c:v>
                </c:pt>
                <c:pt idx="877">
                  <c:v>43964</c:v>
                </c:pt>
                <c:pt idx="878">
                  <c:v>43965</c:v>
                </c:pt>
                <c:pt idx="879">
                  <c:v>43966</c:v>
                </c:pt>
                <c:pt idx="880">
                  <c:v>43969</c:v>
                </c:pt>
                <c:pt idx="881">
                  <c:v>43970</c:v>
                </c:pt>
                <c:pt idx="882">
                  <c:v>43971</c:v>
                </c:pt>
                <c:pt idx="883">
                  <c:v>43972</c:v>
                </c:pt>
                <c:pt idx="884">
                  <c:v>43973</c:v>
                </c:pt>
                <c:pt idx="885">
                  <c:v>43976</c:v>
                </c:pt>
                <c:pt idx="886">
                  <c:v>43977</c:v>
                </c:pt>
                <c:pt idx="887">
                  <c:v>43978</c:v>
                </c:pt>
                <c:pt idx="888">
                  <c:v>43979</c:v>
                </c:pt>
                <c:pt idx="889">
                  <c:v>43980</c:v>
                </c:pt>
                <c:pt idx="890">
                  <c:v>43983</c:v>
                </c:pt>
                <c:pt idx="891">
                  <c:v>43984</c:v>
                </c:pt>
                <c:pt idx="892">
                  <c:v>43985</c:v>
                </c:pt>
                <c:pt idx="893">
                  <c:v>43986</c:v>
                </c:pt>
                <c:pt idx="894">
                  <c:v>43987</c:v>
                </c:pt>
                <c:pt idx="895">
                  <c:v>43990</c:v>
                </c:pt>
                <c:pt idx="896">
                  <c:v>43991</c:v>
                </c:pt>
                <c:pt idx="897">
                  <c:v>43992</c:v>
                </c:pt>
                <c:pt idx="898">
                  <c:v>43993</c:v>
                </c:pt>
                <c:pt idx="899">
                  <c:v>43994</c:v>
                </c:pt>
                <c:pt idx="900">
                  <c:v>43997</c:v>
                </c:pt>
                <c:pt idx="901">
                  <c:v>43998</c:v>
                </c:pt>
                <c:pt idx="902">
                  <c:v>43999</c:v>
                </c:pt>
                <c:pt idx="903">
                  <c:v>44000</c:v>
                </c:pt>
                <c:pt idx="904">
                  <c:v>44001</c:v>
                </c:pt>
                <c:pt idx="905">
                  <c:v>44004</c:v>
                </c:pt>
                <c:pt idx="906">
                  <c:v>44005</c:v>
                </c:pt>
                <c:pt idx="907">
                  <c:v>44006</c:v>
                </c:pt>
                <c:pt idx="908">
                  <c:v>44007</c:v>
                </c:pt>
                <c:pt idx="909">
                  <c:v>44008</c:v>
                </c:pt>
                <c:pt idx="910">
                  <c:v>44011</c:v>
                </c:pt>
                <c:pt idx="911">
                  <c:v>44012</c:v>
                </c:pt>
                <c:pt idx="912">
                  <c:v>44013</c:v>
                </c:pt>
                <c:pt idx="913">
                  <c:v>44014</c:v>
                </c:pt>
                <c:pt idx="914">
                  <c:v>44015</c:v>
                </c:pt>
                <c:pt idx="915">
                  <c:v>44018</c:v>
                </c:pt>
                <c:pt idx="916">
                  <c:v>44019</c:v>
                </c:pt>
                <c:pt idx="917">
                  <c:v>44020</c:v>
                </c:pt>
                <c:pt idx="918">
                  <c:v>44021</c:v>
                </c:pt>
                <c:pt idx="919">
                  <c:v>44022</c:v>
                </c:pt>
                <c:pt idx="920">
                  <c:v>44025</c:v>
                </c:pt>
                <c:pt idx="921">
                  <c:v>44026</c:v>
                </c:pt>
                <c:pt idx="922">
                  <c:v>44027</c:v>
                </c:pt>
                <c:pt idx="923">
                  <c:v>44028</c:v>
                </c:pt>
                <c:pt idx="924">
                  <c:v>44029</c:v>
                </c:pt>
                <c:pt idx="925">
                  <c:v>44032</c:v>
                </c:pt>
                <c:pt idx="926">
                  <c:v>44033</c:v>
                </c:pt>
                <c:pt idx="927">
                  <c:v>44034</c:v>
                </c:pt>
                <c:pt idx="928">
                  <c:v>44035</c:v>
                </c:pt>
                <c:pt idx="929">
                  <c:v>44036</c:v>
                </c:pt>
                <c:pt idx="930">
                  <c:v>44039</c:v>
                </c:pt>
                <c:pt idx="931">
                  <c:v>44040</c:v>
                </c:pt>
                <c:pt idx="932">
                  <c:v>44041</c:v>
                </c:pt>
                <c:pt idx="933">
                  <c:v>44042</c:v>
                </c:pt>
                <c:pt idx="934">
                  <c:v>44043</c:v>
                </c:pt>
                <c:pt idx="935">
                  <c:v>44046</c:v>
                </c:pt>
                <c:pt idx="936">
                  <c:v>44047</c:v>
                </c:pt>
                <c:pt idx="937">
                  <c:v>44048</c:v>
                </c:pt>
                <c:pt idx="938">
                  <c:v>44049</c:v>
                </c:pt>
                <c:pt idx="939">
                  <c:v>44050</c:v>
                </c:pt>
                <c:pt idx="940">
                  <c:v>44053</c:v>
                </c:pt>
                <c:pt idx="941">
                  <c:v>44054</c:v>
                </c:pt>
                <c:pt idx="942">
                  <c:v>44055</c:v>
                </c:pt>
                <c:pt idx="943">
                  <c:v>44056</c:v>
                </c:pt>
                <c:pt idx="944">
                  <c:v>44057</c:v>
                </c:pt>
                <c:pt idx="945">
                  <c:v>44060</c:v>
                </c:pt>
                <c:pt idx="946">
                  <c:v>44061</c:v>
                </c:pt>
                <c:pt idx="947">
                  <c:v>44062</c:v>
                </c:pt>
                <c:pt idx="948">
                  <c:v>44063</c:v>
                </c:pt>
                <c:pt idx="949">
                  <c:v>44064</c:v>
                </c:pt>
                <c:pt idx="950">
                  <c:v>44067</c:v>
                </c:pt>
                <c:pt idx="951">
                  <c:v>44068</c:v>
                </c:pt>
                <c:pt idx="952">
                  <c:v>44069</c:v>
                </c:pt>
                <c:pt idx="953">
                  <c:v>44070</c:v>
                </c:pt>
                <c:pt idx="954">
                  <c:v>44071</c:v>
                </c:pt>
                <c:pt idx="955">
                  <c:v>44074</c:v>
                </c:pt>
                <c:pt idx="956">
                  <c:v>44075</c:v>
                </c:pt>
                <c:pt idx="957">
                  <c:v>44076</c:v>
                </c:pt>
                <c:pt idx="958">
                  <c:v>44077</c:v>
                </c:pt>
                <c:pt idx="959">
                  <c:v>44078</c:v>
                </c:pt>
                <c:pt idx="960">
                  <c:v>44081</c:v>
                </c:pt>
                <c:pt idx="961">
                  <c:v>44082</c:v>
                </c:pt>
                <c:pt idx="962">
                  <c:v>44083</c:v>
                </c:pt>
                <c:pt idx="963">
                  <c:v>44084</c:v>
                </c:pt>
                <c:pt idx="964">
                  <c:v>44085</c:v>
                </c:pt>
                <c:pt idx="965">
                  <c:v>44088</c:v>
                </c:pt>
                <c:pt idx="966">
                  <c:v>44089</c:v>
                </c:pt>
                <c:pt idx="967">
                  <c:v>44090</c:v>
                </c:pt>
                <c:pt idx="968">
                  <c:v>44091</c:v>
                </c:pt>
                <c:pt idx="969">
                  <c:v>44092</c:v>
                </c:pt>
                <c:pt idx="970">
                  <c:v>44095</c:v>
                </c:pt>
                <c:pt idx="971">
                  <c:v>44096</c:v>
                </c:pt>
                <c:pt idx="972">
                  <c:v>44097</c:v>
                </c:pt>
                <c:pt idx="973">
                  <c:v>44098</c:v>
                </c:pt>
                <c:pt idx="974">
                  <c:v>44099</c:v>
                </c:pt>
                <c:pt idx="975">
                  <c:v>44102</c:v>
                </c:pt>
                <c:pt idx="976">
                  <c:v>44103</c:v>
                </c:pt>
                <c:pt idx="977">
                  <c:v>44104</c:v>
                </c:pt>
                <c:pt idx="978">
                  <c:v>44105</c:v>
                </c:pt>
                <c:pt idx="979">
                  <c:v>44106</c:v>
                </c:pt>
                <c:pt idx="980">
                  <c:v>44109</c:v>
                </c:pt>
                <c:pt idx="981">
                  <c:v>44110</c:v>
                </c:pt>
                <c:pt idx="982">
                  <c:v>44111</c:v>
                </c:pt>
                <c:pt idx="983">
                  <c:v>44112</c:v>
                </c:pt>
                <c:pt idx="984">
                  <c:v>44113</c:v>
                </c:pt>
                <c:pt idx="985">
                  <c:v>44116</c:v>
                </c:pt>
                <c:pt idx="986">
                  <c:v>44117</c:v>
                </c:pt>
                <c:pt idx="987">
                  <c:v>44118</c:v>
                </c:pt>
                <c:pt idx="988">
                  <c:v>44119</c:v>
                </c:pt>
                <c:pt idx="989">
                  <c:v>44120</c:v>
                </c:pt>
                <c:pt idx="990">
                  <c:v>44123</c:v>
                </c:pt>
                <c:pt idx="991">
                  <c:v>44124</c:v>
                </c:pt>
                <c:pt idx="992">
                  <c:v>44125</c:v>
                </c:pt>
                <c:pt idx="993">
                  <c:v>44126</c:v>
                </c:pt>
                <c:pt idx="994">
                  <c:v>44127</c:v>
                </c:pt>
                <c:pt idx="995">
                  <c:v>44130</c:v>
                </c:pt>
                <c:pt idx="996">
                  <c:v>44131</c:v>
                </c:pt>
                <c:pt idx="997">
                  <c:v>44132</c:v>
                </c:pt>
                <c:pt idx="998">
                  <c:v>44133</c:v>
                </c:pt>
                <c:pt idx="999">
                  <c:v>44134</c:v>
                </c:pt>
                <c:pt idx="1000">
                  <c:v>44137</c:v>
                </c:pt>
                <c:pt idx="1001">
                  <c:v>44138</c:v>
                </c:pt>
                <c:pt idx="1002">
                  <c:v>44139</c:v>
                </c:pt>
                <c:pt idx="1003">
                  <c:v>44140</c:v>
                </c:pt>
                <c:pt idx="1004">
                  <c:v>44141</c:v>
                </c:pt>
                <c:pt idx="1005">
                  <c:v>44144</c:v>
                </c:pt>
                <c:pt idx="1006">
                  <c:v>44145</c:v>
                </c:pt>
                <c:pt idx="1007">
                  <c:v>44146</c:v>
                </c:pt>
                <c:pt idx="1008">
                  <c:v>44147</c:v>
                </c:pt>
                <c:pt idx="1009">
                  <c:v>44148</c:v>
                </c:pt>
                <c:pt idx="1010">
                  <c:v>44151</c:v>
                </c:pt>
                <c:pt idx="1011">
                  <c:v>44152</c:v>
                </c:pt>
                <c:pt idx="1012">
                  <c:v>44153</c:v>
                </c:pt>
                <c:pt idx="1013">
                  <c:v>44154</c:v>
                </c:pt>
                <c:pt idx="1014">
                  <c:v>44155</c:v>
                </c:pt>
                <c:pt idx="1015">
                  <c:v>44158</c:v>
                </c:pt>
                <c:pt idx="1016">
                  <c:v>44159</c:v>
                </c:pt>
                <c:pt idx="1017">
                  <c:v>44160</c:v>
                </c:pt>
                <c:pt idx="1018">
                  <c:v>44161</c:v>
                </c:pt>
                <c:pt idx="1019">
                  <c:v>44162</c:v>
                </c:pt>
                <c:pt idx="1020">
                  <c:v>44165</c:v>
                </c:pt>
                <c:pt idx="1021">
                  <c:v>44166</c:v>
                </c:pt>
                <c:pt idx="1022">
                  <c:v>44167</c:v>
                </c:pt>
                <c:pt idx="1023">
                  <c:v>44168</c:v>
                </c:pt>
                <c:pt idx="1024">
                  <c:v>44169</c:v>
                </c:pt>
                <c:pt idx="1025">
                  <c:v>44172</c:v>
                </c:pt>
                <c:pt idx="1026">
                  <c:v>44173</c:v>
                </c:pt>
                <c:pt idx="1027">
                  <c:v>44174</c:v>
                </c:pt>
                <c:pt idx="1028">
                  <c:v>44175</c:v>
                </c:pt>
                <c:pt idx="1029">
                  <c:v>44176</c:v>
                </c:pt>
                <c:pt idx="1030">
                  <c:v>44179</c:v>
                </c:pt>
                <c:pt idx="1031">
                  <c:v>44180</c:v>
                </c:pt>
                <c:pt idx="1032">
                  <c:v>44181</c:v>
                </c:pt>
                <c:pt idx="1033">
                  <c:v>44182</c:v>
                </c:pt>
                <c:pt idx="1034">
                  <c:v>44183</c:v>
                </c:pt>
                <c:pt idx="1035">
                  <c:v>44186</c:v>
                </c:pt>
                <c:pt idx="1036">
                  <c:v>44187</c:v>
                </c:pt>
                <c:pt idx="1037">
                  <c:v>44188</c:v>
                </c:pt>
                <c:pt idx="1038">
                  <c:v>44189</c:v>
                </c:pt>
                <c:pt idx="1039">
                  <c:v>44190</c:v>
                </c:pt>
                <c:pt idx="1040">
                  <c:v>44193</c:v>
                </c:pt>
                <c:pt idx="1041">
                  <c:v>44194</c:v>
                </c:pt>
                <c:pt idx="1042">
                  <c:v>44195</c:v>
                </c:pt>
                <c:pt idx="1043">
                  <c:v>44196</c:v>
                </c:pt>
                <c:pt idx="1044">
                  <c:v>44197</c:v>
                </c:pt>
                <c:pt idx="1045">
                  <c:v>44200</c:v>
                </c:pt>
                <c:pt idx="1046">
                  <c:v>44201</c:v>
                </c:pt>
                <c:pt idx="1047">
                  <c:v>44202</c:v>
                </c:pt>
                <c:pt idx="1048">
                  <c:v>44203</c:v>
                </c:pt>
                <c:pt idx="1049">
                  <c:v>44204</c:v>
                </c:pt>
                <c:pt idx="1050">
                  <c:v>44207</c:v>
                </c:pt>
                <c:pt idx="1051">
                  <c:v>44208</c:v>
                </c:pt>
                <c:pt idx="1052">
                  <c:v>44209</c:v>
                </c:pt>
                <c:pt idx="1053">
                  <c:v>44210</c:v>
                </c:pt>
                <c:pt idx="1054">
                  <c:v>44211</c:v>
                </c:pt>
                <c:pt idx="1055">
                  <c:v>44214</c:v>
                </c:pt>
                <c:pt idx="1056">
                  <c:v>44215</c:v>
                </c:pt>
                <c:pt idx="1057">
                  <c:v>44216</c:v>
                </c:pt>
                <c:pt idx="1058">
                  <c:v>44217</c:v>
                </c:pt>
                <c:pt idx="1059">
                  <c:v>44218</c:v>
                </c:pt>
                <c:pt idx="1060">
                  <c:v>44221</c:v>
                </c:pt>
                <c:pt idx="1061">
                  <c:v>44222</c:v>
                </c:pt>
                <c:pt idx="1062">
                  <c:v>44223</c:v>
                </c:pt>
                <c:pt idx="1063">
                  <c:v>44224</c:v>
                </c:pt>
                <c:pt idx="1064">
                  <c:v>44225</c:v>
                </c:pt>
                <c:pt idx="1065">
                  <c:v>44228</c:v>
                </c:pt>
                <c:pt idx="1066">
                  <c:v>44229</c:v>
                </c:pt>
                <c:pt idx="1067">
                  <c:v>44230</c:v>
                </c:pt>
                <c:pt idx="1068">
                  <c:v>44231</c:v>
                </c:pt>
                <c:pt idx="1069">
                  <c:v>44232</c:v>
                </c:pt>
                <c:pt idx="1070">
                  <c:v>44235</c:v>
                </c:pt>
                <c:pt idx="1071">
                  <c:v>44236</c:v>
                </c:pt>
                <c:pt idx="1072">
                  <c:v>44237</c:v>
                </c:pt>
                <c:pt idx="1073">
                  <c:v>44238</c:v>
                </c:pt>
                <c:pt idx="1074">
                  <c:v>44239</c:v>
                </c:pt>
                <c:pt idx="1075">
                  <c:v>44242</c:v>
                </c:pt>
                <c:pt idx="1076">
                  <c:v>44243</c:v>
                </c:pt>
                <c:pt idx="1077">
                  <c:v>44244</c:v>
                </c:pt>
                <c:pt idx="1078">
                  <c:v>44245</c:v>
                </c:pt>
                <c:pt idx="1079">
                  <c:v>44246</c:v>
                </c:pt>
                <c:pt idx="1080">
                  <c:v>44249</c:v>
                </c:pt>
                <c:pt idx="1081">
                  <c:v>44250</c:v>
                </c:pt>
                <c:pt idx="1082">
                  <c:v>44251</c:v>
                </c:pt>
                <c:pt idx="1083">
                  <c:v>44252</c:v>
                </c:pt>
                <c:pt idx="1084">
                  <c:v>44253</c:v>
                </c:pt>
                <c:pt idx="1085">
                  <c:v>44256</c:v>
                </c:pt>
                <c:pt idx="1086">
                  <c:v>44257</c:v>
                </c:pt>
                <c:pt idx="1087">
                  <c:v>44258</c:v>
                </c:pt>
                <c:pt idx="1088">
                  <c:v>44259</c:v>
                </c:pt>
                <c:pt idx="1089">
                  <c:v>44260</c:v>
                </c:pt>
                <c:pt idx="1090">
                  <c:v>44263</c:v>
                </c:pt>
                <c:pt idx="1091">
                  <c:v>44264</c:v>
                </c:pt>
                <c:pt idx="1092">
                  <c:v>44265</c:v>
                </c:pt>
                <c:pt idx="1093">
                  <c:v>44266</c:v>
                </c:pt>
                <c:pt idx="1094">
                  <c:v>44267</c:v>
                </c:pt>
                <c:pt idx="1095">
                  <c:v>44270</c:v>
                </c:pt>
                <c:pt idx="1096">
                  <c:v>44271</c:v>
                </c:pt>
                <c:pt idx="1097">
                  <c:v>44272</c:v>
                </c:pt>
                <c:pt idx="1098">
                  <c:v>44273</c:v>
                </c:pt>
                <c:pt idx="1099">
                  <c:v>44274</c:v>
                </c:pt>
                <c:pt idx="1100">
                  <c:v>44277</c:v>
                </c:pt>
                <c:pt idx="1101">
                  <c:v>44278</c:v>
                </c:pt>
                <c:pt idx="1102">
                  <c:v>44279</c:v>
                </c:pt>
                <c:pt idx="1103">
                  <c:v>44280</c:v>
                </c:pt>
                <c:pt idx="1104">
                  <c:v>44281</c:v>
                </c:pt>
                <c:pt idx="1105">
                  <c:v>44284</c:v>
                </c:pt>
                <c:pt idx="1106">
                  <c:v>44285</c:v>
                </c:pt>
                <c:pt idx="1107">
                  <c:v>44286</c:v>
                </c:pt>
                <c:pt idx="1108">
                  <c:v>44287</c:v>
                </c:pt>
                <c:pt idx="1109">
                  <c:v>44288</c:v>
                </c:pt>
                <c:pt idx="1110">
                  <c:v>44291</c:v>
                </c:pt>
                <c:pt idx="1111">
                  <c:v>44292</c:v>
                </c:pt>
                <c:pt idx="1112">
                  <c:v>44293</c:v>
                </c:pt>
                <c:pt idx="1113">
                  <c:v>44294</c:v>
                </c:pt>
                <c:pt idx="1114">
                  <c:v>44295</c:v>
                </c:pt>
                <c:pt idx="1115">
                  <c:v>44298</c:v>
                </c:pt>
                <c:pt idx="1116">
                  <c:v>44299</c:v>
                </c:pt>
                <c:pt idx="1117">
                  <c:v>44300</c:v>
                </c:pt>
                <c:pt idx="1118">
                  <c:v>44301</c:v>
                </c:pt>
                <c:pt idx="1119">
                  <c:v>44302</c:v>
                </c:pt>
                <c:pt idx="1120">
                  <c:v>44305</c:v>
                </c:pt>
                <c:pt idx="1121">
                  <c:v>44306</c:v>
                </c:pt>
                <c:pt idx="1122">
                  <c:v>44307</c:v>
                </c:pt>
                <c:pt idx="1123">
                  <c:v>44308</c:v>
                </c:pt>
                <c:pt idx="1124">
                  <c:v>44309</c:v>
                </c:pt>
                <c:pt idx="1125">
                  <c:v>44312</c:v>
                </c:pt>
                <c:pt idx="1126">
                  <c:v>44313</c:v>
                </c:pt>
                <c:pt idx="1127">
                  <c:v>44314</c:v>
                </c:pt>
                <c:pt idx="1128">
                  <c:v>44315</c:v>
                </c:pt>
                <c:pt idx="1129">
                  <c:v>44316</c:v>
                </c:pt>
                <c:pt idx="1130">
                  <c:v>44319</c:v>
                </c:pt>
                <c:pt idx="1131">
                  <c:v>44320</c:v>
                </c:pt>
                <c:pt idx="1132">
                  <c:v>44321</c:v>
                </c:pt>
                <c:pt idx="1133">
                  <c:v>44322</c:v>
                </c:pt>
                <c:pt idx="1134">
                  <c:v>44323</c:v>
                </c:pt>
                <c:pt idx="1135">
                  <c:v>44326</c:v>
                </c:pt>
                <c:pt idx="1136">
                  <c:v>44327</c:v>
                </c:pt>
                <c:pt idx="1137">
                  <c:v>44328</c:v>
                </c:pt>
                <c:pt idx="1138">
                  <c:v>44329</c:v>
                </c:pt>
                <c:pt idx="1139">
                  <c:v>44330</c:v>
                </c:pt>
                <c:pt idx="1140">
                  <c:v>44333</c:v>
                </c:pt>
                <c:pt idx="1141">
                  <c:v>44334</c:v>
                </c:pt>
                <c:pt idx="1142">
                  <c:v>44335</c:v>
                </c:pt>
                <c:pt idx="1143">
                  <c:v>44336</c:v>
                </c:pt>
                <c:pt idx="1144">
                  <c:v>44337</c:v>
                </c:pt>
                <c:pt idx="1145">
                  <c:v>44340</c:v>
                </c:pt>
                <c:pt idx="1146">
                  <c:v>44341</c:v>
                </c:pt>
                <c:pt idx="1147">
                  <c:v>44342</c:v>
                </c:pt>
                <c:pt idx="1148">
                  <c:v>44343</c:v>
                </c:pt>
                <c:pt idx="1149">
                  <c:v>44344</c:v>
                </c:pt>
                <c:pt idx="1150">
                  <c:v>44347</c:v>
                </c:pt>
                <c:pt idx="1151">
                  <c:v>44348</c:v>
                </c:pt>
                <c:pt idx="1152">
                  <c:v>44349</c:v>
                </c:pt>
                <c:pt idx="1153">
                  <c:v>44350</c:v>
                </c:pt>
                <c:pt idx="1154">
                  <c:v>44351</c:v>
                </c:pt>
                <c:pt idx="1155">
                  <c:v>44354</c:v>
                </c:pt>
                <c:pt idx="1156">
                  <c:v>44355</c:v>
                </c:pt>
                <c:pt idx="1157">
                  <c:v>44356</c:v>
                </c:pt>
                <c:pt idx="1158">
                  <c:v>44357</c:v>
                </c:pt>
                <c:pt idx="1159">
                  <c:v>44358</c:v>
                </c:pt>
                <c:pt idx="1160">
                  <c:v>44361</c:v>
                </c:pt>
                <c:pt idx="1161">
                  <c:v>44362</c:v>
                </c:pt>
                <c:pt idx="1162">
                  <c:v>44363</c:v>
                </c:pt>
                <c:pt idx="1163">
                  <c:v>44364</c:v>
                </c:pt>
                <c:pt idx="1164">
                  <c:v>44365</c:v>
                </c:pt>
                <c:pt idx="1165">
                  <c:v>44368</c:v>
                </c:pt>
                <c:pt idx="1166">
                  <c:v>44369</c:v>
                </c:pt>
                <c:pt idx="1167">
                  <c:v>44370</c:v>
                </c:pt>
                <c:pt idx="1168">
                  <c:v>44371</c:v>
                </c:pt>
                <c:pt idx="1169">
                  <c:v>44372</c:v>
                </c:pt>
                <c:pt idx="1170">
                  <c:v>44375</c:v>
                </c:pt>
                <c:pt idx="1171">
                  <c:v>44376</c:v>
                </c:pt>
                <c:pt idx="1172">
                  <c:v>44377</c:v>
                </c:pt>
                <c:pt idx="1173">
                  <c:v>44378</c:v>
                </c:pt>
                <c:pt idx="1174">
                  <c:v>44379</c:v>
                </c:pt>
                <c:pt idx="1175">
                  <c:v>44382</c:v>
                </c:pt>
                <c:pt idx="1176">
                  <c:v>44383</c:v>
                </c:pt>
                <c:pt idx="1177">
                  <c:v>44384</c:v>
                </c:pt>
                <c:pt idx="1178">
                  <c:v>44385</c:v>
                </c:pt>
                <c:pt idx="1179">
                  <c:v>44386</c:v>
                </c:pt>
                <c:pt idx="1180">
                  <c:v>44389</c:v>
                </c:pt>
                <c:pt idx="1181">
                  <c:v>44390</c:v>
                </c:pt>
                <c:pt idx="1182">
                  <c:v>44391</c:v>
                </c:pt>
                <c:pt idx="1183">
                  <c:v>44392</c:v>
                </c:pt>
                <c:pt idx="1184">
                  <c:v>44393</c:v>
                </c:pt>
                <c:pt idx="1185">
                  <c:v>44396</c:v>
                </c:pt>
                <c:pt idx="1186">
                  <c:v>44397</c:v>
                </c:pt>
                <c:pt idx="1187">
                  <c:v>44398</c:v>
                </c:pt>
                <c:pt idx="1188">
                  <c:v>44399</c:v>
                </c:pt>
                <c:pt idx="1189">
                  <c:v>44400</c:v>
                </c:pt>
                <c:pt idx="1190">
                  <c:v>44403</c:v>
                </c:pt>
                <c:pt idx="1191">
                  <c:v>44404</c:v>
                </c:pt>
                <c:pt idx="1192">
                  <c:v>44405</c:v>
                </c:pt>
                <c:pt idx="1193">
                  <c:v>44406</c:v>
                </c:pt>
                <c:pt idx="1194">
                  <c:v>44407</c:v>
                </c:pt>
                <c:pt idx="1195">
                  <c:v>44410</c:v>
                </c:pt>
                <c:pt idx="1196">
                  <c:v>44411</c:v>
                </c:pt>
                <c:pt idx="1197">
                  <c:v>44412</c:v>
                </c:pt>
                <c:pt idx="1198">
                  <c:v>44413</c:v>
                </c:pt>
                <c:pt idx="1199">
                  <c:v>44414</c:v>
                </c:pt>
                <c:pt idx="1200">
                  <c:v>44417</c:v>
                </c:pt>
                <c:pt idx="1201">
                  <c:v>44418</c:v>
                </c:pt>
                <c:pt idx="1202">
                  <c:v>44419</c:v>
                </c:pt>
                <c:pt idx="1203">
                  <c:v>44420</c:v>
                </c:pt>
                <c:pt idx="1204">
                  <c:v>44421</c:v>
                </c:pt>
                <c:pt idx="1205">
                  <c:v>44424</c:v>
                </c:pt>
                <c:pt idx="1206">
                  <c:v>44425</c:v>
                </c:pt>
                <c:pt idx="1207">
                  <c:v>44426</c:v>
                </c:pt>
                <c:pt idx="1208">
                  <c:v>44427</c:v>
                </c:pt>
                <c:pt idx="1209">
                  <c:v>44428</c:v>
                </c:pt>
                <c:pt idx="1210">
                  <c:v>44431</c:v>
                </c:pt>
                <c:pt idx="1211">
                  <c:v>44432</c:v>
                </c:pt>
                <c:pt idx="1212">
                  <c:v>44433</c:v>
                </c:pt>
                <c:pt idx="1213">
                  <c:v>44434</c:v>
                </c:pt>
                <c:pt idx="1214">
                  <c:v>44435</c:v>
                </c:pt>
                <c:pt idx="1215">
                  <c:v>44438</c:v>
                </c:pt>
                <c:pt idx="1216">
                  <c:v>44439</c:v>
                </c:pt>
                <c:pt idx="1217">
                  <c:v>44440</c:v>
                </c:pt>
                <c:pt idx="1218">
                  <c:v>44441</c:v>
                </c:pt>
                <c:pt idx="1219">
                  <c:v>44442</c:v>
                </c:pt>
                <c:pt idx="1220">
                  <c:v>44445</c:v>
                </c:pt>
                <c:pt idx="1221">
                  <c:v>44446</c:v>
                </c:pt>
                <c:pt idx="1222">
                  <c:v>44447</c:v>
                </c:pt>
                <c:pt idx="1223">
                  <c:v>44448</c:v>
                </c:pt>
                <c:pt idx="1224">
                  <c:v>44449</c:v>
                </c:pt>
                <c:pt idx="1225">
                  <c:v>44452</c:v>
                </c:pt>
                <c:pt idx="1226">
                  <c:v>44453</c:v>
                </c:pt>
                <c:pt idx="1227">
                  <c:v>44454</c:v>
                </c:pt>
                <c:pt idx="1228">
                  <c:v>44455</c:v>
                </c:pt>
                <c:pt idx="1229">
                  <c:v>44456</c:v>
                </c:pt>
                <c:pt idx="1230">
                  <c:v>44459</c:v>
                </c:pt>
                <c:pt idx="1231">
                  <c:v>44460</c:v>
                </c:pt>
                <c:pt idx="1232">
                  <c:v>44461</c:v>
                </c:pt>
                <c:pt idx="1233">
                  <c:v>44462</c:v>
                </c:pt>
                <c:pt idx="1234">
                  <c:v>44463</c:v>
                </c:pt>
                <c:pt idx="1235">
                  <c:v>44466</c:v>
                </c:pt>
                <c:pt idx="1236">
                  <c:v>44467</c:v>
                </c:pt>
                <c:pt idx="1237">
                  <c:v>44468</c:v>
                </c:pt>
                <c:pt idx="1238">
                  <c:v>44469</c:v>
                </c:pt>
                <c:pt idx="1239">
                  <c:v>44470</c:v>
                </c:pt>
                <c:pt idx="1240">
                  <c:v>44473</c:v>
                </c:pt>
                <c:pt idx="1241">
                  <c:v>44474</c:v>
                </c:pt>
                <c:pt idx="1242">
                  <c:v>44475</c:v>
                </c:pt>
                <c:pt idx="1243">
                  <c:v>44476</c:v>
                </c:pt>
                <c:pt idx="1244">
                  <c:v>44477</c:v>
                </c:pt>
                <c:pt idx="1245">
                  <c:v>44480</c:v>
                </c:pt>
                <c:pt idx="1246">
                  <c:v>44481</c:v>
                </c:pt>
                <c:pt idx="1247">
                  <c:v>44482</c:v>
                </c:pt>
                <c:pt idx="1248">
                  <c:v>44483</c:v>
                </c:pt>
                <c:pt idx="1249">
                  <c:v>44484</c:v>
                </c:pt>
                <c:pt idx="1250">
                  <c:v>44487</c:v>
                </c:pt>
                <c:pt idx="1251">
                  <c:v>44488</c:v>
                </c:pt>
                <c:pt idx="1252">
                  <c:v>44489</c:v>
                </c:pt>
                <c:pt idx="1253">
                  <c:v>44490</c:v>
                </c:pt>
                <c:pt idx="1254">
                  <c:v>44491</c:v>
                </c:pt>
                <c:pt idx="1255">
                  <c:v>44494</c:v>
                </c:pt>
                <c:pt idx="1256">
                  <c:v>44495</c:v>
                </c:pt>
                <c:pt idx="1257">
                  <c:v>44496</c:v>
                </c:pt>
                <c:pt idx="1258">
                  <c:v>44497</c:v>
                </c:pt>
                <c:pt idx="1259">
                  <c:v>44498</c:v>
                </c:pt>
                <c:pt idx="1260">
                  <c:v>44501</c:v>
                </c:pt>
                <c:pt idx="1261">
                  <c:v>44502</c:v>
                </c:pt>
                <c:pt idx="1262">
                  <c:v>44503</c:v>
                </c:pt>
                <c:pt idx="1263">
                  <c:v>44504</c:v>
                </c:pt>
                <c:pt idx="1264">
                  <c:v>44505</c:v>
                </c:pt>
                <c:pt idx="1265">
                  <c:v>44508</c:v>
                </c:pt>
                <c:pt idx="1266">
                  <c:v>44509</c:v>
                </c:pt>
                <c:pt idx="1267">
                  <c:v>44510</c:v>
                </c:pt>
                <c:pt idx="1268">
                  <c:v>44511</c:v>
                </c:pt>
                <c:pt idx="1269">
                  <c:v>44512</c:v>
                </c:pt>
                <c:pt idx="1270">
                  <c:v>44515</c:v>
                </c:pt>
                <c:pt idx="1271">
                  <c:v>44516</c:v>
                </c:pt>
                <c:pt idx="1272">
                  <c:v>44517</c:v>
                </c:pt>
                <c:pt idx="1273">
                  <c:v>44518</c:v>
                </c:pt>
                <c:pt idx="1274">
                  <c:v>44519</c:v>
                </c:pt>
                <c:pt idx="1275">
                  <c:v>44522</c:v>
                </c:pt>
                <c:pt idx="1276">
                  <c:v>44523</c:v>
                </c:pt>
                <c:pt idx="1277">
                  <c:v>44524</c:v>
                </c:pt>
                <c:pt idx="1278">
                  <c:v>44525</c:v>
                </c:pt>
                <c:pt idx="1279">
                  <c:v>44526</c:v>
                </c:pt>
                <c:pt idx="1280">
                  <c:v>44529</c:v>
                </c:pt>
                <c:pt idx="1281">
                  <c:v>44530</c:v>
                </c:pt>
                <c:pt idx="1282">
                  <c:v>44531</c:v>
                </c:pt>
                <c:pt idx="1283">
                  <c:v>44532</c:v>
                </c:pt>
                <c:pt idx="1284">
                  <c:v>44533</c:v>
                </c:pt>
                <c:pt idx="1285">
                  <c:v>44536</c:v>
                </c:pt>
                <c:pt idx="1286">
                  <c:v>44537</c:v>
                </c:pt>
                <c:pt idx="1287">
                  <c:v>44538</c:v>
                </c:pt>
                <c:pt idx="1288">
                  <c:v>44539</c:v>
                </c:pt>
                <c:pt idx="1289">
                  <c:v>44540</c:v>
                </c:pt>
                <c:pt idx="1290">
                  <c:v>44543</c:v>
                </c:pt>
                <c:pt idx="1291">
                  <c:v>44544</c:v>
                </c:pt>
                <c:pt idx="1292">
                  <c:v>44545</c:v>
                </c:pt>
                <c:pt idx="1293">
                  <c:v>44546</c:v>
                </c:pt>
                <c:pt idx="1294">
                  <c:v>44547</c:v>
                </c:pt>
                <c:pt idx="1295">
                  <c:v>44550</c:v>
                </c:pt>
                <c:pt idx="1296">
                  <c:v>44551</c:v>
                </c:pt>
                <c:pt idx="1297">
                  <c:v>44552</c:v>
                </c:pt>
                <c:pt idx="1298">
                  <c:v>44553</c:v>
                </c:pt>
                <c:pt idx="1299">
                  <c:v>44554</c:v>
                </c:pt>
                <c:pt idx="1300">
                  <c:v>44557</c:v>
                </c:pt>
                <c:pt idx="1301">
                  <c:v>44558</c:v>
                </c:pt>
                <c:pt idx="1302">
                  <c:v>44559</c:v>
                </c:pt>
                <c:pt idx="1303">
                  <c:v>44560</c:v>
                </c:pt>
                <c:pt idx="1304">
                  <c:v>44561</c:v>
                </c:pt>
                <c:pt idx="1305">
                  <c:v>44564</c:v>
                </c:pt>
                <c:pt idx="1306">
                  <c:v>44565</c:v>
                </c:pt>
                <c:pt idx="1307">
                  <c:v>44566</c:v>
                </c:pt>
                <c:pt idx="1308">
                  <c:v>44567</c:v>
                </c:pt>
                <c:pt idx="1309">
                  <c:v>44568</c:v>
                </c:pt>
                <c:pt idx="1310">
                  <c:v>44571</c:v>
                </c:pt>
                <c:pt idx="1311">
                  <c:v>44572</c:v>
                </c:pt>
                <c:pt idx="1312">
                  <c:v>44573</c:v>
                </c:pt>
                <c:pt idx="1313">
                  <c:v>44574</c:v>
                </c:pt>
                <c:pt idx="1314">
                  <c:v>44575</c:v>
                </c:pt>
                <c:pt idx="1315">
                  <c:v>44578</c:v>
                </c:pt>
                <c:pt idx="1316">
                  <c:v>44579</c:v>
                </c:pt>
                <c:pt idx="1317">
                  <c:v>44580</c:v>
                </c:pt>
                <c:pt idx="1318">
                  <c:v>44581</c:v>
                </c:pt>
                <c:pt idx="1319">
                  <c:v>44582</c:v>
                </c:pt>
                <c:pt idx="1320">
                  <c:v>44585</c:v>
                </c:pt>
                <c:pt idx="1321">
                  <c:v>44586</c:v>
                </c:pt>
                <c:pt idx="1322">
                  <c:v>44587</c:v>
                </c:pt>
                <c:pt idx="1323">
                  <c:v>44588</c:v>
                </c:pt>
                <c:pt idx="1324">
                  <c:v>44589</c:v>
                </c:pt>
                <c:pt idx="1325">
                  <c:v>44592</c:v>
                </c:pt>
                <c:pt idx="1326">
                  <c:v>44593</c:v>
                </c:pt>
                <c:pt idx="1327">
                  <c:v>44594</c:v>
                </c:pt>
                <c:pt idx="1328">
                  <c:v>44595</c:v>
                </c:pt>
                <c:pt idx="1329">
                  <c:v>44596</c:v>
                </c:pt>
                <c:pt idx="1330">
                  <c:v>44599</c:v>
                </c:pt>
                <c:pt idx="1331">
                  <c:v>44600</c:v>
                </c:pt>
                <c:pt idx="1332">
                  <c:v>44601</c:v>
                </c:pt>
                <c:pt idx="1333">
                  <c:v>44602</c:v>
                </c:pt>
                <c:pt idx="1334">
                  <c:v>44603</c:v>
                </c:pt>
                <c:pt idx="1335">
                  <c:v>44606</c:v>
                </c:pt>
                <c:pt idx="1336">
                  <c:v>44607</c:v>
                </c:pt>
                <c:pt idx="1337">
                  <c:v>44608</c:v>
                </c:pt>
                <c:pt idx="1338">
                  <c:v>44609</c:v>
                </c:pt>
                <c:pt idx="1339">
                  <c:v>44610</c:v>
                </c:pt>
                <c:pt idx="1340">
                  <c:v>44613</c:v>
                </c:pt>
                <c:pt idx="1341">
                  <c:v>44614</c:v>
                </c:pt>
                <c:pt idx="1342">
                  <c:v>44615</c:v>
                </c:pt>
                <c:pt idx="1343">
                  <c:v>44616</c:v>
                </c:pt>
                <c:pt idx="1344">
                  <c:v>44617</c:v>
                </c:pt>
                <c:pt idx="1345">
                  <c:v>44620</c:v>
                </c:pt>
                <c:pt idx="1346">
                  <c:v>44621</c:v>
                </c:pt>
                <c:pt idx="1347">
                  <c:v>44622</c:v>
                </c:pt>
                <c:pt idx="1348">
                  <c:v>44623</c:v>
                </c:pt>
                <c:pt idx="1349">
                  <c:v>44624</c:v>
                </c:pt>
                <c:pt idx="1350">
                  <c:v>44627</c:v>
                </c:pt>
                <c:pt idx="1351">
                  <c:v>44628</c:v>
                </c:pt>
                <c:pt idx="1352">
                  <c:v>44629</c:v>
                </c:pt>
                <c:pt idx="1353">
                  <c:v>44630</c:v>
                </c:pt>
                <c:pt idx="1354">
                  <c:v>44631</c:v>
                </c:pt>
                <c:pt idx="1355">
                  <c:v>44634</c:v>
                </c:pt>
                <c:pt idx="1356">
                  <c:v>44635</c:v>
                </c:pt>
                <c:pt idx="1357">
                  <c:v>44636</c:v>
                </c:pt>
                <c:pt idx="1358">
                  <c:v>44637</c:v>
                </c:pt>
                <c:pt idx="1359">
                  <c:v>44638</c:v>
                </c:pt>
                <c:pt idx="1360">
                  <c:v>44641</c:v>
                </c:pt>
                <c:pt idx="1361">
                  <c:v>44642</c:v>
                </c:pt>
                <c:pt idx="1362">
                  <c:v>44643</c:v>
                </c:pt>
                <c:pt idx="1363">
                  <c:v>44644</c:v>
                </c:pt>
                <c:pt idx="1364">
                  <c:v>44645</c:v>
                </c:pt>
                <c:pt idx="1365">
                  <c:v>44648</c:v>
                </c:pt>
                <c:pt idx="1366">
                  <c:v>44649</c:v>
                </c:pt>
                <c:pt idx="1367">
                  <c:v>44650</c:v>
                </c:pt>
                <c:pt idx="1368">
                  <c:v>44651</c:v>
                </c:pt>
                <c:pt idx="1369">
                  <c:v>44652</c:v>
                </c:pt>
                <c:pt idx="1370">
                  <c:v>44655</c:v>
                </c:pt>
                <c:pt idx="1371">
                  <c:v>44656</c:v>
                </c:pt>
                <c:pt idx="1372">
                  <c:v>44657</c:v>
                </c:pt>
                <c:pt idx="1373">
                  <c:v>44658</c:v>
                </c:pt>
                <c:pt idx="1374">
                  <c:v>44659</c:v>
                </c:pt>
                <c:pt idx="1375">
                  <c:v>44662</c:v>
                </c:pt>
                <c:pt idx="1376">
                  <c:v>44663</c:v>
                </c:pt>
                <c:pt idx="1377">
                  <c:v>44664</c:v>
                </c:pt>
                <c:pt idx="1378">
                  <c:v>44665</c:v>
                </c:pt>
                <c:pt idx="1379">
                  <c:v>44666</c:v>
                </c:pt>
                <c:pt idx="1380">
                  <c:v>44669</c:v>
                </c:pt>
                <c:pt idx="1381">
                  <c:v>44670</c:v>
                </c:pt>
                <c:pt idx="1382">
                  <c:v>44671</c:v>
                </c:pt>
                <c:pt idx="1383">
                  <c:v>44672</c:v>
                </c:pt>
                <c:pt idx="1384">
                  <c:v>44673</c:v>
                </c:pt>
                <c:pt idx="1385">
                  <c:v>44676</c:v>
                </c:pt>
                <c:pt idx="1386">
                  <c:v>44677</c:v>
                </c:pt>
                <c:pt idx="1387">
                  <c:v>44678</c:v>
                </c:pt>
                <c:pt idx="1388">
                  <c:v>44679</c:v>
                </c:pt>
                <c:pt idx="1389">
                  <c:v>44680</c:v>
                </c:pt>
                <c:pt idx="1390">
                  <c:v>44683</c:v>
                </c:pt>
                <c:pt idx="1391">
                  <c:v>44684</c:v>
                </c:pt>
                <c:pt idx="1392">
                  <c:v>44685</c:v>
                </c:pt>
                <c:pt idx="1393">
                  <c:v>44686</c:v>
                </c:pt>
                <c:pt idx="1394">
                  <c:v>44687</c:v>
                </c:pt>
                <c:pt idx="1395">
                  <c:v>44690</c:v>
                </c:pt>
                <c:pt idx="1396">
                  <c:v>44691</c:v>
                </c:pt>
                <c:pt idx="1397">
                  <c:v>44692</c:v>
                </c:pt>
                <c:pt idx="1398">
                  <c:v>44693</c:v>
                </c:pt>
                <c:pt idx="1399">
                  <c:v>44694</c:v>
                </c:pt>
                <c:pt idx="1400">
                  <c:v>44697</c:v>
                </c:pt>
                <c:pt idx="1401">
                  <c:v>44698</c:v>
                </c:pt>
                <c:pt idx="1402">
                  <c:v>44699</c:v>
                </c:pt>
                <c:pt idx="1403">
                  <c:v>44700</c:v>
                </c:pt>
                <c:pt idx="1404">
                  <c:v>44701</c:v>
                </c:pt>
                <c:pt idx="1405">
                  <c:v>44704</c:v>
                </c:pt>
                <c:pt idx="1406">
                  <c:v>44705</c:v>
                </c:pt>
                <c:pt idx="1407">
                  <c:v>44706</c:v>
                </c:pt>
                <c:pt idx="1408">
                  <c:v>44707</c:v>
                </c:pt>
                <c:pt idx="1409">
                  <c:v>44708</c:v>
                </c:pt>
                <c:pt idx="1410">
                  <c:v>44711</c:v>
                </c:pt>
                <c:pt idx="1411">
                  <c:v>44712</c:v>
                </c:pt>
                <c:pt idx="1412">
                  <c:v>44713</c:v>
                </c:pt>
                <c:pt idx="1413">
                  <c:v>44714</c:v>
                </c:pt>
                <c:pt idx="1414">
                  <c:v>44715</c:v>
                </c:pt>
                <c:pt idx="1415">
                  <c:v>44718</c:v>
                </c:pt>
                <c:pt idx="1416">
                  <c:v>44719</c:v>
                </c:pt>
                <c:pt idx="1417">
                  <c:v>44720</c:v>
                </c:pt>
                <c:pt idx="1418">
                  <c:v>44721</c:v>
                </c:pt>
                <c:pt idx="1419">
                  <c:v>44722</c:v>
                </c:pt>
                <c:pt idx="1420">
                  <c:v>44725</c:v>
                </c:pt>
                <c:pt idx="1421">
                  <c:v>44726</c:v>
                </c:pt>
                <c:pt idx="1422">
                  <c:v>44727</c:v>
                </c:pt>
                <c:pt idx="1423">
                  <c:v>44728</c:v>
                </c:pt>
                <c:pt idx="1424">
                  <c:v>44729</c:v>
                </c:pt>
                <c:pt idx="1425">
                  <c:v>44732</c:v>
                </c:pt>
                <c:pt idx="1426">
                  <c:v>44733</c:v>
                </c:pt>
                <c:pt idx="1427">
                  <c:v>44734</c:v>
                </c:pt>
                <c:pt idx="1428">
                  <c:v>44735</c:v>
                </c:pt>
                <c:pt idx="1429">
                  <c:v>44736</c:v>
                </c:pt>
                <c:pt idx="1430">
                  <c:v>44739</c:v>
                </c:pt>
                <c:pt idx="1431">
                  <c:v>44740</c:v>
                </c:pt>
                <c:pt idx="1432">
                  <c:v>44741</c:v>
                </c:pt>
                <c:pt idx="1433">
                  <c:v>44742</c:v>
                </c:pt>
                <c:pt idx="1434">
                  <c:v>44743</c:v>
                </c:pt>
                <c:pt idx="1435">
                  <c:v>44746</c:v>
                </c:pt>
                <c:pt idx="1436">
                  <c:v>44747</c:v>
                </c:pt>
                <c:pt idx="1437">
                  <c:v>44748</c:v>
                </c:pt>
                <c:pt idx="1438">
                  <c:v>44749</c:v>
                </c:pt>
                <c:pt idx="1439">
                  <c:v>44750</c:v>
                </c:pt>
                <c:pt idx="1440">
                  <c:v>44753</c:v>
                </c:pt>
                <c:pt idx="1441">
                  <c:v>44754</c:v>
                </c:pt>
                <c:pt idx="1442">
                  <c:v>44755</c:v>
                </c:pt>
                <c:pt idx="1443">
                  <c:v>44756</c:v>
                </c:pt>
                <c:pt idx="1444">
                  <c:v>44757</c:v>
                </c:pt>
                <c:pt idx="1445">
                  <c:v>44760</c:v>
                </c:pt>
                <c:pt idx="1446">
                  <c:v>44761</c:v>
                </c:pt>
                <c:pt idx="1447">
                  <c:v>44762</c:v>
                </c:pt>
                <c:pt idx="1448">
                  <c:v>44763</c:v>
                </c:pt>
                <c:pt idx="1449">
                  <c:v>44764</c:v>
                </c:pt>
                <c:pt idx="1450">
                  <c:v>44767</c:v>
                </c:pt>
                <c:pt idx="1451">
                  <c:v>44768</c:v>
                </c:pt>
                <c:pt idx="1452">
                  <c:v>44769</c:v>
                </c:pt>
                <c:pt idx="1453">
                  <c:v>44770</c:v>
                </c:pt>
                <c:pt idx="1454">
                  <c:v>44771</c:v>
                </c:pt>
                <c:pt idx="1455">
                  <c:v>44774</c:v>
                </c:pt>
                <c:pt idx="1456">
                  <c:v>44775</c:v>
                </c:pt>
                <c:pt idx="1457">
                  <c:v>44776</c:v>
                </c:pt>
                <c:pt idx="1458">
                  <c:v>44777</c:v>
                </c:pt>
                <c:pt idx="1459">
                  <c:v>44778</c:v>
                </c:pt>
                <c:pt idx="1460">
                  <c:v>44781</c:v>
                </c:pt>
                <c:pt idx="1461">
                  <c:v>44782</c:v>
                </c:pt>
                <c:pt idx="1462">
                  <c:v>44783</c:v>
                </c:pt>
                <c:pt idx="1463">
                  <c:v>44784</c:v>
                </c:pt>
                <c:pt idx="1464">
                  <c:v>44785</c:v>
                </c:pt>
                <c:pt idx="1465">
                  <c:v>44788</c:v>
                </c:pt>
                <c:pt idx="1466">
                  <c:v>44789</c:v>
                </c:pt>
                <c:pt idx="1467">
                  <c:v>44790</c:v>
                </c:pt>
                <c:pt idx="1468">
                  <c:v>44791</c:v>
                </c:pt>
                <c:pt idx="1469">
                  <c:v>44792</c:v>
                </c:pt>
                <c:pt idx="1470">
                  <c:v>44795</c:v>
                </c:pt>
                <c:pt idx="1471">
                  <c:v>44796</c:v>
                </c:pt>
                <c:pt idx="1472">
                  <c:v>44797</c:v>
                </c:pt>
                <c:pt idx="1473">
                  <c:v>44798</c:v>
                </c:pt>
                <c:pt idx="1474">
                  <c:v>44799</c:v>
                </c:pt>
                <c:pt idx="1475">
                  <c:v>44802</c:v>
                </c:pt>
                <c:pt idx="1476">
                  <c:v>44803</c:v>
                </c:pt>
                <c:pt idx="1477">
                  <c:v>44804</c:v>
                </c:pt>
                <c:pt idx="1478">
                  <c:v>44805</c:v>
                </c:pt>
                <c:pt idx="1479">
                  <c:v>44806</c:v>
                </c:pt>
                <c:pt idx="1480">
                  <c:v>44809</c:v>
                </c:pt>
                <c:pt idx="1481">
                  <c:v>44810</c:v>
                </c:pt>
                <c:pt idx="1482">
                  <c:v>44811</c:v>
                </c:pt>
                <c:pt idx="1483">
                  <c:v>44812</c:v>
                </c:pt>
                <c:pt idx="1484">
                  <c:v>44813</c:v>
                </c:pt>
                <c:pt idx="1485">
                  <c:v>44816</c:v>
                </c:pt>
                <c:pt idx="1486">
                  <c:v>44817</c:v>
                </c:pt>
                <c:pt idx="1487">
                  <c:v>44818</c:v>
                </c:pt>
                <c:pt idx="1488">
                  <c:v>44819</c:v>
                </c:pt>
                <c:pt idx="1489">
                  <c:v>44820</c:v>
                </c:pt>
                <c:pt idx="1490">
                  <c:v>44823</c:v>
                </c:pt>
                <c:pt idx="1491">
                  <c:v>44824</c:v>
                </c:pt>
                <c:pt idx="1492">
                  <c:v>44825</c:v>
                </c:pt>
                <c:pt idx="1493">
                  <c:v>44826</c:v>
                </c:pt>
                <c:pt idx="1494">
                  <c:v>44827</c:v>
                </c:pt>
                <c:pt idx="1495">
                  <c:v>44830</c:v>
                </c:pt>
                <c:pt idx="1496">
                  <c:v>44831</c:v>
                </c:pt>
                <c:pt idx="1497">
                  <c:v>44832</c:v>
                </c:pt>
                <c:pt idx="1498">
                  <c:v>44833</c:v>
                </c:pt>
                <c:pt idx="1499">
                  <c:v>44834</c:v>
                </c:pt>
                <c:pt idx="1500">
                  <c:v>44837</c:v>
                </c:pt>
                <c:pt idx="1501">
                  <c:v>44838</c:v>
                </c:pt>
                <c:pt idx="1502">
                  <c:v>44839</c:v>
                </c:pt>
                <c:pt idx="1503">
                  <c:v>44840</c:v>
                </c:pt>
                <c:pt idx="1504">
                  <c:v>44841</c:v>
                </c:pt>
                <c:pt idx="1505">
                  <c:v>44844</c:v>
                </c:pt>
                <c:pt idx="1506">
                  <c:v>44845</c:v>
                </c:pt>
                <c:pt idx="1507">
                  <c:v>44846</c:v>
                </c:pt>
                <c:pt idx="1508">
                  <c:v>44847</c:v>
                </c:pt>
                <c:pt idx="1509">
                  <c:v>44848</c:v>
                </c:pt>
                <c:pt idx="1510">
                  <c:v>44851</c:v>
                </c:pt>
                <c:pt idx="1511">
                  <c:v>44852</c:v>
                </c:pt>
                <c:pt idx="1512">
                  <c:v>44853</c:v>
                </c:pt>
                <c:pt idx="1513">
                  <c:v>44854</c:v>
                </c:pt>
                <c:pt idx="1514">
                  <c:v>44855</c:v>
                </c:pt>
                <c:pt idx="1515">
                  <c:v>44858</c:v>
                </c:pt>
                <c:pt idx="1516">
                  <c:v>44859</c:v>
                </c:pt>
                <c:pt idx="1517">
                  <c:v>44860</c:v>
                </c:pt>
                <c:pt idx="1518">
                  <c:v>44861</c:v>
                </c:pt>
                <c:pt idx="1519">
                  <c:v>44862</c:v>
                </c:pt>
                <c:pt idx="1520">
                  <c:v>44865</c:v>
                </c:pt>
                <c:pt idx="1521">
                  <c:v>44866</c:v>
                </c:pt>
                <c:pt idx="1522">
                  <c:v>44867</c:v>
                </c:pt>
                <c:pt idx="1523">
                  <c:v>44868</c:v>
                </c:pt>
                <c:pt idx="1524">
                  <c:v>44869</c:v>
                </c:pt>
                <c:pt idx="1525">
                  <c:v>44872</c:v>
                </c:pt>
                <c:pt idx="1526">
                  <c:v>44873</c:v>
                </c:pt>
                <c:pt idx="1527">
                  <c:v>44874</c:v>
                </c:pt>
                <c:pt idx="1528">
                  <c:v>44875</c:v>
                </c:pt>
                <c:pt idx="1529">
                  <c:v>44876</c:v>
                </c:pt>
                <c:pt idx="1530">
                  <c:v>44879</c:v>
                </c:pt>
                <c:pt idx="1531">
                  <c:v>44880</c:v>
                </c:pt>
                <c:pt idx="1532">
                  <c:v>44881</c:v>
                </c:pt>
                <c:pt idx="1533">
                  <c:v>44882</c:v>
                </c:pt>
                <c:pt idx="1534">
                  <c:v>44883</c:v>
                </c:pt>
                <c:pt idx="1535">
                  <c:v>44886</c:v>
                </c:pt>
                <c:pt idx="1536">
                  <c:v>44887</c:v>
                </c:pt>
                <c:pt idx="1537">
                  <c:v>44888</c:v>
                </c:pt>
                <c:pt idx="1538">
                  <c:v>44889</c:v>
                </c:pt>
                <c:pt idx="1539">
                  <c:v>44890</c:v>
                </c:pt>
                <c:pt idx="1540">
                  <c:v>44893</c:v>
                </c:pt>
                <c:pt idx="1541">
                  <c:v>44894</c:v>
                </c:pt>
                <c:pt idx="1542">
                  <c:v>44895</c:v>
                </c:pt>
                <c:pt idx="1543">
                  <c:v>44896</c:v>
                </c:pt>
                <c:pt idx="1544">
                  <c:v>44897</c:v>
                </c:pt>
                <c:pt idx="1545">
                  <c:v>44900</c:v>
                </c:pt>
                <c:pt idx="1546">
                  <c:v>44901</c:v>
                </c:pt>
                <c:pt idx="1547">
                  <c:v>44902</c:v>
                </c:pt>
                <c:pt idx="1548">
                  <c:v>44903</c:v>
                </c:pt>
                <c:pt idx="1549">
                  <c:v>44904</c:v>
                </c:pt>
                <c:pt idx="1550">
                  <c:v>44907</c:v>
                </c:pt>
                <c:pt idx="1551">
                  <c:v>44908</c:v>
                </c:pt>
                <c:pt idx="1552">
                  <c:v>44909</c:v>
                </c:pt>
                <c:pt idx="1553">
                  <c:v>44910</c:v>
                </c:pt>
                <c:pt idx="1554">
                  <c:v>44911</c:v>
                </c:pt>
                <c:pt idx="1555">
                  <c:v>44914</c:v>
                </c:pt>
                <c:pt idx="1556">
                  <c:v>44915</c:v>
                </c:pt>
                <c:pt idx="1557">
                  <c:v>44916</c:v>
                </c:pt>
                <c:pt idx="1558">
                  <c:v>44917</c:v>
                </c:pt>
                <c:pt idx="1559">
                  <c:v>44918</c:v>
                </c:pt>
                <c:pt idx="1560">
                  <c:v>44921</c:v>
                </c:pt>
                <c:pt idx="1561">
                  <c:v>44922</c:v>
                </c:pt>
                <c:pt idx="1562">
                  <c:v>44923</c:v>
                </c:pt>
                <c:pt idx="1563">
                  <c:v>44924</c:v>
                </c:pt>
                <c:pt idx="1564">
                  <c:v>44925</c:v>
                </c:pt>
                <c:pt idx="1565">
                  <c:v>44928</c:v>
                </c:pt>
                <c:pt idx="1566">
                  <c:v>44929</c:v>
                </c:pt>
                <c:pt idx="1567">
                  <c:v>44930</c:v>
                </c:pt>
                <c:pt idx="1568">
                  <c:v>44931</c:v>
                </c:pt>
                <c:pt idx="1569">
                  <c:v>44932</c:v>
                </c:pt>
                <c:pt idx="1570">
                  <c:v>44935</c:v>
                </c:pt>
                <c:pt idx="1571">
                  <c:v>44936</c:v>
                </c:pt>
                <c:pt idx="1572">
                  <c:v>44937</c:v>
                </c:pt>
                <c:pt idx="1573">
                  <c:v>44938</c:v>
                </c:pt>
                <c:pt idx="1574">
                  <c:v>44939</c:v>
                </c:pt>
                <c:pt idx="1575">
                  <c:v>44942</c:v>
                </c:pt>
                <c:pt idx="1576">
                  <c:v>44943</c:v>
                </c:pt>
                <c:pt idx="1577">
                  <c:v>44944</c:v>
                </c:pt>
                <c:pt idx="1578">
                  <c:v>44945</c:v>
                </c:pt>
                <c:pt idx="1579">
                  <c:v>44946</c:v>
                </c:pt>
                <c:pt idx="1580">
                  <c:v>44949</c:v>
                </c:pt>
                <c:pt idx="1581">
                  <c:v>44950</c:v>
                </c:pt>
                <c:pt idx="1582">
                  <c:v>44951</c:v>
                </c:pt>
                <c:pt idx="1583">
                  <c:v>44952</c:v>
                </c:pt>
                <c:pt idx="1584">
                  <c:v>44953</c:v>
                </c:pt>
                <c:pt idx="1585">
                  <c:v>44956</c:v>
                </c:pt>
                <c:pt idx="1586">
                  <c:v>44957</c:v>
                </c:pt>
                <c:pt idx="1587">
                  <c:v>44958</c:v>
                </c:pt>
                <c:pt idx="1588">
                  <c:v>44959</c:v>
                </c:pt>
                <c:pt idx="1589">
                  <c:v>44960</c:v>
                </c:pt>
                <c:pt idx="1590">
                  <c:v>44963</c:v>
                </c:pt>
                <c:pt idx="1591">
                  <c:v>44964</c:v>
                </c:pt>
                <c:pt idx="1592">
                  <c:v>44965</c:v>
                </c:pt>
                <c:pt idx="1593">
                  <c:v>44966</c:v>
                </c:pt>
                <c:pt idx="1594">
                  <c:v>44967</c:v>
                </c:pt>
                <c:pt idx="1595">
                  <c:v>44970</c:v>
                </c:pt>
                <c:pt idx="1596">
                  <c:v>44971</c:v>
                </c:pt>
                <c:pt idx="1597">
                  <c:v>44972</c:v>
                </c:pt>
                <c:pt idx="1598">
                  <c:v>44973</c:v>
                </c:pt>
                <c:pt idx="1599">
                  <c:v>44974</c:v>
                </c:pt>
                <c:pt idx="1600">
                  <c:v>44977</c:v>
                </c:pt>
                <c:pt idx="1601">
                  <c:v>44978</c:v>
                </c:pt>
                <c:pt idx="1602">
                  <c:v>44979</c:v>
                </c:pt>
                <c:pt idx="1603">
                  <c:v>44980</c:v>
                </c:pt>
                <c:pt idx="1604">
                  <c:v>44981</c:v>
                </c:pt>
                <c:pt idx="1605">
                  <c:v>44984</c:v>
                </c:pt>
                <c:pt idx="1606">
                  <c:v>44985</c:v>
                </c:pt>
                <c:pt idx="1607">
                  <c:v>44986</c:v>
                </c:pt>
                <c:pt idx="1608">
                  <c:v>44987</c:v>
                </c:pt>
                <c:pt idx="1609">
                  <c:v>44988</c:v>
                </c:pt>
                <c:pt idx="1610">
                  <c:v>44991</c:v>
                </c:pt>
                <c:pt idx="1611">
                  <c:v>44992</c:v>
                </c:pt>
                <c:pt idx="1612">
                  <c:v>44993</c:v>
                </c:pt>
                <c:pt idx="1613">
                  <c:v>44994</c:v>
                </c:pt>
                <c:pt idx="1614">
                  <c:v>44995</c:v>
                </c:pt>
                <c:pt idx="1615">
                  <c:v>44998</c:v>
                </c:pt>
                <c:pt idx="1616">
                  <c:v>44999</c:v>
                </c:pt>
                <c:pt idx="1617">
                  <c:v>45000</c:v>
                </c:pt>
                <c:pt idx="1618">
                  <c:v>45001</c:v>
                </c:pt>
                <c:pt idx="1619">
                  <c:v>45002</c:v>
                </c:pt>
                <c:pt idx="1620">
                  <c:v>45005</c:v>
                </c:pt>
                <c:pt idx="1621">
                  <c:v>45006</c:v>
                </c:pt>
                <c:pt idx="1622">
                  <c:v>45007</c:v>
                </c:pt>
                <c:pt idx="1623">
                  <c:v>45008</c:v>
                </c:pt>
                <c:pt idx="1624">
                  <c:v>45009</c:v>
                </c:pt>
                <c:pt idx="1625">
                  <c:v>45012</c:v>
                </c:pt>
                <c:pt idx="1626">
                  <c:v>45013</c:v>
                </c:pt>
                <c:pt idx="1627">
                  <c:v>45014</c:v>
                </c:pt>
                <c:pt idx="1628">
                  <c:v>45015</c:v>
                </c:pt>
                <c:pt idx="1629">
                  <c:v>45016</c:v>
                </c:pt>
                <c:pt idx="1630">
                  <c:v>45019</c:v>
                </c:pt>
                <c:pt idx="1631">
                  <c:v>45020</c:v>
                </c:pt>
                <c:pt idx="1632">
                  <c:v>45021</c:v>
                </c:pt>
                <c:pt idx="1633">
                  <c:v>45022</c:v>
                </c:pt>
                <c:pt idx="1634">
                  <c:v>45023</c:v>
                </c:pt>
                <c:pt idx="1635">
                  <c:v>45026</c:v>
                </c:pt>
                <c:pt idx="1636">
                  <c:v>45027</c:v>
                </c:pt>
                <c:pt idx="1637">
                  <c:v>45028</c:v>
                </c:pt>
                <c:pt idx="1638">
                  <c:v>45029</c:v>
                </c:pt>
                <c:pt idx="1639">
                  <c:v>45030</c:v>
                </c:pt>
                <c:pt idx="1640">
                  <c:v>45033</c:v>
                </c:pt>
                <c:pt idx="1641">
                  <c:v>45034</c:v>
                </c:pt>
                <c:pt idx="1642">
                  <c:v>45035</c:v>
                </c:pt>
                <c:pt idx="1643">
                  <c:v>45036</c:v>
                </c:pt>
                <c:pt idx="1644">
                  <c:v>45037</c:v>
                </c:pt>
                <c:pt idx="1645">
                  <c:v>45040</c:v>
                </c:pt>
                <c:pt idx="1646">
                  <c:v>45041</c:v>
                </c:pt>
                <c:pt idx="1647">
                  <c:v>45042</c:v>
                </c:pt>
                <c:pt idx="1648">
                  <c:v>45043</c:v>
                </c:pt>
                <c:pt idx="1649">
                  <c:v>45044</c:v>
                </c:pt>
                <c:pt idx="1650">
                  <c:v>45047</c:v>
                </c:pt>
                <c:pt idx="1651">
                  <c:v>45048</c:v>
                </c:pt>
                <c:pt idx="1652">
                  <c:v>45049</c:v>
                </c:pt>
                <c:pt idx="1653">
                  <c:v>45050</c:v>
                </c:pt>
                <c:pt idx="1654">
                  <c:v>45051</c:v>
                </c:pt>
                <c:pt idx="1655">
                  <c:v>45054</c:v>
                </c:pt>
                <c:pt idx="1656">
                  <c:v>45055</c:v>
                </c:pt>
                <c:pt idx="1657">
                  <c:v>45056</c:v>
                </c:pt>
                <c:pt idx="1658">
                  <c:v>45057</c:v>
                </c:pt>
                <c:pt idx="1659">
                  <c:v>45058</c:v>
                </c:pt>
                <c:pt idx="1660">
                  <c:v>45061</c:v>
                </c:pt>
                <c:pt idx="1661">
                  <c:v>45062</c:v>
                </c:pt>
                <c:pt idx="1662">
                  <c:v>45063</c:v>
                </c:pt>
                <c:pt idx="1663">
                  <c:v>45064</c:v>
                </c:pt>
                <c:pt idx="1664">
                  <c:v>45065</c:v>
                </c:pt>
                <c:pt idx="1665">
                  <c:v>45068</c:v>
                </c:pt>
                <c:pt idx="1666">
                  <c:v>45069</c:v>
                </c:pt>
                <c:pt idx="1667">
                  <c:v>45070</c:v>
                </c:pt>
                <c:pt idx="1668">
                  <c:v>45071</c:v>
                </c:pt>
                <c:pt idx="1669">
                  <c:v>45072</c:v>
                </c:pt>
                <c:pt idx="1670">
                  <c:v>45075</c:v>
                </c:pt>
                <c:pt idx="1671">
                  <c:v>45076</c:v>
                </c:pt>
                <c:pt idx="1672">
                  <c:v>45077</c:v>
                </c:pt>
                <c:pt idx="1673">
                  <c:v>45078</c:v>
                </c:pt>
                <c:pt idx="1674">
                  <c:v>45079</c:v>
                </c:pt>
                <c:pt idx="1675">
                  <c:v>45082</c:v>
                </c:pt>
                <c:pt idx="1676">
                  <c:v>45083</c:v>
                </c:pt>
                <c:pt idx="1677">
                  <c:v>45084</c:v>
                </c:pt>
                <c:pt idx="1678">
                  <c:v>45085</c:v>
                </c:pt>
                <c:pt idx="1679">
                  <c:v>45086</c:v>
                </c:pt>
                <c:pt idx="1680">
                  <c:v>45089</c:v>
                </c:pt>
                <c:pt idx="1681">
                  <c:v>45090</c:v>
                </c:pt>
                <c:pt idx="1682">
                  <c:v>45091</c:v>
                </c:pt>
                <c:pt idx="1683">
                  <c:v>45092</c:v>
                </c:pt>
                <c:pt idx="1684">
                  <c:v>45093</c:v>
                </c:pt>
                <c:pt idx="1685">
                  <c:v>45096</c:v>
                </c:pt>
                <c:pt idx="1686">
                  <c:v>45097</c:v>
                </c:pt>
                <c:pt idx="1687">
                  <c:v>45098</c:v>
                </c:pt>
                <c:pt idx="1688">
                  <c:v>45099</c:v>
                </c:pt>
                <c:pt idx="1689">
                  <c:v>45100</c:v>
                </c:pt>
                <c:pt idx="1690">
                  <c:v>45103</c:v>
                </c:pt>
                <c:pt idx="1691">
                  <c:v>45104</c:v>
                </c:pt>
                <c:pt idx="1692">
                  <c:v>45105</c:v>
                </c:pt>
                <c:pt idx="1693">
                  <c:v>45106</c:v>
                </c:pt>
                <c:pt idx="1694">
                  <c:v>45107</c:v>
                </c:pt>
                <c:pt idx="1695">
                  <c:v>45110</c:v>
                </c:pt>
                <c:pt idx="1696">
                  <c:v>45111</c:v>
                </c:pt>
                <c:pt idx="1697">
                  <c:v>45112</c:v>
                </c:pt>
                <c:pt idx="1698">
                  <c:v>45113</c:v>
                </c:pt>
                <c:pt idx="1699">
                  <c:v>45114</c:v>
                </c:pt>
                <c:pt idx="1700">
                  <c:v>45117</c:v>
                </c:pt>
                <c:pt idx="1701">
                  <c:v>45118</c:v>
                </c:pt>
                <c:pt idx="1702">
                  <c:v>45119</c:v>
                </c:pt>
                <c:pt idx="1703">
                  <c:v>45120</c:v>
                </c:pt>
                <c:pt idx="1704">
                  <c:v>45121</c:v>
                </c:pt>
                <c:pt idx="1705">
                  <c:v>45124</c:v>
                </c:pt>
                <c:pt idx="1706">
                  <c:v>45125</c:v>
                </c:pt>
                <c:pt idx="1707">
                  <c:v>45126</c:v>
                </c:pt>
                <c:pt idx="1708">
                  <c:v>45127</c:v>
                </c:pt>
                <c:pt idx="1709">
                  <c:v>45128</c:v>
                </c:pt>
                <c:pt idx="1710">
                  <c:v>45131</c:v>
                </c:pt>
                <c:pt idx="1711">
                  <c:v>45132</c:v>
                </c:pt>
                <c:pt idx="1712">
                  <c:v>45133</c:v>
                </c:pt>
                <c:pt idx="1713">
                  <c:v>45134</c:v>
                </c:pt>
                <c:pt idx="1714">
                  <c:v>45135</c:v>
                </c:pt>
                <c:pt idx="1715">
                  <c:v>45138</c:v>
                </c:pt>
                <c:pt idx="1716">
                  <c:v>45139</c:v>
                </c:pt>
                <c:pt idx="1717">
                  <c:v>45140</c:v>
                </c:pt>
                <c:pt idx="1718">
                  <c:v>45141</c:v>
                </c:pt>
                <c:pt idx="1719">
                  <c:v>45142</c:v>
                </c:pt>
                <c:pt idx="1720">
                  <c:v>45145</c:v>
                </c:pt>
                <c:pt idx="1721">
                  <c:v>45146</c:v>
                </c:pt>
                <c:pt idx="1722">
                  <c:v>45147</c:v>
                </c:pt>
                <c:pt idx="1723">
                  <c:v>45148</c:v>
                </c:pt>
                <c:pt idx="1724">
                  <c:v>45149</c:v>
                </c:pt>
                <c:pt idx="1725">
                  <c:v>45152</c:v>
                </c:pt>
                <c:pt idx="1726">
                  <c:v>45153</c:v>
                </c:pt>
                <c:pt idx="1727">
                  <c:v>45154</c:v>
                </c:pt>
                <c:pt idx="1728">
                  <c:v>45155</c:v>
                </c:pt>
                <c:pt idx="1729">
                  <c:v>45156</c:v>
                </c:pt>
                <c:pt idx="1730">
                  <c:v>45159</c:v>
                </c:pt>
                <c:pt idx="1731">
                  <c:v>45160</c:v>
                </c:pt>
                <c:pt idx="1732">
                  <c:v>45161</c:v>
                </c:pt>
                <c:pt idx="1733">
                  <c:v>45162</c:v>
                </c:pt>
                <c:pt idx="1734">
                  <c:v>45163</c:v>
                </c:pt>
                <c:pt idx="1735">
                  <c:v>45166</c:v>
                </c:pt>
                <c:pt idx="1736">
                  <c:v>45167</c:v>
                </c:pt>
                <c:pt idx="1737">
                  <c:v>45168</c:v>
                </c:pt>
                <c:pt idx="1738">
                  <c:v>45169</c:v>
                </c:pt>
                <c:pt idx="1739">
                  <c:v>45170</c:v>
                </c:pt>
                <c:pt idx="1740">
                  <c:v>45173</c:v>
                </c:pt>
                <c:pt idx="1741">
                  <c:v>45174</c:v>
                </c:pt>
                <c:pt idx="1742">
                  <c:v>45175</c:v>
                </c:pt>
                <c:pt idx="1743">
                  <c:v>45176</c:v>
                </c:pt>
                <c:pt idx="1744">
                  <c:v>45177</c:v>
                </c:pt>
                <c:pt idx="1745">
                  <c:v>45180</c:v>
                </c:pt>
                <c:pt idx="1746">
                  <c:v>45181</c:v>
                </c:pt>
                <c:pt idx="1747">
                  <c:v>45182</c:v>
                </c:pt>
                <c:pt idx="1748">
                  <c:v>45183</c:v>
                </c:pt>
                <c:pt idx="1749">
                  <c:v>45184</c:v>
                </c:pt>
                <c:pt idx="1750">
                  <c:v>45187</c:v>
                </c:pt>
                <c:pt idx="1751">
                  <c:v>45188</c:v>
                </c:pt>
                <c:pt idx="1752">
                  <c:v>45189</c:v>
                </c:pt>
                <c:pt idx="1753">
                  <c:v>45190</c:v>
                </c:pt>
                <c:pt idx="1754">
                  <c:v>45191</c:v>
                </c:pt>
                <c:pt idx="1755">
                  <c:v>45194</c:v>
                </c:pt>
                <c:pt idx="1756">
                  <c:v>45195</c:v>
                </c:pt>
                <c:pt idx="1757">
                  <c:v>45196</c:v>
                </c:pt>
                <c:pt idx="1758">
                  <c:v>45197</c:v>
                </c:pt>
                <c:pt idx="1759">
                  <c:v>45198</c:v>
                </c:pt>
                <c:pt idx="1760">
                  <c:v>45201</c:v>
                </c:pt>
                <c:pt idx="1761">
                  <c:v>45202</c:v>
                </c:pt>
                <c:pt idx="1762">
                  <c:v>45203</c:v>
                </c:pt>
                <c:pt idx="1763">
                  <c:v>45204</c:v>
                </c:pt>
                <c:pt idx="1764">
                  <c:v>45205</c:v>
                </c:pt>
                <c:pt idx="1765">
                  <c:v>45208</c:v>
                </c:pt>
                <c:pt idx="1766">
                  <c:v>45209</c:v>
                </c:pt>
                <c:pt idx="1767">
                  <c:v>45210</c:v>
                </c:pt>
                <c:pt idx="1768">
                  <c:v>45211</c:v>
                </c:pt>
                <c:pt idx="1769">
                  <c:v>45212</c:v>
                </c:pt>
                <c:pt idx="1770">
                  <c:v>45215</c:v>
                </c:pt>
                <c:pt idx="1771">
                  <c:v>45216</c:v>
                </c:pt>
                <c:pt idx="1772">
                  <c:v>45217</c:v>
                </c:pt>
                <c:pt idx="1773">
                  <c:v>45218</c:v>
                </c:pt>
                <c:pt idx="1774">
                  <c:v>45219</c:v>
                </c:pt>
                <c:pt idx="1775">
                  <c:v>45222</c:v>
                </c:pt>
                <c:pt idx="1776">
                  <c:v>45223</c:v>
                </c:pt>
                <c:pt idx="1777">
                  <c:v>45224</c:v>
                </c:pt>
                <c:pt idx="1778">
                  <c:v>45225</c:v>
                </c:pt>
                <c:pt idx="1779">
                  <c:v>45226</c:v>
                </c:pt>
                <c:pt idx="1780">
                  <c:v>45229</c:v>
                </c:pt>
                <c:pt idx="1781">
                  <c:v>45230</c:v>
                </c:pt>
                <c:pt idx="1782">
                  <c:v>45231</c:v>
                </c:pt>
                <c:pt idx="1783">
                  <c:v>45232</c:v>
                </c:pt>
                <c:pt idx="1784">
                  <c:v>45233</c:v>
                </c:pt>
                <c:pt idx="1785">
                  <c:v>45236</c:v>
                </c:pt>
                <c:pt idx="1786">
                  <c:v>45237</c:v>
                </c:pt>
                <c:pt idx="1787">
                  <c:v>45238</c:v>
                </c:pt>
                <c:pt idx="1788">
                  <c:v>45239</c:v>
                </c:pt>
                <c:pt idx="1789">
                  <c:v>45240</c:v>
                </c:pt>
                <c:pt idx="1790">
                  <c:v>45243</c:v>
                </c:pt>
                <c:pt idx="1791">
                  <c:v>45244</c:v>
                </c:pt>
                <c:pt idx="1792">
                  <c:v>45245</c:v>
                </c:pt>
                <c:pt idx="1793">
                  <c:v>45246</c:v>
                </c:pt>
                <c:pt idx="1794">
                  <c:v>45247</c:v>
                </c:pt>
                <c:pt idx="1795">
                  <c:v>45250</c:v>
                </c:pt>
                <c:pt idx="1796">
                  <c:v>45251</c:v>
                </c:pt>
                <c:pt idx="1797">
                  <c:v>45252</c:v>
                </c:pt>
                <c:pt idx="1798">
                  <c:v>45253</c:v>
                </c:pt>
                <c:pt idx="1799">
                  <c:v>45254</c:v>
                </c:pt>
                <c:pt idx="1800">
                  <c:v>45257</c:v>
                </c:pt>
                <c:pt idx="1801">
                  <c:v>45258</c:v>
                </c:pt>
                <c:pt idx="1802">
                  <c:v>45259</c:v>
                </c:pt>
                <c:pt idx="1803">
                  <c:v>45260</c:v>
                </c:pt>
                <c:pt idx="1804">
                  <c:v>45261</c:v>
                </c:pt>
                <c:pt idx="1805">
                  <c:v>45264</c:v>
                </c:pt>
                <c:pt idx="1806">
                  <c:v>45265</c:v>
                </c:pt>
                <c:pt idx="1807">
                  <c:v>45266</c:v>
                </c:pt>
                <c:pt idx="1808">
                  <c:v>45267</c:v>
                </c:pt>
                <c:pt idx="1809">
                  <c:v>45268</c:v>
                </c:pt>
                <c:pt idx="1810">
                  <c:v>45271</c:v>
                </c:pt>
                <c:pt idx="1811">
                  <c:v>45272</c:v>
                </c:pt>
                <c:pt idx="1812">
                  <c:v>45273</c:v>
                </c:pt>
                <c:pt idx="1813">
                  <c:v>45274</c:v>
                </c:pt>
                <c:pt idx="1814">
                  <c:v>45275</c:v>
                </c:pt>
                <c:pt idx="1815">
                  <c:v>45278</c:v>
                </c:pt>
                <c:pt idx="1816">
                  <c:v>45279</c:v>
                </c:pt>
                <c:pt idx="1817">
                  <c:v>45280</c:v>
                </c:pt>
                <c:pt idx="1818">
                  <c:v>45281</c:v>
                </c:pt>
                <c:pt idx="1819">
                  <c:v>45282</c:v>
                </c:pt>
                <c:pt idx="1820">
                  <c:v>45285</c:v>
                </c:pt>
                <c:pt idx="1821">
                  <c:v>45286</c:v>
                </c:pt>
                <c:pt idx="1822">
                  <c:v>45287</c:v>
                </c:pt>
                <c:pt idx="1823">
                  <c:v>45288</c:v>
                </c:pt>
                <c:pt idx="1824">
                  <c:v>45289</c:v>
                </c:pt>
                <c:pt idx="1825">
                  <c:v>45292</c:v>
                </c:pt>
                <c:pt idx="1826">
                  <c:v>45293</c:v>
                </c:pt>
                <c:pt idx="1827">
                  <c:v>45294</c:v>
                </c:pt>
                <c:pt idx="1828">
                  <c:v>45295</c:v>
                </c:pt>
                <c:pt idx="1829">
                  <c:v>45296</c:v>
                </c:pt>
                <c:pt idx="1830">
                  <c:v>45299</c:v>
                </c:pt>
                <c:pt idx="1831">
                  <c:v>45300</c:v>
                </c:pt>
                <c:pt idx="1832">
                  <c:v>45301</c:v>
                </c:pt>
                <c:pt idx="1833">
                  <c:v>45302</c:v>
                </c:pt>
                <c:pt idx="1834">
                  <c:v>45303</c:v>
                </c:pt>
                <c:pt idx="1835">
                  <c:v>45306</c:v>
                </c:pt>
                <c:pt idx="1836">
                  <c:v>45307</c:v>
                </c:pt>
                <c:pt idx="1837">
                  <c:v>45308</c:v>
                </c:pt>
                <c:pt idx="1838">
                  <c:v>45309</c:v>
                </c:pt>
                <c:pt idx="1839">
                  <c:v>45310</c:v>
                </c:pt>
                <c:pt idx="1840">
                  <c:v>45313</c:v>
                </c:pt>
                <c:pt idx="1841">
                  <c:v>45314</c:v>
                </c:pt>
                <c:pt idx="1842">
                  <c:v>45315</c:v>
                </c:pt>
                <c:pt idx="1843">
                  <c:v>45316</c:v>
                </c:pt>
                <c:pt idx="1844">
                  <c:v>45317</c:v>
                </c:pt>
                <c:pt idx="1845">
                  <c:v>45320</c:v>
                </c:pt>
                <c:pt idx="1846">
                  <c:v>45321</c:v>
                </c:pt>
                <c:pt idx="1847">
                  <c:v>45322</c:v>
                </c:pt>
                <c:pt idx="1848">
                  <c:v>45323</c:v>
                </c:pt>
                <c:pt idx="1849">
                  <c:v>45324</c:v>
                </c:pt>
                <c:pt idx="1850">
                  <c:v>45327</c:v>
                </c:pt>
                <c:pt idx="1851">
                  <c:v>45328</c:v>
                </c:pt>
                <c:pt idx="1852">
                  <c:v>45329</c:v>
                </c:pt>
                <c:pt idx="1853">
                  <c:v>45330</c:v>
                </c:pt>
                <c:pt idx="1854">
                  <c:v>45331</c:v>
                </c:pt>
                <c:pt idx="1855">
                  <c:v>45334</c:v>
                </c:pt>
                <c:pt idx="1856">
                  <c:v>45335</c:v>
                </c:pt>
                <c:pt idx="1857">
                  <c:v>45336</c:v>
                </c:pt>
                <c:pt idx="1858">
                  <c:v>45337</c:v>
                </c:pt>
                <c:pt idx="1859">
                  <c:v>45338</c:v>
                </c:pt>
                <c:pt idx="1860">
                  <c:v>45341</c:v>
                </c:pt>
                <c:pt idx="1861">
                  <c:v>45342</c:v>
                </c:pt>
                <c:pt idx="1862">
                  <c:v>45343</c:v>
                </c:pt>
                <c:pt idx="1863">
                  <c:v>45344</c:v>
                </c:pt>
                <c:pt idx="1864">
                  <c:v>45345</c:v>
                </c:pt>
                <c:pt idx="1865">
                  <c:v>45348</c:v>
                </c:pt>
                <c:pt idx="1866">
                  <c:v>45349</c:v>
                </c:pt>
                <c:pt idx="1867">
                  <c:v>45350</c:v>
                </c:pt>
                <c:pt idx="1868">
                  <c:v>45351</c:v>
                </c:pt>
                <c:pt idx="1869">
                  <c:v>45352</c:v>
                </c:pt>
                <c:pt idx="1870">
                  <c:v>45355</c:v>
                </c:pt>
                <c:pt idx="1871">
                  <c:v>45356</c:v>
                </c:pt>
                <c:pt idx="1872">
                  <c:v>45357</c:v>
                </c:pt>
                <c:pt idx="1873">
                  <c:v>45358</c:v>
                </c:pt>
                <c:pt idx="1874">
                  <c:v>45359</c:v>
                </c:pt>
                <c:pt idx="1875">
                  <c:v>45362</c:v>
                </c:pt>
                <c:pt idx="1876">
                  <c:v>45363</c:v>
                </c:pt>
                <c:pt idx="1877">
                  <c:v>45364</c:v>
                </c:pt>
                <c:pt idx="1878">
                  <c:v>45365</c:v>
                </c:pt>
                <c:pt idx="1879">
                  <c:v>45366</c:v>
                </c:pt>
                <c:pt idx="1880">
                  <c:v>45369</c:v>
                </c:pt>
                <c:pt idx="1881">
                  <c:v>45370</c:v>
                </c:pt>
                <c:pt idx="1882">
                  <c:v>45371</c:v>
                </c:pt>
                <c:pt idx="1883">
                  <c:v>45372</c:v>
                </c:pt>
                <c:pt idx="1884">
                  <c:v>45373</c:v>
                </c:pt>
                <c:pt idx="1885">
                  <c:v>45376</c:v>
                </c:pt>
                <c:pt idx="1886">
                  <c:v>45377</c:v>
                </c:pt>
                <c:pt idx="1887">
                  <c:v>45378</c:v>
                </c:pt>
                <c:pt idx="1888">
                  <c:v>45379</c:v>
                </c:pt>
                <c:pt idx="1889">
                  <c:v>45380</c:v>
                </c:pt>
                <c:pt idx="1890">
                  <c:v>45383</c:v>
                </c:pt>
                <c:pt idx="1891">
                  <c:v>45384</c:v>
                </c:pt>
                <c:pt idx="1892">
                  <c:v>45385</c:v>
                </c:pt>
                <c:pt idx="1893">
                  <c:v>45386</c:v>
                </c:pt>
                <c:pt idx="1894">
                  <c:v>45387</c:v>
                </c:pt>
                <c:pt idx="1895">
                  <c:v>45390</c:v>
                </c:pt>
                <c:pt idx="1896">
                  <c:v>45391</c:v>
                </c:pt>
                <c:pt idx="1897">
                  <c:v>45392</c:v>
                </c:pt>
                <c:pt idx="1898">
                  <c:v>45393</c:v>
                </c:pt>
                <c:pt idx="1899">
                  <c:v>45394</c:v>
                </c:pt>
                <c:pt idx="1900">
                  <c:v>45397</c:v>
                </c:pt>
                <c:pt idx="1901">
                  <c:v>45398</c:v>
                </c:pt>
                <c:pt idx="1902">
                  <c:v>45399</c:v>
                </c:pt>
                <c:pt idx="1903">
                  <c:v>45400</c:v>
                </c:pt>
                <c:pt idx="1904">
                  <c:v>45401</c:v>
                </c:pt>
                <c:pt idx="1905">
                  <c:v>45404</c:v>
                </c:pt>
                <c:pt idx="1906">
                  <c:v>45405</c:v>
                </c:pt>
                <c:pt idx="1907">
                  <c:v>45406</c:v>
                </c:pt>
                <c:pt idx="1908">
                  <c:v>45407</c:v>
                </c:pt>
                <c:pt idx="1909">
                  <c:v>45408</c:v>
                </c:pt>
                <c:pt idx="1910">
                  <c:v>45411</c:v>
                </c:pt>
                <c:pt idx="1911">
                  <c:v>45412</c:v>
                </c:pt>
                <c:pt idx="1912">
                  <c:v>45413</c:v>
                </c:pt>
                <c:pt idx="1913">
                  <c:v>45414</c:v>
                </c:pt>
                <c:pt idx="1914">
                  <c:v>45415</c:v>
                </c:pt>
                <c:pt idx="1915">
                  <c:v>45418</c:v>
                </c:pt>
                <c:pt idx="1916">
                  <c:v>45419</c:v>
                </c:pt>
                <c:pt idx="1917">
                  <c:v>45420</c:v>
                </c:pt>
                <c:pt idx="1918">
                  <c:v>45421</c:v>
                </c:pt>
                <c:pt idx="1919">
                  <c:v>45422</c:v>
                </c:pt>
                <c:pt idx="1920">
                  <c:v>45425</c:v>
                </c:pt>
                <c:pt idx="1921">
                  <c:v>45426</c:v>
                </c:pt>
                <c:pt idx="1922">
                  <c:v>45427</c:v>
                </c:pt>
                <c:pt idx="1923">
                  <c:v>45428</c:v>
                </c:pt>
                <c:pt idx="1924">
                  <c:v>45429</c:v>
                </c:pt>
                <c:pt idx="1925">
                  <c:v>45432</c:v>
                </c:pt>
                <c:pt idx="1926">
                  <c:v>45433</c:v>
                </c:pt>
                <c:pt idx="1927">
                  <c:v>45434</c:v>
                </c:pt>
                <c:pt idx="1928">
                  <c:v>45435</c:v>
                </c:pt>
                <c:pt idx="1929">
                  <c:v>45436</c:v>
                </c:pt>
                <c:pt idx="1930">
                  <c:v>45439</c:v>
                </c:pt>
                <c:pt idx="1931">
                  <c:v>45440</c:v>
                </c:pt>
                <c:pt idx="1932">
                  <c:v>45441</c:v>
                </c:pt>
                <c:pt idx="1933">
                  <c:v>45442</c:v>
                </c:pt>
                <c:pt idx="1934">
                  <c:v>45443</c:v>
                </c:pt>
                <c:pt idx="1935">
                  <c:v>45446</c:v>
                </c:pt>
                <c:pt idx="1936">
                  <c:v>45447</c:v>
                </c:pt>
                <c:pt idx="1937">
                  <c:v>45448</c:v>
                </c:pt>
                <c:pt idx="1938">
                  <c:v>45449</c:v>
                </c:pt>
                <c:pt idx="1939">
                  <c:v>45450</c:v>
                </c:pt>
                <c:pt idx="1940">
                  <c:v>45453</c:v>
                </c:pt>
                <c:pt idx="1941">
                  <c:v>45454</c:v>
                </c:pt>
                <c:pt idx="1942">
                  <c:v>45455</c:v>
                </c:pt>
                <c:pt idx="1943">
                  <c:v>45456</c:v>
                </c:pt>
                <c:pt idx="1944">
                  <c:v>45457</c:v>
                </c:pt>
                <c:pt idx="1945">
                  <c:v>45460</c:v>
                </c:pt>
                <c:pt idx="1946">
                  <c:v>45461</c:v>
                </c:pt>
                <c:pt idx="1947">
                  <c:v>45462</c:v>
                </c:pt>
                <c:pt idx="1948">
                  <c:v>45463</c:v>
                </c:pt>
                <c:pt idx="1949">
                  <c:v>45464</c:v>
                </c:pt>
                <c:pt idx="1950">
                  <c:v>45467</c:v>
                </c:pt>
                <c:pt idx="1951">
                  <c:v>45468</c:v>
                </c:pt>
                <c:pt idx="1952">
                  <c:v>45469</c:v>
                </c:pt>
                <c:pt idx="1953">
                  <c:v>45470</c:v>
                </c:pt>
                <c:pt idx="1954">
                  <c:v>45471</c:v>
                </c:pt>
                <c:pt idx="1955">
                  <c:v>45474</c:v>
                </c:pt>
                <c:pt idx="1956">
                  <c:v>45475</c:v>
                </c:pt>
                <c:pt idx="1957">
                  <c:v>45476</c:v>
                </c:pt>
                <c:pt idx="1958">
                  <c:v>45477</c:v>
                </c:pt>
                <c:pt idx="1959">
                  <c:v>45478</c:v>
                </c:pt>
                <c:pt idx="1960">
                  <c:v>45481</c:v>
                </c:pt>
                <c:pt idx="1961">
                  <c:v>45482</c:v>
                </c:pt>
                <c:pt idx="1962">
                  <c:v>45483</c:v>
                </c:pt>
                <c:pt idx="1963">
                  <c:v>45484</c:v>
                </c:pt>
                <c:pt idx="1964">
                  <c:v>45485</c:v>
                </c:pt>
                <c:pt idx="1965">
                  <c:v>45488</c:v>
                </c:pt>
                <c:pt idx="1966">
                  <c:v>45489</c:v>
                </c:pt>
                <c:pt idx="1967">
                  <c:v>45490</c:v>
                </c:pt>
                <c:pt idx="1968">
                  <c:v>45491</c:v>
                </c:pt>
                <c:pt idx="1969">
                  <c:v>45492</c:v>
                </c:pt>
                <c:pt idx="1970">
                  <c:v>45495</c:v>
                </c:pt>
                <c:pt idx="1971">
                  <c:v>45496</c:v>
                </c:pt>
                <c:pt idx="1972">
                  <c:v>45497</c:v>
                </c:pt>
                <c:pt idx="1973">
                  <c:v>45498</c:v>
                </c:pt>
                <c:pt idx="1974">
                  <c:v>45499</c:v>
                </c:pt>
                <c:pt idx="1975">
                  <c:v>45502</c:v>
                </c:pt>
                <c:pt idx="1976">
                  <c:v>45503</c:v>
                </c:pt>
                <c:pt idx="1977">
                  <c:v>45504</c:v>
                </c:pt>
                <c:pt idx="1978">
                  <c:v>45505</c:v>
                </c:pt>
                <c:pt idx="1979">
                  <c:v>45506</c:v>
                </c:pt>
                <c:pt idx="1980">
                  <c:v>45509</c:v>
                </c:pt>
                <c:pt idx="1981">
                  <c:v>45510</c:v>
                </c:pt>
                <c:pt idx="1982">
                  <c:v>45511</c:v>
                </c:pt>
                <c:pt idx="1983">
                  <c:v>45512</c:v>
                </c:pt>
                <c:pt idx="1984">
                  <c:v>45513</c:v>
                </c:pt>
                <c:pt idx="1985">
                  <c:v>45516</c:v>
                </c:pt>
                <c:pt idx="1986">
                  <c:v>45517</c:v>
                </c:pt>
                <c:pt idx="1987">
                  <c:v>45518</c:v>
                </c:pt>
                <c:pt idx="1988">
                  <c:v>45519</c:v>
                </c:pt>
                <c:pt idx="1989">
                  <c:v>45520</c:v>
                </c:pt>
                <c:pt idx="1990">
                  <c:v>45523</c:v>
                </c:pt>
                <c:pt idx="1991">
                  <c:v>45524</c:v>
                </c:pt>
                <c:pt idx="1992">
                  <c:v>45525</c:v>
                </c:pt>
                <c:pt idx="1993">
                  <c:v>45526</c:v>
                </c:pt>
                <c:pt idx="1994">
                  <c:v>45527</c:v>
                </c:pt>
                <c:pt idx="1995">
                  <c:v>45530</c:v>
                </c:pt>
                <c:pt idx="1996">
                  <c:v>45531</c:v>
                </c:pt>
                <c:pt idx="1997">
                  <c:v>45532</c:v>
                </c:pt>
                <c:pt idx="1998">
                  <c:v>45533</c:v>
                </c:pt>
                <c:pt idx="1999">
                  <c:v>45534</c:v>
                </c:pt>
                <c:pt idx="2000">
                  <c:v>45537</c:v>
                </c:pt>
                <c:pt idx="2001">
                  <c:v>45538</c:v>
                </c:pt>
                <c:pt idx="2002">
                  <c:v>45539</c:v>
                </c:pt>
                <c:pt idx="2003">
                  <c:v>45540</c:v>
                </c:pt>
                <c:pt idx="2004">
                  <c:v>45541</c:v>
                </c:pt>
                <c:pt idx="2005">
                  <c:v>45544</c:v>
                </c:pt>
                <c:pt idx="2006">
                  <c:v>45545</c:v>
                </c:pt>
                <c:pt idx="2007">
                  <c:v>45546</c:v>
                </c:pt>
                <c:pt idx="2008">
                  <c:v>45547</c:v>
                </c:pt>
                <c:pt idx="2009">
                  <c:v>45548</c:v>
                </c:pt>
                <c:pt idx="2010">
                  <c:v>45551</c:v>
                </c:pt>
                <c:pt idx="2011">
                  <c:v>45552</c:v>
                </c:pt>
                <c:pt idx="2012">
                  <c:v>45553</c:v>
                </c:pt>
                <c:pt idx="2013">
                  <c:v>45554</c:v>
                </c:pt>
                <c:pt idx="2014">
                  <c:v>45555</c:v>
                </c:pt>
                <c:pt idx="2015">
                  <c:v>45558</c:v>
                </c:pt>
                <c:pt idx="2016">
                  <c:v>45559</c:v>
                </c:pt>
                <c:pt idx="2017">
                  <c:v>45560</c:v>
                </c:pt>
                <c:pt idx="2018">
                  <c:v>45561</c:v>
                </c:pt>
                <c:pt idx="2019">
                  <c:v>45562</c:v>
                </c:pt>
                <c:pt idx="2020">
                  <c:v>45565</c:v>
                </c:pt>
                <c:pt idx="2021">
                  <c:v>45566</c:v>
                </c:pt>
                <c:pt idx="2022">
                  <c:v>45567</c:v>
                </c:pt>
                <c:pt idx="2023">
                  <c:v>45568</c:v>
                </c:pt>
                <c:pt idx="2024">
                  <c:v>45569</c:v>
                </c:pt>
                <c:pt idx="2025">
                  <c:v>45572</c:v>
                </c:pt>
                <c:pt idx="2026">
                  <c:v>45573</c:v>
                </c:pt>
                <c:pt idx="2027">
                  <c:v>45574</c:v>
                </c:pt>
                <c:pt idx="2028">
                  <c:v>45575</c:v>
                </c:pt>
                <c:pt idx="2029">
                  <c:v>45576</c:v>
                </c:pt>
                <c:pt idx="2030">
                  <c:v>45579</c:v>
                </c:pt>
                <c:pt idx="2031">
                  <c:v>45580</c:v>
                </c:pt>
                <c:pt idx="2032">
                  <c:v>45581</c:v>
                </c:pt>
                <c:pt idx="2033">
                  <c:v>45582</c:v>
                </c:pt>
                <c:pt idx="2034">
                  <c:v>45583</c:v>
                </c:pt>
                <c:pt idx="2035">
                  <c:v>45586</c:v>
                </c:pt>
                <c:pt idx="2036">
                  <c:v>45587</c:v>
                </c:pt>
                <c:pt idx="2037">
                  <c:v>45588</c:v>
                </c:pt>
                <c:pt idx="2038">
                  <c:v>45589</c:v>
                </c:pt>
                <c:pt idx="2039">
                  <c:v>45590</c:v>
                </c:pt>
                <c:pt idx="2040">
                  <c:v>45593</c:v>
                </c:pt>
                <c:pt idx="2041">
                  <c:v>45594</c:v>
                </c:pt>
                <c:pt idx="2042">
                  <c:v>45595</c:v>
                </c:pt>
                <c:pt idx="2043">
                  <c:v>45596</c:v>
                </c:pt>
                <c:pt idx="2044">
                  <c:v>45597</c:v>
                </c:pt>
                <c:pt idx="2045">
                  <c:v>45600</c:v>
                </c:pt>
                <c:pt idx="2046">
                  <c:v>45601</c:v>
                </c:pt>
                <c:pt idx="2047">
                  <c:v>45602</c:v>
                </c:pt>
                <c:pt idx="2048">
                  <c:v>45603</c:v>
                </c:pt>
                <c:pt idx="2049">
                  <c:v>45604</c:v>
                </c:pt>
                <c:pt idx="2050">
                  <c:v>45607</c:v>
                </c:pt>
                <c:pt idx="2051">
                  <c:v>45608</c:v>
                </c:pt>
                <c:pt idx="2052">
                  <c:v>45609</c:v>
                </c:pt>
                <c:pt idx="2053">
                  <c:v>45610</c:v>
                </c:pt>
                <c:pt idx="2054">
                  <c:v>45611</c:v>
                </c:pt>
                <c:pt idx="2055">
                  <c:v>45614</c:v>
                </c:pt>
                <c:pt idx="2056">
                  <c:v>45615</c:v>
                </c:pt>
                <c:pt idx="2057">
                  <c:v>45616</c:v>
                </c:pt>
                <c:pt idx="2058">
                  <c:v>45617</c:v>
                </c:pt>
                <c:pt idx="2059">
                  <c:v>45618</c:v>
                </c:pt>
                <c:pt idx="2060">
                  <c:v>45621</c:v>
                </c:pt>
                <c:pt idx="2061">
                  <c:v>45622</c:v>
                </c:pt>
                <c:pt idx="2062">
                  <c:v>45623</c:v>
                </c:pt>
                <c:pt idx="2063">
                  <c:v>45624</c:v>
                </c:pt>
                <c:pt idx="2064">
                  <c:v>45625</c:v>
                </c:pt>
                <c:pt idx="2065">
                  <c:v>45628</c:v>
                </c:pt>
                <c:pt idx="2066">
                  <c:v>45629</c:v>
                </c:pt>
                <c:pt idx="2067">
                  <c:v>45630</c:v>
                </c:pt>
                <c:pt idx="2068">
                  <c:v>45631</c:v>
                </c:pt>
                <c:pt idx="2069">
                  <c:v>45632</c:v>
                </c:pt>
              </c:numCache>
            </c:numRef>
          </c:cat>
          <c:val>
            <c:numRef>
              <c:f>OMC!$J$2833:$J$4902</c:f>
              <c:numCache>
                <c:formatCode>0%</c:formatCode>
                <c:ptCount val="2070"/>
                <c:pt idx="0">
                  <c:v>-2.637910260210008E-2</c:v>
                </c:pt>
                <c:pt idx="1">
                  <c:v>-3.5562004242647882E-2</c:v>
                </c:pt>
                <c:pt idx="2">
                  <c:v>-3.4248477279599787E-2</c:v>
                </c:pt>
                <c:pt idx="3">
                  <c:v>-4.0383745673755578E-2</c:v>
                </c:pt>
                <c:pt idx="4">
                  <c:v>-3.5727447435404014E-2</c:v>
                </c:pt>
                <c:pt idx="5">
                  <c:v>-3.6986088152550889E-2</c:v>
                </c:pt>
                <c:pt idx="6">
                  <c:v>-3.8429767461320652E-2</c:v>
                </c:pt>
                <c:pt idx="7">
                  <c:v>-3.3982186763931499E-2</c:v>
                </c:pt>
                <c:pt idx="8">
                  <c:v>-3.6224798135571779E-2</c:v>
                </c:pt>
                <c:pt idx="9">
                  <c:v>-3.6906393503179036E-2</c:v>
                </c:pt>
                <c:pt idx="10">
                  <c:v>-3.6495254941139921E-2</c:v>
                </c:pt>
                <c:pt idx="11">
                  <c:v>-3.935816215827459E-2</c:v>
                </c:pt>
                <c:pt idx="12">
                  <c:v>-3.6805548447244152E-2</c:v>
                </c:pt>
                <c:pt idx="13">
                  <c:v>-3.9791570187750258E-2</c:v>
                </c:pt>
                <c:pt idx="14">
                  <c:v>-3.6059405329322614E-2</c:v>
                </c:pt>
                <c:pt idx="15">
                  <c:v>-3.3738265078263718E-2</c:v>
                </c:pt>
                <c:pt idx="16">
                  <c:v>-2.9440213501976564E-2</c:v>
                </c:pt>
                <c:pt idx="17">
                  <c:v>-3.0889035585529245E-2</c:v>
                </c:pt>
                <c:pt idx="18">
                  <c:v>-2.3188636818159636E-2</c:v>
                </c:pt>
                <c:pt idx="19">
                  <c:v>-2.2444617695769775E-2</c:v>
                </c:pt>
                <c:pt idx="20">
                  <c:v>-1.5713232768863605E-2</c:v>
                </c:pt>
                <c:pt idx="21">
                  <c:v>-3.0889162976069584E-2</c:v>
                </c:pt>
                <c:pt idx="22">
                  <c:v>-3.7699438679670849E-2</c:v>
                </c:pt>
                <c:pt idx="23">
                  <c:v>-3.574388272002138E-2</c:v>
                </c:pt>
                <c:pt idx="24">
                  <c:v>-3.7931568079521805E-2</c:v>
                </c:pt>
                <c:pt idx="25">
                  <c:v>-1.6421057359135238E-2</c:v>
                </c:pt>
                <c:pt idx="26">
                  <c:v>-4.9388131890480302E-2</c:v>
                </c:pt>
                <c:pt idx="27">
                  <c:v>-4.3448848321124722E-2</c:v>
                </c:pt>
                <c:pt idx="28">
                  <c:v>-5.3204312204018889E-2</c:v>
                </c:pt>
                <c:pt idx="29">
                  <c:v>-4.8829961105594233E-2</c:v>
                </c:pt>
                <c:pt idx="30">
                  <c:v>-4.7328523671708811E-2</c:v>
                </c:pt>
                <c:pt idx="31">
                  <c:v>-6.1207839154915566E-2</c:v>
                </c:pt>
                <c:pt idx="32">
                  <c:v>-5.891039843872814E-2</c:v>
                </c:pt>
                <c:pt idx="33">
                  <c:v>-6.1932785546872426E-2</c:v>
                </c:pt>
                <c:pt idx="34">
                  <c:v>-6.2726335778121922E-2</c:v>
                </c:pt>
                <c:pt idx="35">
                  <c:v>-6.2614385720062615E-2</c:v>
                </c:pt>
                <c:pt idx="36">
                  <c:v>-6.8394398886414076E-2</c:v>
                </c:pt>
                <c:pt idx="37">
                  <c:v>-6.8106215478295762E-2</c:v>
                </c:pt>
                <c:pt idx="38">
                  <c:v>-6.7753898909221899E-2</c:v>
                </c:pt>
                <c:pt idx="39">
                  <c:v>-6.0375253261637396E-2</c:v>
                </c:pt>
                <c:pt idx="40">
                  <c:v>-6.0975785322093912E-2</c:v>
                </c:pt>
                <c:pt idx="41">
                  <c:v>-7.1584832290081946E-2</c:v>
                </c:pt>
                <c:pt idx="42">
                  <c:v>-7.1510684396082991E-2</c:v>
                </c:pt>
                <c:pt idx="43">
                  <c:v>-6.7776429940677785E-2</c:v>
                </c:pt>
                <c:pt idx="44">
                  <c:v>-7.7991702263971563E-2</c:v>
                </c:pt>
                <c:pt idx="45">
                  <c:v>-8.4090617734929429E-2</c:v>
                </c:pt>
                <c:pt idx="46">
                  <c:v>-8.6109268244839221E-2</c:v>
                </c:pt>
                <c:pt idx="47">
                  <c:v>-7.3081486008628405E-2</c:v>
                </c:pt>
                <c:pt idx="48">
                  <c:v>-7.5116578341706264E-2</c:v>
                </c:pt>
                <c:pt idx="49">
                  <c:v>-8.4003123202094465E-2</c:v>
                </c:pt>
                <c:pt idx="50">
                  <c:v>-8.5556386915211724E-2</c:v>
                </c:pt>
                <c:pt idx="51">
                  <c:v>-8.1703875100828327E-2</c:v>
                </c:pt>
                <c:pt idx="52">
                  <c:v>-8.4027586973857593E-2</c:v>
                </c:pt>
                <c:pt idx="53">
                  <c:v>-8.2619119914385419E-2</c:v>
                </c:pt>
                <c:pt idx="54">
                  <c:v>-8.0030416623823042E-2</c:v>
                </c:pt>
                <c:pt idx="55">
                  <c:v>-7.7524702445057714E-2</c:v>
                </c:pt>
                <c:pt idx="56">
                  <c:v>-6.8650079229146233E-2</c:v>
                </c:pt>
                <c:pt idx="57">
                  <c:v>-6.7141845424551594E-2</c:v>
                </c:pt>
                <c:pt idx="58">
                  <c:v>-6.7320686955425368E-2</c:v>
                </c:pt>
                <c:pt idx="59">
                  <c:v>-6.7459935261517057E-2</c:v>
                </c:pt>
                <c:pt idx="60">
                  <c:v>-6.7263803239353326E-2</c:v>
                </c:pt>
                <c:pt idx="61">
                  <c:v>-6.2024973576875198E-2</c:v>
                </c:pt>
                <c:pt idx="62">
                  <c:v>-6.5254893381012757E-2</c:v>
                </c:pt>
                <c:pt idx="63">
                  <c:v>-6.0143965740215299E-2</c:v>
                </c:pt>
                <c:pt idx="64">
                  <c:v>-5.4253397303249851E-2</c:v>
                </c:pt>
                <c:pt idx="65">
                  <c:v>-5.859757550568101E-2</c:v>
                </c:pt>
                <c:pt idx="66">
                  <c:v>-5.6807697398542079E-2</c:v>
                </c:pt>
                <c:pt idx="67">
                  <c:v>-5.6827669487862331E-2</c:v>
                </c:pt>
                <c:pt idx="68">
                  <c:v>-5.7927174078227672E-2</c:v>
                </c:pt>
                <c:pt idx="69">
                  <c:v>-5.528225226623118E-2</c:v>
                </c:pt>
                <c:pt idx="70">
                  <c:v>-6.3585327489210641E-2</c:v>
                </c:pt>
                <c:pt idx="71">
                  <c:v>-6.4771389180853456E-2</c:v>
                </c:pt>
                <c:pt idx="72">
                  <c:v>-6.3430568910092244E-2</c:v>
                </c:pt>
                <c:pt idx="73">
                  <c:v>-5.9479059307018356E-2</c:v>
                </c:pt>
                <c:pt idx="74">
                  <c:v>-5.9176088962115903E-2</c:v>
                </c:pt>
                <c:pt idx="75">
                  <c:v>-4.8214862814769721E-2</c:v>
                </c:pt>
                <c:pt idx="76">
                  <c:v>-7.186938799101017E-2</c:v>
                </c:pt>
                <c:pt idx="77">
                  <c:v>-6.7808338110772914E-2</c:v>
                </c:pt>
                <c:pt idx="78">
                  <c:v>-6.904249159915743E-2</c:v>
                </c:pt>
                <c:pt idx="79">
                  <c:v>-7.4046333441144419E-2</c:v>
                </c:pt>
                <c:pt idx="80">
                  <c:v>-8.3444768038920869E-2</c:v>
                </c:pt>
                <c:pt idx="81">
                  <c:v>-8.4944415845843668E-2</c:v>
                </c:pt>
                <c:pt idx="82">
                  <c:v>-9.2208528698138892E-2</c:v>
                </c:pt>
                <c:pt idx="83">
                  <c:v>-9.1686859158274014E-2</c:v>
                </c:pt>
                <c:pt idx="84">
                  <c:v>-9.9920888295661259E-2</c:v>
                </c:pt>
                <c:pt idx="85">
                  <c:v>-9.5008338117640534E-2</c:v>
                </c:pt>
                <c:pt idx="86">
                  <c:v>-9.2387914922952508E-2</c:v>
                </c:pt>
                <c:pt idx="87">
                  <c:v>-9.136775331630731E-2</c:v>
                </c:pt>
                <c:pt idx="88">
                  <c:v>-9.1440490910742023E-2</c:v>
                </c:pt>
                <c:pt idx="89">
                  <c:v>-8.989502012932149E-2</c:v>
                </c:pt>
                <c:pt idx="90">
                  <c:v>-8.6997645073403573E-2</c:v>
                </c:pt>
                <c:pt idx="91">
                  <c:v>-8.2591182576742472E-2</c:v>
                </c:pt>
                <c:pt idx="92">
                  <c:v>-8.2922252518700335E-2</c:v>
                </c:pt>
                <c:pt idx="93">
                  <c:v>-8.2378751105955383E-2</c:v>
                </c:pt>
                <c:pt idx="94">
                  <c:v>-8.9983341480940449E-2</c:v>
                </c:pt>
                <c:pt idx="95">
                  <c:v>-0.10287830968243039</c:v>
                </c:pt>
                <c:pt idx="96">
                  <c:v>-0.10633971885528692</c:v>
                </c:pt>
                <c:pt idx="97">
                  <c:v>-9.2708995676920147E-2</c:v>
                </c:pt>
                <c:pt idx="98">
                  <c:v>-8.8410053969270486E-2</c:v>
                </c:pt>
                <c:pt idx="99">
                  <c:v>-8.3262904458231368E-2</c:v>
                </c:pt>
                <c:pt idx="100">
                  <c:v>-8.343563405524046E-2</c:v>
                </c:pt>
                <c:pt idx="101">
                  <c:v>-9.3902124121588715E-2</c:v>
                </c:pt>
                <c:pt idx="102">
                  <c:v>-9.3504809431011249E-2</c:v>
                </c:pt>
                <c:pt idx="103">
                  <c:v>-9.2763727299458476E-2</c:v>
                </c:pt>
                <c:pt idx="104">
                  <c:v>-9.6611649406750821E-2</c:v>
                </c:pt>
                <c:pt idx="105">
                  <c:v>-9.6393333025119099E-2</c:v>
                </c:pt>
                <c:pt idx="106">
                  <c:v>-9.3801783377461923E-2</c:v>
                </c:pt>
                <c:pt idx="107">
                  <c:v>-9.0363733859797346E-2</c:v>
                </c:pt>
                <c:pt idx="108">
                  <c:v>-8.0794315166331954E-2</c:v>
                </c:pt>
                <c:pt idx="109">
                  <c:v>-8.5833458172564381E-2</c:v>
                </c:pt>
                <c:pt idx="110">
                  <c:v>-9.200704924511538E-2</c:v>
                </c:pt>
                <c:pt idx="111">
                  <c:v>-0.1057973469975183</c:v>
                </c:pt>
                <c:pt idx="112">
                  <c:v>-0.12799136163120228</c:v>
                </c:pt>
                <c:pt idx="113">
                  <c:v>-0.1337139454880012</c:v>
                </c:pt>
                <c:pt idx="114">
                  <c:v>-0.11948651586965731</c:v>
                </c:pt>
                <c:pt idx="115">
                  <c:v>-0.11882365413121254</c:v>
                </c:pt>
                <c:pt idx="116">
                  <c:v>-0.11931075278925329</c:v>
                </c:pt>
                <c:pt idx="117">
                  <c:v>-0.11137342796792205</c:v>
                </c:pt>
                <c:pt idx="118">
                  <c:v>-0.1046839351069051</c:v>
                </c:pt>
                <c:pt idx="119">
                  <c:v>-0.10007161193826986</c:v>
                </c:pt>
                <c:pt idx="120">
                  <c:v>-0.10095887296914963</c:v>
                </c:pt>
                <c:pt idx="121">
                  <c:v>-0.10851843632569147</c:v>
                </c:pt>
                <c:pt idx="122">
                  <c:v>-0.10591669617786303</c:v>
                </c:pt>
                <c:pt idx="123">
                  <c:v>-0.10940443108777009</c:v>
                </c:pt>
                <c:pt idx="124">
                  <c:v>-0.10918914132455992</c:v>
                </c:pt>
                <c:pt idx="125">
                  <c:v>-0.10533587956955148</c:v>
                </c:pt>
                <c:pt idx="126">
                  <c:v>-9.4614622847499774E-2</c:v>
                </c:pt>
                <c:pt idx="127">
                  <c:v>-0.10055095354767607</c:v>
                </c:pt>
                <c:pt idx="128">
                  <c:v>-9.331884701237414E-2</c:v>
                </c:pt>
                <c:pt idx="129">
                  <c:v>-9.7449684437141526E-2</c:v>
                </c:pt>
                <c:pt idx="130">
                  <c:v>-9.6911537657737745E-2</c:v>
                </c:pt>
                <c:pt idx="131">
                  <c:v>-9.6984257806160823E-2</c:v>
                </c:pt>
                <c:pt idx="132">
                  <c:v>-9.7861420728935777E-2</c:v>
                </c:pt>
                <c:pt idx="133">
                  <c:v>-0.10799466432774174</c:v>
                </c:pt>
                <c:pt idx="134">
                  <c:v>-0.11430801012708325</c:v>
                </c:pt>
                <c:pt idx="135">
                  <c:v>-0.1247937529698141</c:v>
                </c:pt>
                <c:pt idx="136">
                  <c:v>-0.12899586855960454</c:v>
                </c:pt>
                <c:pt idx="137">
                  <c:v>-0.14075107055394642</c:v>
                </c:pt>
                <c:pt idx="138">
                  <c:v>-0.13792495360410306</c:v>
                </c:pt>
                <c:pt idx="139">
                  <c:v>-0.13936281830889108</c:v>
                </c:pt>
                <c:pt idx="140">
                  <c:v>-0.13270773182099849</c:v>
                </c:pt>
                <c:pt idx="141">
                  <c:v>-0.13786020670720123</c:v>
                </c:pt>
                <c:pt idx="142">
                  <c:v>-0.14636013507146994</c:v>
                </c:pt>
                <c:pt idx="143">
                  <c:v>-0.1256491869325348</c:v>
                </c:pt>
                <c:pt idx="144">
                  <c:v>-0.12381835960957954</c:v>
                </c:pt>
                <c:pt idx="145">
                  <c:v>-0.13036073379191948</c:v>
                </c:pt>
                <c:pt idx="146">
                  <c:v>-0.1600746679543692</c:v>
                </c:pt>
                <c:pt idx="147">
                  <c:v>-0.16610859092747265</c:v>
                </c:pt>
                <c:pt idx="148">
                  <c:v>-0.16310808987815517</c:v>
                </c:pt>
                <c:pt idx="149">
                  <c:v>-0.1617891119438386</c:v>
                </c:pt>
                <c:pt idx="150">
                  <c:v>-0.16285780762700586</c:v>
                </c:pt>
                <c:pt idx="151">
                  <c:v>-0.1602519585420038</c:v>
                </c:pt>
                <c:pt idx="152">
                  <c:v>-0.16420568046582085</c:v>
                </c:pt>
                <c:pt idx="153">
                  <c:v>-0.153285843518155</c:v>
                </c:pt>
                <c:pt idx="154">
                  <c:v>-0.15931514750239173</c:v>
                </c:pt>
                <c:pt idx="155">
                  <c:v>-0.16173353384984313</c:v>
                </c:pt>
                <c:pt idx="156">
                  <c:v>-0.16470555707485079</c:v>
                </c:pt>
                <c:pt idx="157">
                  <c:v>-0.16200625293437798</c:v>
                </c:pt>
                <c:pt idx="158">
                  <c:v>-0.15908673367590431</c:v>
                </c:pt>
                <c:pt idx="159">
                  <c:v>-0.16176266969132658</c:v>
                </c:pt>
                <c:pt idx="160">
                  <c:v>-0.16301423979254426</c:v>
                </c:pt>
                <c:pt idx="161">
                  <c:v>-0.16390548807522243</c:v>
                </c:pt>
                <c:pt idx="162">
                  <c:v>-0.16129947311185744</c:v>
                </c:pt>
                <c:pt idx="163">
                  <c:v>-0.15918091735634488</c:v>
                </c:pt>
                <c:pt idx="164">
                  <c:v>-0.16713461059016765</c:v>
                </c:pt>
                <c:pt idx="165">
                  <c:v>-0.16655291236295666</c:v>
                </c:pt>
                <c:pt idx="166">
                  <c:v>-0.16186662727525036</c:v>
                </c:pt>
                <c:pt idx="167">
                  <c:v>-0.21535634226542055</c:v>
                </c:pt>
                <c:pt idx="168">
                  <c:v>-0.21066827917294684</c:v>
                </c:pt>
                <c:pt idx="169">
                  <c:v>-0.21033425384899396</c:v>
                </c:pt>
                <c:pt idx="170">
                  <c:v>-0.20997076341746723</c:v>
                </c:pt>
                <c:pt idx="171">
                  <c:v>-0.21466809076337912</c:v>
                </c:pt>
                <c:pt idx="172">
                  <c:v>-0.22382216928926602</c:v>
                </c:pt>
                <c:pt idx="173">
                  <c:v>-0.2275964092934728</c:v>
                </c:pt>
                <c:pt idx="174">
                  <c:v>-0.23420828347814526</c:v>
                </c:pt>
                <c:pt idx="175">
                  <c:v>-0.23382468951480528</c:v>
                </c:pt>
                <c:pt idx="176">
                  <c:v>-0.23105498147828984</c:v>
                </c:pt>
                <c:pt idx="177">
                  <c:v>-0.21873805536075197</c:v>
                </c:pt>
                <c:pt idx="178">
                  <c:v>-0.22521515956873361</c:v>
                </c:pt>
                <c:pt idx="179">
                  <c:v>-0.22004949107613692</c:v>
                </c:pt>
                <c:pt idx="180">
                  <c:v>-0.22310712228035123</c:v>
                </c:pt>
                <c:pt idx="181">
                  <c:v>-0.23007225519177454</c:v>
                </c:pt>
                <c:pt idx="182">
                  <c:v>-0.22309536058655666</c:v>
                </c:pt>
                <c:pt idx="183">
                  <c:v>-0.2257856862982468</c:v>
                </c:pt>
                <c:pt idx="184">
                  <c:v>-0.22983915792364806</c:v>
                </c:pt>
                <c:pt idx="185">
                  <c:v>-0.23348004728439409</c:v>
                </c:pt>
                <c:pt idx="186">
                  <c:v>-0.23380738348359253</c:v>
                </c:pt>
                <c:pt idx="187">
                  <c:v>-0.21751654505358065</c:v>
                </c:pt>
                <c:pt idx="188">
                  <c:v>-0.2164979733682576</c:v>
                </c:pt>
                <c:pt idx="189">
                  <c:v>-0.2088796824177136</c:v>
                </c:pt>
                <c:pt idx="190">
                  <c:v>-0.19766785277923171</c:v>
                </c:pt>
                <c:pt idx="191">
                  <c:v>-0.20535388098978169</c:v>
                </c:pt>
                <c:pt idx="192">
                  <c:v>-0.20522729519415517</c:v>
                </c:pt>
                <c:pt idx="193">
                  <c:v>-0.21854812514733801</c:v>
                </c:pt>
                <c:pt idx="194">
                  <c:v>-0.2231809311963886</c:v>
                </c:pt>
                <c:pt idx="195">
                  <c:v>-0.2103522469189878</c:v>
                </c:pt>
                <c:pt idx="196">
                  <c:v>-0.22044308875222662</c:v>
                </c:pt>
                <c:pt idx="197">
                  <c:v>-0.20953357795405247</c:v>
                </c:pt>
                <c:pt idx="198">
                  <c:v>-0.20846624714333539</c:v>
                </c:pt>
                <c:pt idx="199">
                  <c:v>-0.21738881678779598</c:v>
                </c:pt>
                <c:pt idx="200">
                  <c:v>-0.2232531670139557</c:v>
                </c:pt>
                <c:pt idx="201">
                  <c:v>-0.22719041938913631</c:v>
                </c:pt>
                <c:pt idx="202">
                  <c:v>-0.22897238853490864</c:v>
                </c:pt>
                <c:pt idx="203">
                  <c:v>-0.22813181252958026</c:v>
                </c:pt>
                <c:pt idx="204">
                  <c:v>-0.2202506370876689</c:v>
                </c:pt>
                <c:pt idx="205">
                  <c:v>-0.23329251806891371</c:v>
                </c:pt>
                <c:pt idx="206">
                  <c:v>-0.22152965582528861</c:v>
                </c:pt>
                <c:pt idx="207">
                  <c:v>-0.22433311090413965</c:v>
                </c:pt>
                <c:pt idx="208">
                  <c:v>-0.24991058916140385</c:v>
                </c:pt>
                <c:pt idx="209">
                  <c:v>-0.24645446131131898</c:v>
                </c:pt>
                <c:pt idx="210">
                  <c:v>-0.25328159817683682</c:v>
                </c:pt>
                <c:pt idx="211">
                  <c:v>-0.27528368395223468</c:v>
                </c:pt>
                <c:pt idx="212">
                  <c:v>-0.28298436623759549</c:v>
                </c:pt>
                <c:pt idx="213">
                  <c:v>-0.27813662202563338</c:v>
                </c:pt>
                <c:pt idx="214">
                  <c:v>-0.30133015915911388</c:v>
                </c:pt>
                <c:pt idx="215">
                  <c:v>-0.3094169826990063</c:v>
                </c:pt>
                <c:pt idx="216">
                  <c:v>-0.31409083331160803</c:v>
                </c:pt>
                <c:pt idx="217">
                  <c:v>-0.31091914681406085</c:v>
                </c:pt>
                <c:pt idx="218">
                  <c:v>-0.3255397451055817</c:v>
                </c:pt>
                <c:pt idx="219">
                  <c:v>-0.32725737351766071</c:v>
                </c:pt>
                <c:pt idx="220">
                  <c:v>-0.32519584355054887</c:v>
                </c:pt>
                <c:pt idx="221">
                  <c:v>-0.33525080858518808</c:v>
                </c:pt>
                <c:pt idx="222">
                  <c:v>-0.33547016921418349</c:v>
                </c:pt>
                <c:pt idx="223">
                  <c:v>-0.31583148810154715</c:v>
                </c:pt>
                <c:pt idx="224">
                  <c:v>-0.31239441288708014</c:v>
                </c:pt>
                <c:pt idx="225">
                  <c:v>-0.30917584403075327</c:v>
                </c:pt>
                <c:pt idx="226">
                  <c:v>-0.31031550678916631</c:v>
                </c:pt>
                <c:pt idx="227">
                  <c:v>-0.31177237997550089</c:v>
                </c:pt>
                <c:pt idx="228">
                  <c:v>-0.31383599318064836</c:v>
                </c:pt>
                <c:pt idx="229">
                  <c:v>-0.29144337022088052</c:v>
                </c:pt>
                <c:pt idx="230">
                  <c:v>-0.29039412967438938</c:v>
                </c:pt>
                <c:pt idx="231">
                  <c:v>-0.29536015475484723</c:v>
                </c:pt>
                <c:pt idx="232">
                  <c:v>-0.30152962340467659</c:v>
                </c:pt>
                <c:pt idx="233">
                  <c:v>-0.30140810412464492</c:v>
                </c:pt>
                <c:pt idx="234">
                  <c:v>-0.301890997234051</c:v>
                </c:pt>
                <c:pt idx="235">
                  <c:v>-0.30254104663656167</c:v>
                </c:pt>
                <c:pt idx="236">
                  <c:v>-0.29124484655815186</c:v>
                </c:pt>
                <c:pt idx="237">
                  <c:v>-0.26793861950048747</c:v>
                </c:pt>
                <c:pt idx="238">
                  <c:v>-0.28872662525657089</c:v>
                </c:pt>
                <c:pt idx="239">
                  <c:v>-0.26774906425328693</c:v>
                </c:pt>
                <c:pt idx="240">
                  <c:v>-0.25347826871167367</c:v>
                </c:pt>
                <c:pt idx="241">
                  <c:v>-0.24439816773967338</c:v>
                </c:pt>
                <c:pt idx="242">
                  <c:v>-0.25267218278779069</c:v>
                </c:pt>
                <c:pt idx="243">
                  <c:v>-0.2688617366594136</c:v>
                </c:pt>
                <c:pt idx="244">
                  <c:v>-0.26898695122432703</c:v>
                </c:pt>
                <c:pt idx="245">
                  <c:v>-0.26116656279899131</c:v>
                </c:pt>
                <c:pt idx="246">
                  <c:v>-0.26123127863179407</c:v>
                </c:pt>
                <c:pt idx="247">
                  <c:v>-0.26712074420757248</c:v>
                </c:pt>
                <c:pt idx="248">
                  <c:v>-0.26989227591600906</c:v>
                </c:pt>
                <c:pt idx="249">
                  <c:v>-0.26358290956514119</c:v>
                </c:pt>
                <c:pt idx="250">
                  <c:v>-0.27409430107736021</c:v>
                </c:pt>
                <c:pt idx="251">
                  <c:v>-0.26698724023509735</c:v>
                </c:pt>
                <c:pt idx="252">
                  <c:v>-0.26314147214429073</c:v>
                </c:pt>
                <c:pt idx="253">
                  <c:v>-0.26322105776319005</c:v>
                </c:pt>
                <c:pt idx="254">
                  <c:v>-0.26924717382919994</c:v>
                </c:pt>
                <c:pt idx="255">
                  <c:v>-0.26873869559540731</c:v>
                </c:pt>
                <c:pt idx="256">
                  <c:v>-0.27052073810570887</c:v>
                </c:pt>
                <c:pt idx="257">
                  <c:v>-0.26963761579257606</c:v>
                </c:pt>
                <c:pt idx="258">
                  <c:v>-0.27158661347185697</c:v>
                </c:pt>
                <c:pt idx="259">
                  <c:v>-0.27339660027506885</c:v>
                </c:pt>
                <c:pt idx="260">
                  <c:v>-0.27301335119943726</c:v>
                </c:pt>
                <c:pt idx="261">
                  <c:v>-0.27806250690450041</c:v>
                </c:pt>
                <c:pt idx="262">
                  <c:v>-0.3039880554753529</c:v>
                </c:pt>
                <c:pt idx="263">
                  <c:v>-0.2966208698347762</c:v>
                </c:pt>
                <c:pt idx="264">
                  <c:v>-0.2867694460346093</c:v>
                </c:pt>
                <c:pt idx="265">
                  <c:v>-0.28599933512955678</c:v>
                </c:pt>
                <c:pt idx="266">
                  <c:v>-0.28734367643897341</c:v>
                </c:pt>
                <c:pt idx="267">
                  <c:v>-0.27857799157906415</c:v>
                </c:pt>
                <c:pt idx="268">
                  <c:v>-0.26637183096783379</c:v>
                </c:pt>
                <c:pt idx="269">
                  <c:v>-0.25446287167614678</c:v>
                </c:pt>
                <c:pt idx="270">
                  <c:v>-0.26350557505116312</c:v>
                </c:pt>
                <c:pt idx="271">
                  <c:v>-0.27427302734376557</c:v>
                </c:pt>
                <c:pt idx="272">
                  <c:v>-0.27355322668771243</c:v>
                </c:pt>
                <c:pt idx="273">
                  <c:v>-0.2646995934207611</c:v>
                </c:pt>
                <c:pt idx="274">
                  <c:v>-0.27624826615474163</c:v>
                </c:pt>
                <c:pt idx="275">
                  <c:v>-0.26952886122895592</c:v>
                </c:pt>
                <c:pt idx="276">
                  <c:v>-0.28679819911826909</c:v>
                </c:pt>
                <c:pt idx="277">
                  <c:v>-0.27915268513776825</c:v>
                </c:pt>
                <c:pt idx="278">
                  <c:v>-0.27789181015459152</c:v>
                </c:pt>
                <c:pt idx="279">
                  <c:v>-0.27562146013672939</c:v>
                </c:pt>
                <c:pt idx="280">
                  <c:v>-0.27091871570517889</c:v>
                </c:pt>
                <c:pt idx="281">
                  <c:v>-0.27499179315845057</c:v>
                </c:pt>
                <c:pt idx="282">
                  <c:v>-0.27502979763409818</c:v>
                </c:pt>
                <c:pt idx="283">
                  <c:v>-0.28345763280740532</c:v>
                </c:pt>
                <c:pt idx="284">
                  <c:v>-0.28052679127405733</c:v>
                </c:pt>
                <c:pt idx="285">
                  <c:v>-0.26963347000905125</c:v>
                </c:pt>
                <c:pt idx="286">
                  <c:v>-0.27265232345693446</c:v>
                </c:pt>
                <c:pt idx="287">
                  <c:v>-0.25275085308132528</c:v>
                </c:pt>
                <c:pt idx="288">
                  <c:v>-0.20817260062486087</c:v>
                </c:pt>
                <c:pt idx="289">
                  <c:v>-0.20841460621180274</c:v>
                </c:pt>
                <c:pt idx="290">
                  <c:v>-0.19821876901805169</c:v>
                </c:pt>
                <c:pt idx="291">
                  <c:v>-0.19237612480534683</c:v>
                </c:pt>
                <c:pt idx="292">
                  <c:v>-0.17053350844310544</c:v>
                </c:pt>
                <c:pt idx="293">
                  <c:v>-0.21843323942214021</c:v>
                </c:pt>
                <c:pt idx="294">
                  <c:v>-0.19625231409909649</c:v>
                </c:pt>
                <c:pt idx="295">
                  <c:v>-0.19340693656126406</c:v>
                </c:pt>
                <c:pt idx="296">
                  <c:v>-0.19233984185902053</c:v>
                </c:pt>
                <c:pt idx="297">
                  <c:v>-0.20185189297298967</c:v>
                </c:pt>
                <c:pt idx="298">
                  <c:v>-0.20540339488496973</c:v>
                </c:pt>
                <c:pt idx="299">
                  <c:v>-0.21156285156081356</c:v>
                </c:pt>
                <c:pt idx="300">
                  <c:v>-0.21222068370692404</c:v>
                </c:pt>
                <c:pt idx="301">
                  <c:v>-0.21393378905340632</c:v>
                </c:pt>
                <c:pt idx="302">
                  <c:v>-0.21310857600089561</c:v>
                </c:pt>
                <c:pt idx="303">
                  <c:v>-0.21675918853908882</c:v>
                </c:pt>
                <c:pt idx="304">
                  <c:v>-0.21537851115297002</c:v>
                </c:pt>
                <c:pt idx="305">
                  <c:v>-0.22134112817499296</c:v>
                </c:pt>
                <c:pt idx="306">
                  <c:v>-0.22731446398808686</c:v>
                </c:pt>
                <c:pt idx="307">
                  <c:v>-0.23988231847907504</c:v>
                </c:pt>
                <c:pt idx="308">
                  <c:v>-0.24936880410649398</c:v>
                </c:pt>
                <c:pt idx="309">
                  <c:v>-0.25991371351063253</c:v>
                </c:pt>
                <c:pt idx="310">
                  <c:v>-0.26110457675273469</c:v>
                </c:pt>
                <c:pt idx="311">
                  <c:v>-0.25368085678785868</c:v>
                </c:pt>
                <c:pt idx="312">
                  <c:v>-0.24684091116625606</c:v>
                </c:pt>
                <c:pt idx="313">
                  <c:v>-0.24732465653704494</c:v>
                </c:pt>
                <c:pt idx="314">
                  <c:v>-0.24731618038263048</c:v>
                </c:pt>
                <c:pt idx="315">
                  <c:v>-0.23898293191526665</c:v>
                </c:pt>
                <c:pt idx="316">
                  <c:v>-0.25426120546914566</c:v>
                </c:pt>
                <c:pt idx="317">
                  <c:v>-0.25012028669283826</c:v>
                </c:pt>
                <c:pt idx="318">
                  <c:v>-0.24805299484824905</c:v>
                </c:pt>
                <c:pt idx="319">
                  <c:v>-0.23808995513209086</c:v>
                </c:pt>
                <c:pt idx="320">
                  <c:v>-0.24170378287602845</c:v>
                </c:pt>
                <c:pt idx="321">
                  <c:v>-0.21828439151416446</c:v>
                </c:pt>
                <c:pt idx="322">
                  <c:v>-0.21696525375566977</c:v>
                </c:pt>
                <c:pt idx="323">
                  <c:v>-0.22721412335631219</c:v>
                </c:pt>
                <c:pt idx="324">
                  <c:v>-0.22703448423707073</c:v>
                </c:pt>
                <c:pt idx="325">
                  <c:v>-0.22458566229365262</c:v>
                </c:pt>
                <c:pt idx="326">
                  <c:v>-0.23414278085509121</c:v>
                </c:pt>
                <c:pt idx="327">
                  <c:v>-0.23521199985193153</c:v>
                </c:pt>
                <c:pt idx="328">
                  <c:v>-0.23556895083252005</c:v>
                </c:pt>
                <c:pt idx="329">
                  <c:v>-0.22655629302802538</c:v>
                </c:pt>
                <c:pt idx="330">
                  <c:v>-0.23010098088613251</c:v>
                </c:pt>
                <c:pt idx="331">
                  <c:v>-0.23423119131207915</c:v>
                </c:pt>
                <c:pt idx="332">
                  <c:v>-0.23372510030676041</c:v>
                </c:pt>
                <c:pt idx="333">
                  <c:v>-0.24381800843562762</c:v>
                </c:pt>
                <c:pt idx="334">
                  <c:v>-0.23660955483835466</c:v>
                </c:pt>
                <c:pt idx="335">
                  <c:v>-0.223392154062792</c:v>
                </c:pt>
                <c:pt idx="336">
                  <c:v>-0.22191587366929</c:v>
                </c:pt>
                <c:pt idx="337">
                  <c:v>-0.22385060399314782</c:v>
                </c:pt>
                <c:pt idx="338">
                  <c:v>-0.21610813061836576</c:v>
                </c:pt>
                <c:pt idx="339">
                  <c:v>-0.22264750866099814</c:v>
                </c:pt>
                <c:pt idx="340">
                  <c:v>-0.22091197896641046</c:v>
                </c:pt>
                <c:pt idx="341">
                  <c:v>-0.21636643412010703</c:v>
                </c:pt>
                <c:pt idx="342">
                  <c:v>-0.20574630337251565</c:v>
                </c:pt>
                <c:pt idx="343">
                  <c:v>-0.21117865012445114</c:v>
                </c:pt>
                <c:pt idx="344">
                  <c:v>-0.21554275619830787</c:v>
                </c:pt>
                <c:pt idx="345">
                  <c:v>-0.21169049925714767</c:v>
                </c:pt>
                <c:pt idx="346">
                  <c:v>-0.20736925034034215</c:v>
                </c:pt>
                <c:pt idx="347">
                  <c:v>-0.20835888253957646</c:v>
                </c:pt>
                <c:pt idx="348">
                  <c:v>-0.20039716548385489</c:v>
                </c:pt>
                <c:pt idx="349">
                  <c:v>-0.20570048018718645</c:v>
                </c:pt>
                <c:pt idx="350">
                  <c:v>-0.21361094428844996</c:v>
                </c:pt>
                <c:pt idx="351">
                  <c:v>-0.21528942637190895</c:v>
                </c:pt>
                <c:pt idx="352">
                  <c:v>-0.2180593950823716</c:v>
                </c:pt>
                <c:pt idx="353">
                  <c:v>-0.22122265312943934</c:v>
                </c:pt>
                <c:pt idx="354">
                  <c:v>-0.21796514029587799</c:v>
                </c:pt>
                <c:pt idx="355">
                  <c:v>-0.21907650303021231</c:v>
                </c:pt>
                <c:pt idx="356">
                  <c:v>-0.21886081539203628</c:v>
                </c:pt>
                <c:pt idx="357">
                  <c:v>-0.21870726627536097</c:v>
                </c:pt>
                <c:pt idx="358">
                  <c:v>-0.22295857683394638</c:v>
                </c:pt>
                <c:pt idx="359">
                  <c:v>-0.2139056956945018</c:v>
                </c:pt>
                <c:pt idx="360">
                  <c:v>-0.21581452182083616</c:v>
                </c:pt>
                <c:pt idx="361">
                  <c:v>-0.21314183861152713</c:v>
                </c:pt>
                <c:pt idx="362">
                  <c:v>-0.24593447289395043</c:v>
                </c:pt>
                <c:pt idx="363">
                  <c:v>-0.24599394013031584</c:v>
                </c:pt>
                <c:pt idx="364">
                  <c:v>-0.24536776119929871</c:v>
                </c:pt>
                <c:pt idx="365">
                  <c:v>-0.24510770792563807</c:v>
                </c:pt>
                <c:pt idx="366">
                  <c:v>-0.2549518728248602</c:v>
                </c:pt>
                <c:pt idx="367">
                  <c:v>-0.25307883644561391</c:v>
                </c:pt>
                <c:pt idx="368">
                  <c:v>-0.23976401406411285</c:v>
                </c:pt>
                <c:pt idx="369">
                  <c:v>-0.24537081986137144</c:v>
                </c:pt>
                <c:pt idx="370">
                  <c:v>-0.24240434915819431</c:v>
                </c:pt>
                <c:pt idx="371">
                  <c:v>-0.2415863559303959</c:v>
                </c:pt>
                <c:pt idx="372">
                  <c:v>-0.2432646330459779</c:v>
                </c:pt>
                <c:pt idx="373">
                  <c:v>-0.24228877464012311</c:v>
                </c:pt>
                <c:pt idx="374">
                  <c:v>-0.2402726378409753</c:v>
                </c:pt>
                <c:pt idx="375">
                  <c:v>-0.22806024329897012</c:v>
                </c:pt>
                <c:pt idx="376">
                  <c:v>-0.22438824000193924</c:v>
                </c:pt>
                <c:pt idx="377">
                  <c:v>-0.23332484377991136</c:v>
                </c:pt>
                <c:pt idx="378">
                  <c:v>-0.22503875450530442</c:v>
                </c:pt>
                <c:pt idx="379">
                  <c:v>-0.22343739993581591</c:v>
                </c:pt>
                <c:pt idx="380">
                  <c:v>-0.21849658683829265</c:v>
                </c:pt>
                <c:pt idx="381">
                  <c:v>-0.22020260248035617</c:v>
                </c:pt>
                <c:pt idx="382">
                  <c:v>-0.21989284579391244</c:v>
                </c:pt>
                <c:pt idx="383">
                  <c:v>-0.21128163841044267</c:v>
                </c:pt>
                <c:pt idx="384">
                  <c:v>-0.20827774527354737</c:v>
                </c:pt>
                <c:pt idx="385">
                  <c:v>-0.20716692783649648</c:v>
                </c:pt>
                <c:pt idx="386">
                  <c:v>-0.20713272973854635</c:v>
                </c:pt>
                <c:pt idx="387">
                  <c:v>-0.20042559245109903</c:v>
                </c:pt>
                <c:pt idx="388">
                  <c:v>-0.19153414038822814</c:v>
                </c:pt>
                <c:pt idx="389">
                  <c:v>-0.19263486394857066</c:v>
                </c:pt>
                <c:pt idx="390">
                  <c:v>-0.20283035014607353</c:v>
                </c:pt>
                <c:pt idx="391">
                  <c:v>-0.20205243420671948</c:v>
                </c:pt>
                <c:pt idx="392">
                  <c:v>-0.20197702212084812</c:v>
                </c:pt>
                <c:pt idx="393">
                  <c:v>-0.20037764898606192</c:v>
                </c:pt>
                <c:pt idx="394">
                  <c:v>-0.19610550873090449</c:v>
                </c:pt>
                <c:pt idx="395">
                  <c:v>-0.20137614273023752</c:v>
                </c:pt>
                <c:pt idx="396">
                  <c:v>-0.19698019845137715</c:v>
                </c:pt>
                <c:pt idx="397">
                  <c:v>-0.20303342949302083</c:v>
                </c:pt>
                <c:pt idx="398">
                  <c:v>-0.191852941994203</c:v>
                </c:pt>
                <c:pt idx="399">
                  <c:v>-0.19826350167199791</c:v>
                </c:pt>
                <c:pt idx="400">
                  <c:v>-0.19130903848288849</c:v>
                </c:pt>
                <c:pt idx="401">
                  <c:v>-0.26416703603194513</c:v>
                </c:pt>
                <c:pt idx="402">
                  <c:v>-0.26337482085666275</c:v>
                </c:pt>
                <c:pt idx="403">
                  <c:v>-0.26923831919764718</c:v>
                </c:pt>
                <c:pt idx="404">
                  <c:v>-0.28297388656778</c:v>
                </c:pt>
                <c:pt idx="405">
                  <c:v>-0.28030966918742328</c:v>
                </c:pt>
                <c:pt idx="406">
                  <c:v>-0.29094002954800424</c:v>
                </c:pt>
                <c:pt idx="407">
                  <c:v>-0.2948634040904643</c:v>
                </c:pt>
                <c:pt idx="408">
                  <c:v>-0.28435340228615558</c:v>
                </c:pt>
                <c:pt idx="409">
                  <c:v>-0.27748375397393743</c:v>
                </c:pt>
                <c:pt idx="410">
                  <c:v>-0.2794629604677773</c:v>
                </c:pt>
                <c:pt idx="411">
                  <c:v>-0.27719677712488677</c:v>
                </c:pt>
                <c:pt idx="412">
                  <c:v>-0.29035241340645901</c:v>
                </c:pt>
                <c:pt idx="413">
                  <c:v>-0.29528433764537454</c:v>
                </c:pt>
                <c:pt idx="414">
                  <c:v>-0.2968166319354143</c:v>
                </c:pt>
                <c:pt idx="415">
                  <c:v>-0.29719071896137783</c:v>
                </c:pt>
                <c:pt idx="416">
                  <c:v>-0.29336209765255106</c:v>
                </c:pt>
                <c:pt idx="417">
                  <c:v>-0.29762082378043853</c:v>
                </c:pt>
                <c:pt idx="418">
                  <c:v>-0.29526509957777658</c:v>
                </c:pt>
                <c:pt idx="419">
                  <c:v>-0.29078030696311352</c:v>
                </c:pt>
                <c:pt idx="420">
                  <c:v>-0.29353639309941026</c:v>
                </c:pt>
                <c:pt idx="421">
                  <c:v>-0.28917498170530997</c:v>
                </c:pt>
                <c:pt idx="422">
                  <c:v>-0.28328878695810966</c:v>
                </c:pt>
                <c:pt idx="423">
                  <c:v>-0.27646326830214585</c:v>
                </c:pt>
                <c:pt idx="424">
                  <c:v>-0.28629652162615105</c:v>
                </c:pt>
                <c:pt idx="425">
                  <c:v>-0.28371731812663636</c:v>
                </c:pt>
                <c:pt idx="426">
                  <c:v>-0.27881637381894864</c:v>
                </c:pt>
                <c:pt idx="427">
                  <c:v>-0.28399999896890105</c:v>
                </c:pt>
                <c:pt idx="428">
                  <c:v>-0.28812965017297187</c:v>
                </c:pt>
                <c:pt idx="429">
                  <c:v>-0.28840347362322827</c:v>
                </c:pt>
                <c:pt idx="430">
                  <c:v>-0.28876247057860893</c:v>
                </c:pt>
                <c:pt idx="431">
                  <c:v>-0.28912065691654587</c:v>
                </c:pt>
                <c:pt idx="432">
                  <c:v>-0.2925429793463139</c:v>
                </c:pt>
                <c:pt idx="433">
                  <c:v>-0.29496348295483377</c:v>
                </c:pt>
                <c:pt idx="434">
                  <c:v>-0.29121157859059932</c:v>
                </c:pt>
                <c:pt idx="435">
                  <c:v>-0.29076117442884275</c:v>
                </c:pt>
                <c:pt idx="436">
                  <c:v>-0.30087815371000548</c:v>
                </c:pt>
                <c:pt idx="437">
                  <c:v>-0.29164142098672097</c:v>
                </c:pt>
                <c:pt idx="438">
                  <c:v>-0.28329203931322133</c:v>
                </c:pt>
                <c:pt idx="439">
                  <c:v>-0.27501125530503523</c:v>
                </c:pt>
                <c:pt idx="440">
                  <c:v>-0.27865361528753807</c:v>
                </c:pt>
                <c:pt idx="441">
                  <c:v>-0.28934482193025157</c:v>
                </c:pt>
                <c:pt idx="442">
                  <c:v>-0.28780178581564531</c:v>
                </c:pt>
                <c:pt idx="443">
                  <c:v>-0.28815172301561154</c:v>
                </c:pt>
                <c:pt idx="444">
                  <c:v>-0.29153555235304263</c:v>
                </c:pt>
                <c:pt idx="445">
                  <c:v>-0.27951803466302361</c:v>
                </c:pt>
                <c:pt idx="446">
                  <c:v>-0.28840513309113425</c:v>
                </c:pt>
                <c:pt idx="447">
                  <c:v>-0.29243084770084671</c:v>
                </c:pt>
                <c:pt idx="448">
                  <c:v>-0.29095784559052218</c:v>
                </c:pt>
                <c:pt idx="449">
                  <c:v>-0.27813112390289796</c:v>
                </c:pt>
                <c:pt idx="450">
                  <c:v>-0.27875215181907964</c:v>
                </c:pt>
                <c:pt idx="451">
                  <c:v>-0.27659981936808242</c:v>
                </c:pt>
                <c:pt idx="452">
                  <c:v>-0.27361131557037266</c:v>
                </c:pt>
                <c:pt idx="453">
                  <c:v>-0.29736634288908992</c:v>
                </c:pt>
                <c:pt idx="454">
                  <c:v>-0.2984995756581601</c:v>
                </c:pt>
                <c:pt idx="455">
                  <c:v>-0.29983425042005762</c:v>
                </c:pt>
                <c:pt idx="456">
                  <c:v>-0.28982593910621768</c:v>
                </c:pt>
                <c:pt idx="457">
                  <c:v>-0.27891974986711787</c:v>
                </c:pt>
                <c:pt idx="458">
                  <c:v>-0.27539073147276005</c:v>
                </c:pt>
                <c:pt idx="459">
                  <c:v>-0.26817195187322174</c:v>
                </c:pt>
                <c:pt idx="460">
                  <c:v>-0.24425977479185079</c:v>
                </c:pt>
                <c:pt idx="461">
                  <c:v>-0.24986114474687693</c:v>
                </c:pt>
                <c:pt idx="462">
                  <c:v>-0.24896552811084782</c:v>
                </c:pt>
                <c:pt idx="463">
                  <c:v>-0.24985687590851891</c:v>
                </c:pt>
                <c:pt idx="464">
                  <c:v>-0.25345597054607438</c:v>
                </c:pt>
                <c:pt idx="465">
                  <c:v>-0.23786905988508145</c:v>
                </c:pt>
                <c:pt idx="466">
                  <c:v>-0.20683641700139421</c:v>
                </c:pt>
                <c:pt idx="467">
                  <c:v>-0.19434505632323962</c:v>
                </c:pt>
                <c:pt idx="468">
                  <c:v>-0.17580458995159898</c:v>
                </c:pt>
                <c:pt idx="469">
                  <c:v>-0.16564488617068918</c:v>
                </c:pt>
                <c:pt idx="470">
                  <c:v>-0.15623736360274632</c:v>
                </c:pt>
                <c:pt idx="471">
                  <c:v>-0.16806423984146002</c:v>
                </c:pt>
                <c:pt idx="472">
                  <c:v>-0.17119734768510431</c:v>
                </c:pt>
                <c:pt idx="473">
                  <c:v>-0.20115991790183574</c:v>
                </c:pt>
                <c:pt idx="474">
                  <c:v>-0.19727137039570808</c:v>
                </c:pt>
                <c:pt idx="475">
                  <c:v>-0.18028624469063548</c:v>
                </c:pt>
                <c:pt idx="476">
                  <c:v>-0.16109182294488411</c:v>
                </c:pt>
                <c:pt idx="477">
                  <c:v>-0.16661984986542999</c:v>
                </c:pt>
                <c:pt idx="478">
                  <c:v>-0.18008935147138316</c:v>
                </c:pt>
                <c:pt idx="479">
                  <c:v>-0.17619589866727248</c:v>
                </c:pt>
                <c:pt idx="480">
                  <c:v>-0.16794609280467476</c:v>
                </c:pt>
                <c:pt idx="481">
                  <c:v>-0.16541035146831695</c:v>
                </c:pt>
                <c:pt idx="482">
                  <c:v>-0.18586334202008492</c:v>
                </c:pt>
                <c:pt idx="483">
                  <c:v>-0.18461126638702274</c:v>
                </c:pt>
                <c:pt idx="484">
                  <c:v>-0.18061421094431274</c:v>
                </c:pt>
                <c:pt idx="485">
                  <c:v>-0.18347518215941305</c:v>
                </c:pt>
                <c:pt idx="486">
                  <c:v>-0.16065571357444342</c:v>
                </c:pt>
                <c:pt idx="487">
                  <c:v>-0.15694464431979438</c:v>
                </c:pt>
                <c:pt idx="488">
                  <c:v>-0.15826107591284777</c:v>
                </c:pt>
                <c:pt idx="489">
                  <c:v>-0.15412827991344757</c:v>
                </c:pt>
                <c:pt idx="490">
                  <c:v>-0.14533616064974064</c:v>
                </c:pt>
                <c:pt idx="491">
                  <c:v>-0.15827146569812012</c:v>
                </c:pt>
                <c:pt idx="492">
                  <c:v>-0.13520295404579019</c:v>
                </c:pt>
                <c:pt idx="493">
                  <c:v>-0.13535283221666605</c:v>
                </c:pt>
                <c:pt idx="494">
                  <c:v>-0.14946887502245565</c:v>
                </c:pt>
                <c:pt idx="495">
                  <c:v>-0.13496621474589643</c:v>
                </c:pt>
                <c:pt idx="496">
                  <c:v>-0.13881605110439577</c:v>
                </c:pt>
                <c:pt idx="497">
                  <c:v>-0.13640264795420876</c:v>
                </c:pt>
                <c:pt idx="498">
                  <c:v>-0.1576776754621495</c:v>
                </c:pt>
                <c:pt idx="499">
                  <c:v>-0.15996956051207112</c:v>
                </c:pt>
                <c:pt idx="500">
                  <c:v>-0.17946108801417227</c:v>
                </c:pt>
                <c:pt idx="501">
                  <c:v>-0.1906969494850268</c:v>
                </c:pt>
                <c:pt idx="502">
                  <c:v>-0.16387357529621038</c:v>
                </c:pt>
                <c:pt idx="503">
                  <c:v>-0.16553189823294934</c:v>
                </c:pt>
                <c:pt idx="504">
                  <c:v>-0.14451667940089929</c:v>
                </c:pt>
                <c:pt idx="505">
                  <c:v>-0.14081284575070774</c:v>
                </c:pt>
                <c:pt idx="506">
                  <c:v>-0.13054906069112138</c:v>
                </c:pt>
                <c:pt idx="507">
                  <c:v>-0.12346940872259682</c:v>
                </c:pt>
                <c:pt idx="508">
                  <c:v>-0.13456679250472181</c:v>
                </c:pt>
                <c:pt idx="509">
                  <c:v>-0.14872107393571943</c:v>
                </c:pt>
                <c:pt idx="510">
                  <c:v>-0.12301242032302373</c:v>
                </c:pt>
                <c:pt idx="511">
                  <c:v>-0.1297971715063323</c:v>
                </c:pt>
                <c:pt idx="512">
                  <c:v>-0.1263692372137214</c:v>
                </c:pt>
                <c:pt idx="513">
                  <c:v>-0.14552832528348958</c:v>
                </c:pt>
                <c:pt idx="514">
                  <c:v>-0.13954936116657479</c:v>
                </c:pt>
                <c:pt idx="515">
                  <c:v>-0.15388407919925473</c:v>
                </c:pt>
                <c:pt idx="516">
                  <c:v>-0.12844870342809556</c:v>
                </c:pt>
                <c:pt idx="517">
                  <c:v>-9.6519587002857787E-2</c:v>
                </c:pt>
                <c:pt idx="518">
                  <c:v>-0.13952356547405265</c:v>
                </c:pt>
                <c:pt idx="519">
                  <c:v>-0.13749610887156627</c:v>
                </c:pt>
                <c:pt idx="520">
                  <c:v>-0.13249934736527513</c:v>
                </c:pt>
                <c:pt idx="521">
                  <c:v>-0.13264920064781693</c:v>
                </c:pt>
                <c:pt idx="522">
                  <c:v>-0.14132363193370034</c:v>
                </c:pt>
                <c:pt idx="523">
                  <c:v>-0.1549325091847531</c:v>
                </c:pt>
                <c:pt idx="524">
                  <c:v>-0.14462884835278189</c:v>
                </c:pt>
                <c:pt idx="525">
                  <c:v>-0.13824250882998301</c:v>
                </c:pt>
                <c:pt idx="526">
                  <c:v>-0.1404750177541384</c:v>
                </c:pt>
                <c:pt idx="527">
                  <c:v>-0.13963621075777355</c:v>
                </c:pt>
                <c:pt idx="528">
                  <c:v>-0.13822052370677718</c:v>
                </c:pt>
                <c:pt idx="529">
                  <c:v>-0.13294979970163456</c:v>
                </c:pt>
                <c:pt idx="530">
                  <c:v>-0.13673267265789679</c:v>
                </c:pt>
                <c:pt idx="531">
                  <c:v>-0.14277052263273027</c:v>
                </c:pt>
                <c:pt idx="532">
                  <c:v>-0.16104672602672698</c:v>
                </c:pt>
                <c:pt idx="533">
                  <c:v>-0.17085640056604845</c:v>
                </c:pt>
                <c:pt idx="534">
                  <c:v>-0.16511765293002523</c:v>
                </c:pt>
                <c:pt idx="535">
                  <c:v>-0.16481055289037172</c:v>
                </c:pt>
                <c:pt idx="536">
                  <c:v>-0.17043344351651801</c:v>
                </c:pt>
                <c:pt idx="537">
                  <c:v>-0.16355929090646792</c:v>
                </c:pt>
                <c:pt idx="538">
                  <c:v>-0.15093485566654741</c:v>
                </c:pt>
                <c:pt idx="539">
                  <c:v>-0.16175899791101411</c:v>
                </c:pt>
                <c:pt idx="540">
                  <c:v>-0.15600910970751236</c:v>
                </c:pt>
                <c:pt idx="541">
                  <c:v>-0.1438069444226977</c:v>
                </c:pt>
                <c:pt idx="542">
                  <c:v>-0.15922472165242108</c:v>
                </c:pt>
                <c:pt idx="543">
                  <c:v>-0.16274318050179515</c:v>
                </c:pt>
                <c:pt idx="544">
                  <c:v>-0.16815587835051304</c:v>
                </c:pt>
                <c:pt idx="545">
                  <c:v>-0.17097528745260915</c:v>
                </c:pt>
                <c:pt idx="546">
                  <c:v>-0.1700524047646752</c:v>
                </c:pt>
                <c:pt idx="547">
                  <c:v>-0.20882027579532869</c:v>
                </c:pt>
                <c:pt idx="548">
                  <c:v>-0.20109536615475532</c:v>
                </c:pt>
                <c:pt idx="549">
                  <c:v>-0.20010350750804662</c:v>
                </c:pt>
                <c:pt idx="550">
                  <c:v>-0.20927165911671086</c:v>
                </c:pt>
                <c:pt idx="551">
                  <c:v>-0.21663090479182057</c:v>
                </c:pt>
                <c:pt idx="552">
                  <c:v>-0.22535381278907241</c:v>
                </c:pt>
                <c:pt idx="553">
                  <c:v>-0.21751601418423228</c:v>
                </c:pt>
                <c:pt idx="554">
                  <c:v>-0.22125557653114991</c:v>
                </c:pt>
                <c:pt idx="555">
                  <c:v>-0.22152647648344959</c:v>
                </c:pt>
                <c:pt idx="556">
                  <c:v>-0.22335495588737464</c:v>
                </c:pt>
                <c:pt idx="557">
                  <c:v>-0.22410945715671204</c:v>
                </c:pt>
                <c:pt idx="558">
                  <c:v>-0.22341389992741589</c:v>
                </c:pt>
                <c:pt idx="559">
                  <c:v>-0.22108484406484397</c:v>
                </c:pt>
                <c:pt idx="560">
                  <c:v>-0.2250150336323794</c:v>
                </c:pt>
                <c:pt idx="561">
                  <c:v>-0.22247478625670514</c:v>
                </c:pt>
                <c:pt idx="562">
                  <c:v>-0.22386620987014461</c:v>
                </c:pt>
                <c:pt idx="563">
                  <c:v>-0.21565876638543857</c:v>
                </c:pt>
                <c:pt idx="564">
                  <c:v>-0.21036361802493209</c:v>
                </c:pt>
                <c:pt idx="565">
                  <c:v>-0.21032159045034959</c:v>
                </c:pt>
                <c:pt idx="566">
                  <c:v>-0.20994159034700999</c:v>
                </c:pt>
                <c:pt idx="567">
                  <c:v>-0.21702588744596962</c:v>
                </c:pt>
                <c:pt idx="568">
                  <c:v>-0.21838666072248714</c:v>
                </c:pt>
                <c:pt idx="569">
                  <c:v>-0.22293131550244061</c:v>
                </c:pt>
                <c:pt idx="570">
                  <c:v>-0.21726677551003704</c:v>
                </c:pt>
                <c:pt idx="571">
                  <c:v>-0.22263082177752325</c:v>
                </c:pt>
                <c:pt idx="572">
                  <c:v>-0.22972050884225459</c:v>
                </c:pt>
                <c:pt idx="573">
                  <c:v>-0.22365567560191324</c:v>
                </c:pt>
                <c:pt idx="574">
                  <c:v>-0.2294907791574613</c:v>
                </c:pt>
                <c:pt idx="575">
                  <c:v>-0.23578104153698864</c:v>
                </c:pt>
                <c:pt idx="576">
                  <c:v>-0.22385338604755423</c:v>
                </c:pt>
                <c:pt idx="577">
                  <c:v>-0.2364158581390462</c:v>
                </c:pt>
                <c:pt idx="578">
                  <c:v>-0.23767346449241433</c:v>
                </c:pt>
                <c:pt idx="579">
                  <c:v>-0.2429331073784099</c:v>
                </c:pt>
                <c:pt idx="580">
                  <c:v>-0.25077504426200903</c:v>
                </c:pt>
                <c:pt idx="581">
                  <c:v>-0.2525766521473557</c:v>
                </c:pt>
                <c:pt idx="582">
                  <c:v>-0.24662545187083829</c:v>
                </c:pt>
                <c:pt idx="583">
                  <c:v>-0.24515808487060109</c:v>
                </c:pt>
                <c:pt idx="584">
                  <c:v>-0.25298479813356878</c:v>
                </c:pt>
                <c:pt idx="585">
                  <c:v>-0.25543574406379843</c:v>
                </c:pt>
                <c:pt idx="586">
                  <c:v>-0.25595943435897517</c:v>
                </c:pt>
                <c:pt idx="587">
                  <c:v>-0.25888796286791804</c:v>
                </c:pt>
                <c:pt idx="588">
                  <c:v>-0.25531965672311918</c:v>
                </c:pt>
                <c:pt idx="589">
                  <c:v>-0.24669965237012081</c:v>
                </c:pt>
                <c:pt idx="590">
                  <c:v>-0.24487091066069511</c:v>
                </c:pt>
                <c:pt idx="591">
                  <c:v>-0.24384932638085688</c:v>
                </c:pt>
                <c:pt idx="592">
                  <c:v>-0.24442212005512409</c:v>
                </c:pt>
                <c:pt idx="593">
                  <c:v>-0.23973220016680286</c:v>
                </c:pt>
                <c:pt idx="594">
                  <c:v>-0.23676779824915895</c:v>
                </c:pt>
                <c:pt idx="595">
                  <c:v>-0.23116385006895168</c:v>
                </c:pt>
                <c:pt idx="596">
                  <c:v>-0.19097005260211597</c:v>
                </c:pt>
                <c:pt idx="597">
                  <c:v>-0.17511022223222461</c:v>
                </c:pt>
                <c:pt idx="598">
                  <c:v>-0.19172152231760609</c:v>
                </c:pt>
                <c:pt idx="599">
                  <c:v>-0.19161772058046866</c:v>
                </c:pt>
                <c:pt idx="600">
                  <c:v>-0.20533286839239862</c:v>
                </c:pt>
                <c:pt idx="601">
                  <c:v>-0.21989782149187165</c:v>
                </c:pt>
                <c:pt idx="602">
                  <c:v>-0.22323001868967163</c:v>
                </c:pt>
                <c:pt idx="603">
                  <c:v>-0.22693037935877547</c:v>
                </c:pt>
                <c:pt idx="604">
                  <c:v>-0.21238405795881865</c:v>
                </c:pt>
                <c:pt idx="605">
                  <c:v>-0.21866698373114679</c:v>
                </c:pt>
                <c:pt idx="606">
                  <c:v>-0.22748180247547578</c:v>
                </c:pt>
                <c:pt idx="607">
                  <c:v>-0.23136031167388849</c:v>
                </c:pt>
                <c:pt idx="608">
                  <c:v>-0.22771610405029452</c:v>
                </c:pt>
                <c:pt idx="609">
                  <c:v>-0.22644709497551374</c:v>
                </c:pt>
                <c:pt idx="610">
                  <c:v>-0.21536278619065352</c:v>
                </c:pt>
                <c:pt idx="611">
                  <c:v>-0.21379472529386612</c:v>
                </c:pt>
                <c:pt idx="612">
                  <c:v>-0.20973816446132398</c:v>
                </c:pt>
                <c:pt idx="613">
                  <c:v>-0.20891394274080166</c:v>
                </c:pt>
                <c:pt idx="614">
                  <c:v>-0.20957236056565054</c:v>
                </c:pt>
                <c:pt idx="615">
                  <c:v>-0.20333418515534707</c:v>
                </c:pt>
                <c:pt idx="616">
                  <c:v>-0.20481183162383931</c:v>
                </c:pt>
                <c:pt idx="617">
                  <c:v>-0.20527486570654807</c:v>
                </c:pt>
                <c:pt idx="618">
                  <c:v>-0.21360263030816218</c:v>
                </c:pt>
                <c:pt idx="619">
                  <c:v>-0.20415039397374179</c:v>
                </c:pt>
                <c:pt idx="620">
                  <c:v>-0.20586533056329948</c:v>
                </c:pt>
                <c:pt idx="621">
                  <c:v>-0.20483411427885734</c:v>
                </c:pt>
                <c:pt idx="622">
                  <c:v>-0.20562996232776976</c:v>
                </c:pt>
                <c:pt idx="623">
                  <c:v>-0.20210256076023547</c:v>
                </c:pt>
                <c:pt idx="624">
                  <c:v>-0.2070558822836206</c:v>
                </c:pt>
                <c:pt idx="625">
                  <c:v>-0.20695986078919348</c:v>
                </c:pt>
                <c:pt idx="626">
                  <c:v>-0.2047029614454825</c:v>
                </c:pt>
                <c:pt idx="627">
                  <c:v>-0.20840836308106703</c:v>
                </c:pt>
                <c:pt idx="628">
                  <c:v>-0.209529615271419</c:v>
                </c:pt>
                <c:pt idx="629">
                  <c:v>-0.20089610091983745</c:v>
                </c:pt>
                <c:pt idx="630">
                  <c:v>-0.19904957075918528</c:v>
                </c:pt>
                <c:pt idx="631">
                  <c:v>-0.2088169504696763</c:v>
                </c:pt>
                <c:pt idx="632">
                  <c:v>-0.21323585429764635</c:v>
                </c:pt>
                <c:pt idx="633">
                  <c:v>-0.2155389146133333</c:v>
                </c:pt>
                <c:pt idx="634">
                  <c:v>-0.21613883329614947</c:v>
                </c:pt>
                <c:pt idx="635">
                  <c:v>-0.22657857614164667</c:v>
                </c:pt>
                <c:pt idx="636">
                  <c:v>-0.2204298111602675</c:v>
                </c:pt>
                <c:pt idx="637">
                  <c:v>-0.21291984837284161</c:v>
                </c:pt>
                <c:pt idx="638">
                  <c:v>-0.21303277153112388</c:v>
                </c:pt>
                <c:pt idx="639">
                  <c:v>-0.22000299178618388</c:v>
                </c:pt>
                <c:pt idx="640">
                  <c:v>-0.21748153320931651</c:v>
                </c:pt>
                <c:pt idx="641">
                  <c:v>-0.22114376353576448</c:v>
                </c:pt>
                <c:pt idx="642">
                  <c:v>-0.2157134694442735</c:v>
                </c:pt>
                <c:pt idx="643">
                  <c:v>-0.22521069037165198</c:v>
                </c:pt>
                <c:pt idx="644">
                  <c:v>-0.21805617591103443</c:v>
                </c:pt>
                <c:pt idx="645">
                  <c:v>-0.21470108762967299</c:v>
                </c:pt>
                <c:pt idx="646">
                  <c:v>-0.21828312893757451</c:v>
                </c:pt>
                <c:pt idx="647">
                  <c:v>-0.21106827892256019</c:v>
                </c:pt>
                <c:pt idx="648">
                  <c:v>-0.21431278602435655</c:v>
                </c:pt>
                <c:pt idx="649">
                  <c:v>-0.20960024969826518</c:v>
                </c:pt>
                <c:pt idx="650">
                  <c:v>-0.20090518051904505</c:v>
                </c:pt>
                <c:pt idx="651">
                  <c:v>-0.20133289171899882</c:v>
                </c:pt>
                <c:pt idx="652">
                  <c:v>-0.19742531270062691</c:v>
                </c:pt>
                <c:pt idx="653">
                  <c:v>-0.19733710898360768</c:v>
                </c:pt>
                <c:pt idx="654">
                  <c:v>-0.19613951885710046</c:v>
                </c:pt>
                <c:pt idx="655">
                  <c:v>-0.19737723230164661</c:v>
                </c:pt>
                <c:pt idx="656">
                  <c:v>-0.19855096482515933</c:v>
                </c:pt>
                <c:pt idx="657">
                  <c:v>-0.20698739117346909</c:v>
                </c:pt>
                <c:pt idx="658">
                  <c:v>-0.2100785008611864</c:v>
                </c:pt>
                <c:pt idx="659">
                  <c:v>-0.20372180601734802</c:v>
                </c:pt>
                <c:pt idx="660">
                  <c:v>-0.20948919238075847</c:v>
                </c:pt>
                <c:pt idx="661">
                  <c:v>-0.20689386639630802</c:v>
                </c:pt>
                <c:pt idx="662">
                  <c:v>-0.23074115191785693</c:v>
                </c:pt>
                <c:pt idx="663">
                  <c:v>-0.23778267888398996</c:v>
                </c:pt>
                <c:pt idx="664">
                  <c:v>-0.24933655465952664</c:v>
                </c:pt>
                <c:pt idx="665">
                  <c:v>-0.24648626707563615</c:v>
                </c:pt>
                <c:pt idx="666">
                  <c:v>-0.25402352884510415</c:v>
                </c:pt>
                <c:pt idx="667">
                  <c:v>-0.25124124375950663</c:v>
                </c:pt>
                <c:pt idx="668">
                  <c:v>-0.24062900709471979</c:v>
                </c:pt>
                <c:pt idx="669">
                  <c:v>-0.24479575953617738</c:v>
                </c:pt>
                <c:pt idx="670">
                  <c:v>-0.24394867647366225</c:v>
                </c:pt>
                <c:pt idx="671">
                  <c:v>-0.24691107112430144</c:v>
                </c:pt>
                <c:pt idx="672">
                  <c:v>-0.2461558096482197</c:v>
                </c:pt>
                <c:pt idx="673">
                  <c:v>-0.24950406729145791</c:v>
                </c:pt>
                <c:pt idx="674">
                  <c:v>-0.25100513326836749</c:v>
                </c:pt>
                <c:pt idx="675">
                  <c:v>-0.24616941466030529</c:v>
                </c:pt>
                <c:pt idx="676">
                  <c:v>-0.25368795107886311</c:v>
                </c:pt>
                <c:pt idx="677">
                  <c:v>-0.25752059934385751</c:v>
                </c:pt>
                <c:pt idx="678">
                  <c:v>-0.25165799167803904</c:v>
                </c:pt>
                <c:pt idx="679">
                  <c:v>-0.24911376928437989</c:v>
                </c:pt>
                <c:pt idx="680">
                  <c:v>-0.24640293417923942</c:v>
                </c:pt>
                <c:pt idx="681">
                  <c:v>-0.25053014396752304</c:v>
                </c:pt>
                <c:pt idx="682">
                  <c:v>-0.25409992917417712</c:v>
                </c:pt>
                <c:pt idx="683">
                  <c:v>-0.25884873016912857</c:v>
                </c:pt>
                <c:pt idx="684">
                  <c:v>-0.25486868814113484</c:v>
                </c:pt>
                <c:pt idx="685">
                  <c:v>-0.25368685284333814</c:v>
                </c:pt>
                <c:pt idx="686">
                  <c:v>-0.25381992886713634</c:v>
                </c:pt>
                <c:pt idx="687">
                  <c:v>-0.26133627137431636</c:v>
                </c:pt>
                <c:pt idx="688">
                  <c:v>-0.2604952493431375</c:v>
                </c:pt>
                <c:pt idx="689">
                  <c:v>-0.26023330913643583</c:v>
                </c:pt>
                <c:pt idx="690">
                  <c:v>-0.26091079125842986</c:v>
                </c:pt>
                <c:pt idx="691">
                  <c:v>-0.26525578404377714</c:v>
                </c:pt>
                <c:pt idx="692">
                  <c:v>-0.26818816697706982</c:v>
                </c:pt>
                <c:pt idx="693">
                  <c:v>-0.27787023353574203</c:v>
                </c:pt>
                <c:pt idx="694">
                  <c:v>-0.27330638429402165</c:v>
                </c:pt>
                <c:pt idx="695">
                  <c:v>-0.27301397637321478</c:v>
                </c:pt>
                <c:pt idx="696">
                  <c:v>-0.27528386142009309</c:v>
                </c:pt>
                <c:pt idx="697">
                  <c:v>-0.27034435676703028</c:v>
                </c:pt>
                <c:pt idx="698">
                  <c:v>-0.26808118930908109</c:v>
                </c:pt>
                <c:pt idx="699">
                  <c:v>-0.27228133721852821</c:v>
                </c:pt>
                <c:pt idx="700">
                  <c:v>-0.26188256030789203</c:v>
                </c:pt>
                <c:pt idx="701">
                  <c:v>-0.22889205728107265</c:v>
                </c:pt>
                <c:pt idx="702">
                  <c:v>-0.23546141542546961</c:v>
                </c:pt>
                <c:pt idx="703">
                  <c:v>-0.24875577638337243</c:v>
                </c:pt>
                <c:pt idx="704">
                  <c:v>-0.2537079197719897</c:v>
                </c:pt>
                <c:pt idx="705">
                  <c:v>-0.26196017356321888</c:v>
                </c:pt>
                <c:pt idx="706">
                  <c:v>-0.26186360099299533</c:v>
                </c:pt>
                <c:pt idx="707">
                  <c:v>-0.26201004444113218</c:v>
                </c:pt>
                <c:pt idx="708">
                  <c:v>-0.26874158325819886</c:v>
                </c:pt>
                <c:pt idx="709">
                  <c:v>-0.27100121807700284</c:v>
                </c:pt>
                <c:pt idx="710">
                  <c:v>-0.26971309988246894</c:v>
                </c:pt>
                <c:pt idx="711">
                  <c:v>-0.25424448711828707</c:v>
                </c:pt>
                <c:pt idx="712">
                  <c:v>-0.26074066979180321</c:v>
                </c:pt>
                <c:pt idx="713">
                  <c:v>-0.27452290458996542</c:v>
                </c:pt>
                <c:pt idx="714">
                  <c:v>-0.26176958275259232</c:v>
                </c:pt>
                <c:pt idx="715">
                  <c:v>-0.26066006299357447</c:v>
                </c:pt>
                <c:pt idx="716">
                  <c:v>-0.25314110645765575</c:v>
                </c:pt>
                <c:pt idx="717">
                  <c:v>-0.2492589744459951</c:v>
                </c:pt>
                <c:pt idx="718">
                  <c:v>-0.26638107490141771</c:v>
                </c:pt>
                <c:pt idx="719">
                  <c:v>-0.26684012837354887</c:v>
                </c:pt>
                <c:pt idx="720">
                  <c:v>-0.26377896742627449</c:v>
                </c:pt>
                <c:pt idx="721">
                  <c:v>-0.27218449728687755</c:v>
                </c:pt>
                <c:pt idx="722">
                  <c:v>-0.2798405959130531</c:v>
                </c:pt>
                <c:pt idx="723">
                  <c:v>-0.29964674018866444</c:v>
                </c:pt>
                <c:pt idx="724">
                  <c:v>-0.29308975747736998</c:v>
                </c:pt>
                <c:pt idx="725">
                  <c:v>-0.28769199782639843</c:v>
                </c:pt>
                <c:pt idx="726">
                  <c:v>-0.28662457419510046</c:v>
                </c:pt>
                <c:pt idx="727">
                  <c:v>-0.28802850942924285</c:v>
                </c:pt>
                <c:pt idx="728">
                  <c:v>-0.28710617652578418</c:v>
                </c:pt>
                <c:pt idx="729">
                  <c:v>-0.29095722338610219</c:v>
                </c:pt>
                <c:pt idx="730">
                  <c:v>-0.29592265208129231</c:v>
                </c:pt>
                <c:pt idx="731">
                  <c:v>-0.28341993862163528</c:v>
                </c:pt>
                <c:pt idx="732">
                  <c:v>-0.2830792626969969</c:v>
                </c:pt>
                <c:pt idx="733">
                  <c:v>-0.28697947695102277</c:v>
                </c:pt>
                <c:pt idx="734">
                  <c:v>-0.28738077695270281</c:v>
                </c:pt>
                <c:pt idx="735">
                  <c:v>-0.29056143852192717</c:v>
                </c:pt>
                <c:pt idx="736">
                  <c:v>-0.28759194337599558</c:v>
                </c:pt>
                <c:pt idx="737">
                  <c:v>-0.28846218835066484</c:v>
                </c:pt>
                <c:pt idx="738">
                  <c:v>-0.28805788946198529</c:v>
                </c:pt>
                <c:pt idx="739">
                  <c:v>-0.29626233876985708</c:v>
                </c:pt>
                <c:pt idx="740">
                  <c:v>-0.30158119973179076</c:v>
                </c:pt>
                <c:pt idx="741">
                  <c:v>-0.28021281051099667</c:v>
                </c:pt>
                <c:pt idx="742">
                  <c:v>-0.28375409944856222</c:v>
                </c:pt>
                <c:pt idx="743">
                  <c:v>-0.27188117745254836</c:v>
                </c:pt>
                <c:pt idx="744">
                  <c:v>-0.26806615257823696</c:v>
                </c:pt>
                <c:pt idx="745">
                  <c:v>-0.28181999211110265</c:v>
                </c:pt>
                <c:pt idx="746">
                  <c:v>-0.28342252814996027</c:v>
                </c:pt>
                <c:pt idx="747">
                  <c:v>-0.29387756963682454</c:v>
                </c:pt>
                <c:pt idx="748">
                  <c:v>-0.28919983741191668</c:v>
                </c:pt>
                <c:pt idx="749">
                  <c:v>-0.29212519131756121</c:v>
                </c:pt>
                <c:pt idx="750">
                  <c:v>-0.29780117304435472</c:v>
                </c:pt>
                <c:pt idx="751">
                  <c:v>-0.29340212427342016</c:v>
                </c:pt>
                <c:pt idx="752">
                  <c:v>-0.30087435196372558</c:v>
                </c:pt>
                <c:pt idx="753">
                  <c:v>-0.30001026737298586</c:v>
                </c:pt>
                <c:pt idx="754">
                  <c:v>-0.3012007377537802</c:v>
                </c:pt>
                <c:pt idx="755">
                  <c:v>-0.2975263580998132</c:v>
                </c:pt>
                <c:pt idx="756">
                  <c:v>-0.29572396052054861</c:v>
                </c:pt>
                <c:pt idx="757">
                  <c:v>-0.2926853050967817</c:v>
                </c:pt>
                <c:pt idx="758">
                  <c:v>-0.2925411688568692</c:v>
                </c:pt>
                <c:pt idx="759">
                  <c:v>-0.29388749252431245</c:v>
                </c:pt>
                <c:pt idx="760">
                  <c:v>-0.28899339852320505</c:v>
                </c:pt>
                <c:pt idx="761">
                  <c:v>-0.29292702401351911</c:v>
                </c:pt>
                <c:pt idx="762">
                  <c:v>-0.29516150363906335</c:v>
                </c:pt>
                <c:pt idx="763">
                  <c:v>-0.29103317797031536</c:v>
                </c:pt>
                <c:pt idx="764">
                  <c:v>-0.29147646976596286</c:v>
                </c:pt>
                <c:pt idx="765">
                  <c:v>-0.28871510401738854</c:v>
                </c:pt>
                <c:pt idx="766">
                  <c:v>-0.28497250437560961</c:v>
                </c:pt>
                <c:pt idx="767">
                  <c:v>-0.28299848371167668</c:v>
                </c:pt>
                <c:pt idx="768">
                  <c:v>-0.27686668586149088</c:v>
                </c:pt>
                <c:pt idx="769">
                  <c:v>-0.27843871872399129</c:v>
                </c:pt>
                <c:pt idx="770">
                  <c:v>-0.28580769900242864</c:v>
                </c:pt>
                <c:pt idx="771">
                  <c:v>-0.29286638335661852</c:v>
                </c:pt>
                <c:pt idx="772">
                  <c:v>-0.30290317366696351</c:v>
                </c:pt>
                <c:pt idx="773">
                  <c:v>-0.30857594859209947</c:v>
                </c:pt>
                <c:pt idx="774">
                  <c:v>-0.30145536047093613</c:v>
                </c:pt>
                <c:pt idx="775">
                  <c:v>-0.30075148870207802</c:v>
                </c:pt>
                <c:pt idx="776">
                  <c:v>-0.29945481066860413</c:v>
                </c:pt>
                <c:pt idx="777">
                  <c:v>-0.29941250439487344</c:v>
                </c:pt>
                <c:pt idx="778">
                  <c:v>-0.30268014869014803</c:v>
                </c:pt>
                <c:pt idx="779">
                  <c:v>-0.30313746314684376</c:v>
                </c:pt>
                <c:pt idx="780">
                  <c:v>-0.29811207011770124</c:v>
                </c:pt>
                <c:pt idx="781">
                  <c:v>-0.29918250599935947</c:v>
                </c:pt>
                <c:pt idx="782">
                  <c:v>-0.29911948625052887</c:v>
                </c:pt>
                <c:pt idx="783">
                  <c:v>-0.31448936537161409</c:v>
                </c:pt>
                <c:pt idx="784">
                  <c:v>-0.30899422958404466</c:v>
                </c:pt>
                <c:pt idx="785">
                  <c:v>-0.31476634415676708</c:v>
                </c:pt>
                <c:pt idx="786">
                  <c:v>-0.31616584464378816</c:v>
                </c:pt>
                <c:pt idx="787">
                  <c:v>-0.31806370212416923</c:v>
                </c:pt>
                <c:pt idx="788">
                  <c:v>-0.31837089451248601</c:v>
                </c:pt>
                <c:pt idx="789">
                  <c:v>-0.32048988059855499</c:v>
                </c:pt>
                <c:pt idx="790">
                  <c:v>-0.32164025702875165</c:v>
                </c:pt>
                <c:pt idx="791">
                  <c:v>-0.3213860498739135</c:v>
                </c:pt>
                <c:pt idx="792">
                  <c:v>-0.32432246451359437</c:v>
                </c:pt>
                <c:pt idx="793">
                  <c:v>-0.32774993135003627</c:v>
                </c:pt>
                <c:pt idx="794">
                  <c:v>-0.32408769287841077</c:v>
                </c:pt>
                <c:pt idx="795">
                  <c:v>-0.32394601469006734</c:v>
                </c:pt>
                <c:pt idx="796">
                  <c:v>-0.32326430983000487</c:v>
                </c:pt>
                <c:pt idx="797">
                  <c:v>-0.33080946675965084</c:v>
                </c:pt>
                <c:pt idx="798">
                  <c:v>-0.33747601893226375</c:v>
                </c:pt>
                <c:pt idx="799">
                  <c:v>-0.339731092575286</c:v>
                </c:pt>
                <c:pt idx="800">
                  <c:v>-0.33489235899411329</c:v>
                </c:pt>
                <c:pt idx="801">
                  <c:v>-0.34296609200670702</c:v>
                </c:pt>
                <c:pt idx="802">
                  <c:v>-0.34673271822796647</c:v>
                </c:pt>
                <c:pt idx="803">
                  <c:v>-0.35229656703412948</c:v>
                </c:pt>
                <c:pt idx="804">
                  <c:v>-0.34738021631132832</c:v>
                </c:pt>
                <c:pt idx="805">
                  <c:v>-0.35093811662439423</c:v>
                </c:pt>
                <c:pt idx="806">
                  <c:v>-0.35210090607798805</c:v>
                </c:pt>
                <c:pt idx="807">
                  <c:v>-0.35135983979615359</c:v>
                </c:pt>
                <c:pt idx="808">
                  <c:v>-0.3627398190120068</c:v>
                </c:pt>
                <c:pt idx="809">
                  <c:v>-0.36662066409597061</c:v>
                </c:pt>
                <c:pt idx="810">
                  <c:v>-0.35936476247646876</c:v>
                </c:pt>
                <c:pt idx="811">
                  <c:v>-0.36053743321321763</c:v>
                </c:pt>
                <c:pt idx="812">
                  <c:v>-0.35323629238050858</c:v>
                </c:pt>
                <c:pt idx="813">
                  <c:v>-0.34877517603157215</c:v>
                </c:pt>
                <c:pt idx="814">
                  <c:v>-0.36100715462884414</c:v>
                </c:pt>
                <c:pt idx="815">
                  <c:v>-0.36207442687625413</c:v>
                </c:pt>
                <c:pt idx="816">
                  <c:v>-0.35676684524108127</c:v>
                </c:pt>
                <c:pt idx="817">
                  <c:v>-0.35982174290472724</c:v>
                </c:pt>
                <c:pt idx="818">
                  <c:v>-0.35604840374207725</c:v>
                </c:pt>
                <c:pt idx="819">
                  <c:v>-0.35358370539614492</c:v>
                </c:pt>
                <c:pt idx="820">
                  <c:v>-0.3490345426227538</c:v>
                </c:pt>
                <c:pt idx="821">
                  <c:v>-0.34812707646799101</c:v>
                </c:pt>
                <c:pt idx="822">
                  <c:v>-0.36040073476504109</c:v>
                </c:pt>
                <c:pt idx="823">
                  <c:v>-0.35792236804793665</c:v>
                </c:pt>
                <c:pt idx="824">
                  <c:v>-0.35721702754327234</c:v>
                </c:pt>
                <c:pt idx="825">
                  <c:v>-0.37663577260943892</c:v>
                </c:pt>
                <c:pt idx="826">
                  <c:v>-0.36969185660220094</c:v>
                </c:pt>
                <c:pt idx="827">
                  <c:v>-0.37777431627450153</c:v>
                </c:pt>
                <c:pt idx="828">
                  <c:v>-0.38271268431297611</c:v>
                </c:pt>
                <c:pt idx="829">
                  <c:v>-0.39350227807776927</c:v>
                </c:pt>
                <c:pt idx="830">
                  <c:v>-0.39769826768340977</c:v>
                </c:pt>
                <c:pt idx="831">
                  <c:v>-0.39102176350477447</c:v>
                </c:pt>
                <c:pt idx="832">
                  <c:v>-0.38165745661863626</c:v>
                </c:pt>
                <c:pt idx="833">
                  <c:v>-0.3803032050058669</c:v>
                </c:pt>
                <c:pt idx="834">
                  <c:v>-0.37178185355221594</c:v>
                </c:pt>
                <c:pt idx="835">
                  <c:v>-0.35861053531272302</c:v>
                </c:pt>
                <c:pt idx="836">
                  <c:v>-0.37374777859254305</c:v>
                </c:pt>
                <c:pt idx="837">
                  <c:v>-0.38132231557890617</c:v>
                </c:pt>
                <c:pt idx="838">
                  <c:v>-0.40260726229279253</c:v>
                </c:pt>
                <c:pt idx="839">
                  <c:v>-0.44082999907936171</c:v>
                </c:pt>
                <c:pt idx="840">
                  <c:v>-0.44242714951305218</c:v>
                </c:pt>
                <c:pt idx="841">
                  <c:v>-0.43998958494761764</c:v>
                </c:pt>
                <c:pt idx="842">
                  <c:v>-0.42895348946016909</c:v>
                </c:pt>
                <c:pt idx="843">
                  <c:v>-0.42268314882522862</c:v>
                </c:pt>
                <c:pt idx="844">
                  <c:v>-0.4529961897701309</c:v>
                </c:pt>
                <c:pt idx="845">
                  <c:v>-0.44726158980951569</c:v>
                </c:pt>
                <c:pt idx="846">
                  <c:v>-0.44458482370104724</c:v>
                </c:pt>
                <c:pt idx="847">
                  <c:v>-0.45578699933396882</c:v>
                </c:pt>
                <c:pt idx="848">
                  <c:v>-0.44678586391051767</c:v>
                </c:pt>
                <c:pt idx="849">
                  <c:v>-0.46760722837391089</c:v>
                </c:pt>
                <c:pt idx="850">
                  <c:v>-0.44816249929554042</c:v>
                </c:pt>
                <c:pt idx="851">
                  <c:v>-0.43848821117747494</c:v>
                </c:pt>
                <c:pt idx="852">
                  <c:v>-0.45972567263657782</c:v>
                </c:pt>
                <c:pt idx="853">
                  <c:v>-0.43352142877016286</c:v>
                </c:pt>
                <c:pt idx="854">
                  <c:v>-0.43301580490056368</c:v>
                </c:pt>
                <c:pt idx="855">
                  <c:v>-0.44065010145549544</c:v>
                </c:pt>
                <c:pt idx="856">
                  <c:v>-0.46316486525618972</c:v>
                </c:pt>
                <c:pt idx="857">
                  <c:v>-0.4915775172504443</c:v>
                </c:pt>
                <c:pt idx="858">
                  <c:v>-0.48620007110307151</c:v>
                </c:pt>
                <c:pt idx="859">
                  <c:v>-0.47572763951169295</c:v>
                </c:pt>
                <c:pt idx="860">
                  <c:v>-0.47578025686096703</c:v>
                </c:pt>
                <c:pt idx="861">
                  <c:v>-0.48596475839890907</c:v>
                </c:pt>
                <c:pt idx="862">
                  <c:v>-0.50582655889310679</c:v>
                </c:pt>
                <c:pt idx="863">
                  <c:v>-0.49944079989769652</c:v>
                </c:pt>
                <c:pt idx="864">
                  <c:v>-0.50245539783185023</c:v>
                </c:pt>
                <c:pt idx="865">
                  <c:v>-0.48479115154375774</c:v>
                </c:pt>
                <c:pt idx="866">
                  <c:v>-0.45628513749192889</c:v>
                </c:pt>
                <c:pt idx="867">
                  <c:v>-0.40101202096981481</c:v>
                </c:pt>
                <c:pt idx="868">
                  <c:v>-0.44068624311475557</c:v>
                </c:pt>
                <c:pt idx="869">
                  <c:v>-0.44043292577619875</c:v>
                </c:pt>
                <c:pt idx="870">
                  <c:v>-0.45798775545756154</c:v>
                </c:pt>
                <c:pt idx="871">
                  <c:v>-0.46623991013371768</c:v>
                </c:pt>
                <c:pt idx="872">
                  <c:v>-0.46202680238275495</c:v>
                </c:pt>
                <c:pt idx="873">
                  <c:v>-0.464177512688139</c:v>
                </c:pt>
                <c:pt idx="874">
                  <c:v>-0.4595172950942209</c:v>
                </c:pt>
                <c:pt idx="875">
                  <c:v>-0.47479358584800579</c:v>
                </c:pt>
                <c:pt idx="876">
                  <c:v>-0.4822921842440272</c:v>
                </c:pt>
                <c:pt idx="877">
                  <c:v>-0.50190567021424271</c:v>
                </c:pt>
                <c:pt idx="878">
                  <c:v>-0.49618888270963724</c:v>
                </c:pt>
                <c:pt idx="879">
                  <c:v>-0.48831399383929386</c:v>
                </c:pt>
                <c:pt idx="880">
                  <c:v>-0.49360141058471185</c:v>
                </c:pt>
                <c:pt idx="881">
                  <c:v>-0.49653773255694611</c:v>
                </c:pt>
                <c:pt idx="882">
                  <c:v>-0.50328598526275881</c:v>
                </c:pt>
                <c:pt idx="883">
                  <c:v>-0.50650635537188315</c:v>
                </c:pt>
                <c:pt idx="884">
                  <c:v>-0.5083043970147052</c:v>
                </c:pt>
                <c:pt idx="885">
                  <c:v>-0.50713972187038725</c:v>
                </c:pt>
                <c:pt idx="886">
                  <c:v>-0.49139270045810379</c:v>
                </c:pt>
                <c:pt idx="887">
                  <c:v>-0.46387138173229436</c:v>
                </c:pt>
                <c:pt idx="888">
                  <c:v>-0.48749201098240436</c:v>
                </c:pt>
                <c:pt idx="889">
                  <c:v>-0.49330926822664212</c:v>
                </c:pt>
                <c:pt idx="890">
                  <c:v>-0.47532371876749469</c:v>
                </c:pt>
                <c:pt idx="891">
                  <c:v>-0.48243634393372681</c:v>
                </c:pt>
                <c:pt idx="892">
                  <c:v>-0.47199659647043046</c:v>
                </c:pt>
                <c:pt idx="893">
                  <c:v>-0.46374337244074304</c:v>
                </c:pt>
                <c:pt idx="894">
                  <c:v>-0.45131594555377386</c:v>
                </c:pt>
                <c:pt idx="895">
                  <c:v>-0.4291670975275087</c:v>
                </c:pt>
                <c:pt idx="896">
                  <c:v>-0.45635309226859255</c:v>
                </c:pt>
                <c:pt idx="897">
                  <c:v>-0.47369528555513851</c:v>
                </c:pt>
                <c:pt idx="898">
                  <c:v>-0.47594748012345012</c:v>
                </c:pt>
                <c:pt idx="899">
                  <c:v>-0.4768818260522274</c:v>
                </c:pt>
                <c:pt idx="900">
                  <c:v>-0.46824708356947131</c:v>
                </c:pt>
                <c:pt idx="901">
                  <c:v>-0.47773065123642566</c:v>
                </c:pt>
                <c:pt idx="902">
                  <c:v>-0.48486109404495259</c:v>
                </c:pt>
                <c:pt idx="903">
                  <c:v>-0.48492234853427552</c:v>
                </c:pt>
                <c:pt idx="904">
                  <c:v>-0.5012770775446882</c:v>
                </c:pt>
                <c:pt idx="905">
                  <c:v>-0.50615080181875827</c:v>
                </c:pt>
                <c:pt idx="906">
                  <c:v>-0.49563475099680532</c:v>
                </c:pt>
                <c:pt idx="907">
                  <c:v>-0.49804928897150214</c:v>
                </c:pt>
                <c:pt idx="908">
                  <c:v>-0.50047847902539733</c:v>
                </c:pt>
                <c:pt idx="909">
                  <c:v>-0.48859251611433419</c:v>
                </c:pt>
                <c:pt idx="910">
                  <c:v>-0.48070877341192941</c:v>
                </c:pt>
                <c:pt idx="911">
                  <c:v>-0.48513638253512925</c:v>
                </c:pt>
                <c:pt idx="912">
                  <c:v>-0.48862343660354024</c:v>
                </c:pt>
                <c:pt idx="913">
                  <c:v>-0.49019747821855331</c:v>
                </c:pt>
                <c:pt idx="914">
                  <c:v>-0.49008556247198032</c:v>
                </c:pt>
                <c:pt idx="915">
                  <c:v>-0.49167141148117322</c:v>
                </c:pt>
                <c:pt idx="916">
                  <c:v>-0.48110704301536689</c:v>
                </c:pt>
                <c:pt idx="917">
                  <c:v>-0.50517428557035737</c:v>
                </c:pt>
                <c:pt idx="918">
                  <c:v>-0.52141975464052892</c:v>
                </c:pt>
                <c:pt idx="919">
                  <c:v>-0.51016053547705542</c:v>
                </c:pt>
                <c:pt idx="920">
                  <c:v>-0.49811213220617745</c:v>
                </c:pt>
                <c:pt idx="921">
                  <c:v>-0.5026602818326078</c:v>
                </c:pt>
                <c:pt idx="922">
                  <c:v>-0.49519560703761767</c:v>
                </c:pt>
                <c:pt idx="923">
                  <c:v>-0.49291517917876593</c:v>
                </c:pt>
                <c:pt idx="924">
                  <c:v>-0.49928388171882954</c:v>
                </c:pt>
                <c:pt idx="925">
                  <c:v>-0.51757889003282775</c:v>
                </c:pt>
                <c:pt idx="926">
                  <c:v>-0.51348142970499011</c:v>
                </c:pt>
                <c:pt idx="927">
                  <c:v>-0.51066418043325279</c:v>
                </c:pt>
                <c:pt idx="928">
                  <c:v>-0.49055132578777438</c:v>
                </c:pt>
                <c:pt idx="929">
                  <c:v>-0.48699198006561806</c:v>
                </c:pt>
                <c:pt idx="930">
                  <c:v>-0.48602126797170597</c:v>
                </c:pt>
                <c:pt idx="931">
                  <c:v>-0.50422911295005457</c:v>
                </c:pt>
                <c:pt idx="932">
                  <c:v>-0.51980952803468949</c:v>
                </c:pt>
                <c:pt idx="933">
                  <c:v>-0.52270611719421312</c:v>
                </c:pt>
                <c:pt idx="934">
                  <c:v>-0.51814303783431992</c:v>
                </c:pt>
                <c:pt idx="935">
                  <c:v>-0.52098147801798023</c:v>
                </c:pt>
                <c:pt idx="936">
                  <c:v>-0.52969877904433349</c:v>
                </c:pt>
                <c:pt idx="937">
                  <c:v>-0.53623283776815844</c:v>
                </c:pt>
                <c:pt idx="938">
                  <c:v>-0.5305523174320621</c:v>
                </c:pt>
                <c:pt idx="939">
                  <c:v>-0.53440759187826847</c:v>
                </c:pt>
                <c:pt idx="940">
                  <c:v>-0.51990220406731136</c:v>
                </c:pt>
                <c:pt idx="941">
                  <c:v>-0.50944342224725747</c:v>
                </c:pt>
                <c:pt idx="942">
                  <c:v>-0.53008734007296932</c:v>
                </c:pt>
                <c:pt idx="943">
                  <c:v>-0.52741135724003041</c:v>
                </c:pt>
                <c:pt idx="944">
                  <c:v>-0.51958951482651528</c:v>
                </c:pt>
                <c:pt idx="945">
                  <c:v>-0.52914076921999764</c:v>
                </c:pt>
                <c:pt idx="946">
                  <c:v>-0.52747418344231678</c:v>
                </c:pt>
                <c:pt idx="947">
                  <c:v>-0.52815741116135539</c:v>
                </c:pt>
                <c:pt idx="948">
                  <c:v>-0.53563070032826532</c:v>
                </c:pt>
                <c:pt idx="949">
                  <c:v>-0.53942451762559074</c:v>
                </c:pt>
                <c:pt idx="950">
                  <c:v>-0.52646786468767626</c:v>
                </c:pt>
                <c:pt idx="951">
                  <c:v>-0.53356840827537966</c:v>
                </c:pt>
                <c:pt idx="952">
                  <c:v>-0.53939141952831671</c:v>
                </c:pt>
                <c:pt idx="953">
                  <c:v>-0.52897207630529164</c:v>
                </c:pt>
                <c:pt idx="954">
                  <c:v>-0.53105438192962429</c:v>
                </c:pt>
                <c:pt idx="955">
                  <c:v>-0.5382662942531673</c:v>
                </c:pt>
                <c:pt idx="956">
                  <c:v>-0.54852146897047871</c:v>
                </c:pt>
                <c:pt idx="957">
                  <c:v>-0.54771894456715087</c:v>
                </c:pt>
                <c:pt idx="958">
                  <c:v>-0.52825472733790524</c:v>
                </c:pt>
                <c:pt idx="959">
                  <c:v>-0.52602719469000614</c:v>
                </c:pt>
                <c:pt idx="960">
                  <c:v>-0.52541645917509028</c:v>
                </c:pt>
                <c:pt idx="961">
                  <c:v>-0.51504775486588539</c:v>
                </c:pt>
                <c:pt idx="962">
                  <c:v>-0.53145692868155536</c:v>
                </c:pt>
                <c:pt idx="963">
                  <c:v>-0.53354988488045607</c:v>
                </c:pt>
                <c:pt idx="964">
                  <c:v>-0.52879882816524471</c:v>
                </c:pt>
                <c:pt idx="965">
                  <c:v>-0.52052539974285605</c:v>
                </c:pt>
                <c:pt idx="966">
                  <c:v>-0.52390584642746374</c:v>
                </c:pt>
                <c:pt idx="967">
                  <c:v>-0.51950969656980517</c:v>
                </c:pt>
                <c:pt idx="968">
                  <c:v>-0.51825630677615386</c:v>
                </c:pt>
                <c:pt idx="969">
                  <c:v>-0.53115611672096819</c:v>
                </c:pt>
                <c:pt idx="970">
                  <c:v>-0.54659864444511208</c:v>
                </c:pt>
                <c:pt idx="971">
                  <c:v>-0.54691131835237883</c:v>
                </c:pt>
                <c:pt idx="972">
                  <c:v>-0.54434163650116918</c:v>
                </c:pt>
                <c:pt idx="973">
                  <c:v>-0.54446181348510758</c:v>
                </c:pt>
                <c:pt idx="974">
                  <c:v>-0.54921653429012696</c:v>
                </c:pt>
                <c:pt idx="975">
                  <c:v>-0.55160472818865147</c:v>
                </c:pt>
                <c:pt idx="976">
                  <c:v>-0.55673723370592176</c:v>
                </c:pt>
                <c:pt idx="977">
                  <c:v>-0.55595611020125224</c:v>
                </c:pt>
                <c:pt idx="978">
                  <c:v>-0.55757355121892327</c:v>
                </c:pt>
                <c:pt idx="979">
                  <c:v>-0.53734161430570615</c:v>
                </c:pt>
                <c:pt idx="980">
                  <c:v>-0.5413353205809287</c:v>
                </c:pt>
                <c:pt idx="981">
                  <c:v>-0.53939242920664832</c:v>
                </c:pt>
                <c:pt idx="982">
                  <c:v>-0.53932827609776102</c:v>
                </c:pt>
                <c:pt idx="983">
                  <c:v>-0.53404367979078515</c:v>
                </c:pt>
                <c:pt idx="984">
                  <c:v>-0.54394941034324673</c:v>
                </c:pt>
                <c:pt idx="985">
                  <c:v>-0.54349947006633093</c:v>
                </c:pt>
                <c:pt idx="986">
                  <c:v>-0.54572586264900158</c:v>
                </c:pt>
                <c:pt idx="987">
                  <c:v>-0.53941845807399602</c:v>
                </c:pt>
                <c:pt idx="988">
                  <c:v>-0.54177541131307438</c:v>
                </c:pt>
                <c:pt idx="989">
                  <c:v>-0.54435990596171857</c:v>
                </c:pt>
                <c:pt idx="990">
                  <c:v>-0.55124720461642063</c:v>
                </c:pt>
                <c:pt idx="991">
                  <c:v>-0.55018710856135389</c:v>
                </c:pt>
                <c:pt idx="992">
                  <c:v>-0.54585992165128783</c:v>
                </c:pt>
                <c:pt idx="993">
                  <c:v>-0.54702928589507049</c:v>
                </c:pt>
                <c:pt idx="994">
                  <c:v>-0.53885408201614737</c:v>
                </c:pt>
                <c:pt idx="995">
                  <c:v>-0.5433067896464957</c:v>
                </c:pt>
                <c:pt idx="996">
                  <c:v>-0.56873037527204118</c:v>
                </c:pt>
                <c:pt idx="997">
                  <c:v>-0.57869893969928288</c:v>
                </c:pt>
                <c:pt idx="998">
                  <c:v>-0.58861654886199299</c:v>
                </c:pt>
                <c:pt idx="999">
                  <c:v>-0.57426731656764018</c:v>
                </c:pt>
                <c:pt idx="1000">
                  <c:v>-0.56544839534567104</c:v>
                </c:pt>
                <c:pt idx="1001">
                  <c:v>-0.5609279960001492</c:v>
                </c:pt>
                <c:pt idx="1002">
                  <c:v>-0.58902521896707938</c:v>
                </c:pt>
                <c:pt idx="1003">
                  <c:v>-0.58380542906677912</c:v>
                </c:pt>
                <c:pt idx="1004">
                  <c:v>-0.59150911600315603</c:v>
                </c:pt>
                <c:pt idx="1005">
                  <c:v>-0.53608500105774026</c:v>
                </c:pt>
                <c:pt idx="1006">
                  <c:v>-0.52229845090503091</c:v>
                </c:pt>
                <c:pt idx="1007">
                  <c:v>-0.52383132596265924</c:v>
                </c:pt>
                <c:pt idx="1008">
                  <c:v>-0.52717522980354836</c:v>
                </c:pt>
                <c:pt idx="1009">
                  <c:v>-0.5159101046145611</c:v>
                </c:pt>
                <c:pt idx="1010">
                  <c:v>-0.49210200841754781</c:v>
                </c:pt>
                <c:pt idx="1011">
                  <c:v>-0.48931108590976258</c:v>
                </c:pt>
                <c:pt idx="1012">
                  <c:v>-0.49998611312477881</c:v>
                </c:pt>
                <c:pt idx="1013">
                  <c:v>-0.50448792517143859</c:v>
                </c:pt>
                <c:pt idx="1014">
                  <c:v>-0.49879939875538881</c:v>
                </c:pt>
                <c:pt idx="1015">
                  <c:v>-0.48868902581829754</c:v>
                </c:pt>
                <c:pt idx="1016">
                  <c:v>-0.46915727324189571</c:v>
                </c:pt>
                <c:pt idx="1017">
                  <c:v>-0.4701163119289119</c:v>
                </c:pt>
                <c:pt idx="1018">
                  <c:v>-0.47004640512294182</c:v>
                </c:pt>
                <c:pt idx="1019">
                  <c:v>-0.48078973554097448</c:v>
                </c:pt>
                <c:pt idx="1020">
                  <c:v>-0.47745194930231916</c:v>
                </c:pt>
                <c:pt idx="1021">
                  <c:v>-0.48004413802616042</c:v>
                </c:pt>
                <c:pt idx="1022">
                  <c:v>-0.47848114810192732</c:v>
                </c:pt>
                <c:pt idx="1023">
                  <c:v>-0.46721972889561292</c:v>
                </c:pt>
                <c:pt idx="1024">
                  <c:v>-0.47247477635958635</c:v>
                </c:pt>
                <c:pt idx="1025">
                  <c:v>-0.4763049557055774</c:v>
                </c:pt>
                <c:pt idx="1026">
                  <c:v>-0.47452110622689292</c:v>
                </c:pt>
                <c:pt idx="1027">
                  <c:v>-0.47242083520526834</c:v>
                </c:pt>
                <c:pt idx="1028">
                  <c:v>-0.4746531570248953</c:v>
                </c:pt>
                <c:pt idx="1029">
                  <c:v>-0.46572315928590735</c:v>
                </c:pt>
                <c:pt idx="1030">
                  <c:v>-0.47091444347945954</c:v>
                </c:pt>
                <c:pt idx="1031">
                  <c:v>-0.47098001139532175</c:v>
                </c:pt>
                <c:pt idx="1032">
                  <c:v>-0.46881501236815948</c:v>
                </c:pt>
                <c:pt idx="1033">
                  <c:v>-0.48312733971969224</c:v>
                </c:pt>
                <c:pt idx="1034">
                  <c:v>-0.49485641808756164</c:v>
                </c:pt>
                <c:pt idx="1035">
                  <c:v>-0.5083679648184436</c:v>
                </c:pt>
                <c:pt idx="1036">
                  <c:v>-0.51332148173914871</c:v>
                </c:pt>
                <c:pt idx="1037">
                  <c:v>-0.50143057180214368</c:v>
                </c:pt>
                <c:pt idx="1038">
                  <c:v>-0.50297397136724165</c:v>
                </c:pt>
                <c:pt idx="1039">
                  <c:v>-0.50286932582468902</c:v>
                </c:pt>
                <c:pt idx="1040">
                  <c:v>-0.49789482456648781</c:v>
                </c:pt>
                <c:pt idx="1041">
                  <c:v>-0.49942976563606856</c:v>
                </c:pt>
                <c:pt idx="1042">
                  <c:v>-0.50131053213279597</c:v>
                </c:pt>
                <c:pt idx="1043">
                  <c:v>-0.50058412700093902</c:v>
                </c:pt>
                <c:pt idx="1044">
                  <c:v>-0.50037851687529722</c:v>
                </c:pt>
                <c:pt idx="1045">
                  <c:v>-0.50358143876019845</c:v>
                </c:pt>
                <c:pt idx="1046">
                  <c:v>-0.49833667568807194</c:v>
                </c:pt>
                <c:pt idx="1047">
                  <c:v>-0.45979933294653741</c:v>
                </c:pt>
                <c:pt idx="1048">
                  <c:v>-0.4911556100750486</c:v>
                </c:pt>
                <c:pt idx="1049">
                  <c:v>-0.49655686775223518</c:v>
                </c:pt>
                <c:pt idx="1050">
                  <c:v>-0.49124561732096506</c:v>
                </c:pt>
                <c:pt idx="1051">
                  <c:v>-0.48930006723670216</c:v>
                </c:pt>
                <c:pt idx="1052">
                  <c:v>-0.49822683579462657</c:v>
                </c:pt>
                <c:pt idx="1053">
                  <c:v>-0.49272793898961065</c:v>
                </c:pt>
                <c:pt idx="1054">
                  <c:v>-0.4910049273711532</c:v>
                </c:pt>
                <c:pt idx="1055">
                  <c:v>-0.48988031395324161</c:v>
                </c:pt>
                <c:pt idx="1056">
                  <c:v>-0.49272484319313525</c:v>
                </c:pt>
                <c:pt idx="1057">
                  <c:v>-0.49947248765460328</c:v>
                </c:pt>
                <c:pt idx="1058">
                  <c:v>-0.4974833306996681</c:v>
                </c:pt>
                <c:pt idx="1059">
                  <c:v>-0.49921544463713308</c:v>
                </c:pt>
                <c:pt idx="1060">
                  <c:v>-0.48923355961274384</c:v>
                </c:pt>
                <c:pt idx="1061">
                  <c:v>-0.47390019050740484</c:v>
                </c:pt>
                <c:pt idx="1062">
                  <c:v>-0.44876989755486696</c:v>
                </c:pt>
                <c:pt idx="1063">
                  <c:v>-0.46932811035400879</c:v>
                </c:pt>
                <c:pt idx="1064">
                  <c:v>-0.47601610225872037</c:v>
                </c:pt>
                <c:pt idx="1065">
                  <c:v>-0.4793945814097762</c:v>
                </c:pt>
                <c:pt idx="1066">
                  <c:v>-0.48666001873945797</c:v>
                </c:pt>
                <c:pt idx="1067">
                  <c:v>-0.46988921353194602</c:v>
                </c:pt>
                <c:pt idx="1068">
                  <c:v>-0.46961046183360389</c:v>
                </c:pt>
                <c:pt idx="1069">
                  <c:v>-0.46293602876124007</c:v>
                </c:pt>
                <c:pt idx="1070">
                  <c:v>-0.45941903565191933</c:v>
                </c:pt>
                <c:pt idx="1071">
                  <c:v>-0.46215783937919985</c:v>
                </c:pt>
                <c:pt idx="1072">
                  <c:v>-0.47508184196639747</c:v>
                </c:pt>
                <c:pt idx="1073">
                  <c:v>-0.46843177871953556</c:v>
                </c:pt>
                <c:pt idx="1074">
                  <c:v>-0.46932469431500523</c:v>
                </c:pt>
                <c:pt idx="1075">
                  <c:v>-0.46901722810079771</c:v>
                </c:pt>
                <c:pt idx="1076">
                  <c:v>-0.47129441704176656</c:v>
                </c:pt>
                <c:pt idx="1077">
                  <c:v>-0.46109979888280916</c:v>
                </c:pt>
                <c:pt idx="1078">
                  <c:v>-0.46821652416277748</c:v>
                </c:pt>
                <c:pt idx="1079">
                  <c:v>-0.46229481606522571</c:v>
                </c:pt>
                <c:pt idx="1080">
                  <c:v>-0.4447779518305458</c:v>
                </c:pt>
                <c:pt idx="1081">
                  <c:v>-0.44408180263510111</c:v>
                </c:pt>
                <c:pt idx="1082">
                  <c:v>-0.45149764643755474</c:v>
                </c:pt>
                <c:pt idx="1083">
                  <c:v>-0.45213318148903725</c:v>
                </c:pt>
                <c:pt idx="1084">
                  <c:v>-0.45149506575682696</c:v>
                </c:pt>
                <c:pt idx="1085">
                  <c:v>-0.44493253678362332</c:v>
                </c:pt>
                <c:pt idx="1086">
                  <c:v>-0.43555076209052257</c:v>
                </c:pt>
                <c:pt idx="1087">
                  <c:v>-0.41561296588685026</c:v>
                </c:pt>
                <c:pt idx="1088">
                  <c:v>-0.41638297287976289</c:v>
                </c:pt>
                <c:pt idx="1089">
                  <c:v>-0.40730051863693018</c:v>
                </c:pt>
                <c:pt idx="1090">
                  <c:v>-0.38117050666331542</c:v>
                </c:pt>
                <c:pt idx="1091">
                  <c:v>-0.40388403613233259</c:v>
                </c:pt>
                <c:pt idx="1092">
                  <c:v>-0.39872596763848545</c:v>
                </c:pt>
                <c:pt idx="1093">
                  <c:v>-0.40604743176285141</c:v>
                </c:pt>
                <c:pt idx="1094">
                  <c:v>-0.39515783188098763</c:v>
                </c:pt>
                <c:pt idx="1095">
                  <c:v>-0.40669802972133418</c:v>
                </c:pt>
                <c:pt idx="1096">
                  <c:v>-0.40425102134664104</c:v>
                </c:pt>
                <c:pt idx="1097">
                  <c:v>-0.40462674963457168</c:v>
                </c:pt>
                <c:pt idx="1098">
                  <c:v>-0.39313664181264873</c:v>
                </c:pt>
                <c:pt idx="1099">
                  <c:v>-0.39855801076505115</c:v>
                </c:pt>
                <c:pt idx="1100">
                  <c:v>-0.39725928289731716</c:v>
                </c:pt>
                <c:pt idx="1101">
                  <c:v>-0.40577957700737632</c:v>
                </c:pt>
                <c:pt idx="1102">
                  <c:v>-0.40696774904725808</c:v>
                </c:pt>
                <c:pt idx="1103">
                  <c:v>-0.3987793360786821</c:v>
                </c:pt>
                <c:pt idx="1104">
                  <c:v>-0.4143769095074018</c:v>
                </c:pt>
                <c:pt idx="1105">
                  <c:v>-0.41842573407730099</c:v>
                </c:pt>
                <c:pt idx="1106">
                  <c:v>-0.41253248940483367</c:v>
                </c:pt>
                <c:pt idx="1107">
                  <c:v>-0.42597557226471316</c:v>
                </c:pt>
                <c:pt idx="1108">
                  <c:v>-0.41822263304051044</c:v>
                </c:pt>
                <c:pt idx="1109">
                  <c:v>-0.4180717827449143</c:v>
                </c:pt>
                <c:pt idx="1110">
                  <c:v>-0.42365058117900489</c:v>
                </c:pt>
                <c:pt idx="1111">
                  <c:v>-0.41175237665970688</c:v>
                </c:pt>
                <c:pt idx="1112">
                  <c:v>-0.41165374913352515</c:v>
                </c:pt>
                <c:pt idx="1113">
                  <c:v>-0.41607404793242231</c:v>
                </c:pt>
                <c:pt idx="1114">
                  <c:v>-0.41714416459495773</c:v>
                </c:pt>
                <c:pt idx="1115">
                  <c:v>-0.40385131827376231</c:v>
                </c:pt>
                <c:pt idx="1116">
                  <c:v>-0.41106410745219402</c:v>
                </c:pt>
                <c:pt idx="1117">
                  <c:v>-0.40650904326318227</c:v>
                </c:pt>
                <c:pt idx="1118">
                  <c:v>-0.40428216505929049</c:v>
                </c:pt>
                <c:pt idx="1119">
                  <c:v>-0.40373833532562176</c:v>
                </c:pt>
                <c:pt idx="1120">
                  <c:v>-0.40083221540748082</c:v>
                </c:pt>
                <c:pt idx="1121">
                  <c:v>-0.40557351888830118</c:v>
                </c:pt>
                <c:pt idx="1122">
                  <c:v>-0.40285425565631927</c:v>
                </c:pt>
                <c:pt idx="1123">
                  <c:v>-0.39509843134136235</c:v>
                </c:pt>
                <c:pt idx="1124">
                  <c:v>-0.39646274767283252</c:v>
                </c:pt>
                <c:pt idx="1125">
                  <c:v>-0.40136706557894664</c:v>
                </c:pt>
                <c:pt idx="1126">
                  <c:v>-0.39459926978528015</c:v>
                </c:pt>
                <c:pt idx="1127">
                  <c:v>-0.38533828562731598</c:v>
                </c:pt>
                <c:pt idx="1128">
                  <c:v>-0.3745888422624829</c:v>
                </c:pt>
                <c:pt idx="1129">
                  <c:v>-0.372570356230007</c:v>
                </c:pt>
                <c:pt idx="1130">
                  <c:v>-0.36372731038750605</c:v>
                </c:pt>
                <c:pt idx="1131">
                  <c:v>-0.35798409904997763</c:v>
                </c:pt>
                <c:pt idx="1132">
                  <c:v>-0.3601566295418015</c:v>
                </c:pt>
                <c:pt idx="1133">
                  <c:v>-0.35570786830146639</c:v>
                </c:pt>
                <c:pt idx="1134">
                  <c:v>-0.35501789364307135</c:v>
                </c:pt>
                <c:pt idx="1135">
                  <c:v>-0.34854301345774263</c:v>
                </c:pt>
                <c:pt idx="1136">
                  <c:v>-0.35092118237972103</c:v>
                </c:pt>
                <c:pt idx="1137">
                  <c:v>-0.34931791446603677</c:v>
                </c:pt>
                <c:pt idx="1138">
                  <c:v>-0.34650500698997944</c:v>
                </c:pt>
                <c:pt idx="1139">
                  <c:v>-0.35831926471737818</c:v>
                </c:pt>
                <c:pt idx="1140">
                  <c:v>-0.35966288722044282</c:v>
                </c:pt>
                <c:pt idx="1141">
                  <c:v>-0.35580064872990369</c:v>
                </c:pt>
                <c:pt idx="1142">
                  <c:v>-0.35841308067686917</c:v>
                </c:pt>
                <c:pt idx="1143">
                  <c:v>-0.3611028627357562</c:v>
                </c:pt>
                <c:pt idx="1144">
                  <c:v>-0.35775677706388542</c:v>
                </c:pt>
                <c:pt idx="1145">
                  <c:v>-0.36109512143161215</c:v>
                </c:pt>
                <c:pt idx="1146">
                  <c:v>-0.36879402031322006</c:v>
                </c:pt>
                <c:pt idx="1147">
                  <c:v>-0.3705299849405721</c:v>
                </c:pt>
                <c:pt idx="1148">
                  <c:v>-0.36490446678077104</c:v>
                </c:pt>
                <c:pt idx="1149">
                  <c:v>-0.36812892485667037</c:v>
                </c:pt>
                <c:pt idx="1150">
                  <c:v>-0.36762358615051505</c:v>
                </c:pt>
                <c:pt idx="1151">
                  <c:v>-0.3615125545379877</c:v>
                </c:pt>
                <c:pt idx="1152">
                  <c:v>-0.36524001066862888</c:v>
                </c:pt>
                <c:pt idx="1153">
                  <c:v>-0.36694905856924942</c:v>
                </c:pt>
                <c:pt idx="1154">
                  <c:v>-0.36659733956204643</c:v>
                </c:pt>
                <c:pt idx="1155">
                  <c:v>-0.36584038458417167</c:v>
                </c:pt>
                <c:pt idx="1156">
                  <c:v>-0.35903030237821454</c:v>
                </c:pt>
                <c:pt idx="1157">
                  <c:v>-0.35872847105013073</c:v>
                </c:pt>
                <c:pt idx="1158">
                  <c:v>-0.36581087952086688</c:v>
                </c:pt>
                <c:pt idx="1159">
                  <c:v>-0.36471286450950791</c:v>
                </c:pt>
                <c:pt idx="1160">
                  <c:v>-0.37406483858211559</c:v>
                </c:pt>
                <c:pt idx="1161">
                  <c:v>-0.36796564655596686</c:v>
                </c:pt>
                <c:pt idx="1162">
                  <c:v>-0.36843514711513581</c:v>
                </c:pt>
                <c:pt idx="1163">
                  <c:v>-0.38198344603079748</c:v>
                </c:pt>
                <c:pt idx="1164">
                  <c:v>-0.39796905844093367</c:v>
                </c:pt>
                <c:pt idx="1165">
                  <c:v>-0.38816157372573035</c:v>
                </c:pt>
                <c:pt idx="1166">
                  <c:v>-0.39617137274051262</c:v>
                </c:pt>
                <c:pt idx="1167">
                  <c:v>-0.39593163581100632</c:v>
                </c:pt>
                <c:pt idx="1168">
                  <c:v>-0.39490888752817632</c:v>
                </c:pt>
                <c:pt idx="1169">
                  <c:v>-0.39192615580293666</c:v>
                </c:pt>
                <c:pt idx="1170">
                  <c:v>-0.40593677622973767</c:v>
                </c:pt>
                <c:pt idx="1171">
                  <c:v>-0.40307175925125138</c:v>
                </c:pt>
                <c:pt idx="1172">
                  <c:v>-0.39531862454253397</c:v>
                </c:pt>
                <c:pt idx="1173">
                  <c:v>-0.39037613284016348</c:v>
                </c:pt>
                <c:pt idx="1174">
                  <c:v>-0.39624499901031951</c:v>
                </c:pt>
                <c:pt idx="1175">
                  <c:v>-0.39584684665448944</c:v>
                </c:pt>
                <c:pt idx="1176">
                  <c:v>-0.40939220938382215</c:v>
                </c:pt>
                <c:pt idx="1177">
                  <c:v>-0.40761253509052053</c:v>
                </c:pt>
                <c:pt idx="1178">
                  <c:v>-0.41013877980458591</c:v>
                </c:pt>
                <c:pt idx="1179">
                  <c:v>-0.40353919333983246</c:v>
                </c:pt>
                <c:pt idx="1180">
                  <c:v>-0.40866010221189775</c:v>
                </c:pt>
                <c:pt idx="1181">
                  <c:v>-0.41864593691019802</c:v>
                </c:pt>
                <c:pt idx="1182">
                  <c:v>-0.41144027927183835</c:v>
                </c:pt>
                <c:pt idx="1183">
                  <c:v>-0.41095425894638182</c:v>
                </c:pt>
                <c:pt idx="1184">
                  <c:v>-0.41424506543356077</c:v>
                </c:pt>
                <c:pt idx="1185">
                  <c:v>-0.41256818308414056</c:v>
                </c:pt>
                <c:pt idx="1186">
                  <c:v>-0.44850379904976789</c:v>
                </c:pt>
                <c:pt idx="1187">
                  <c:v>-0.44257468959937685</c:v>
                </c:pt>
                <c:pt idx="1188">
                  <c:v>-0.45529801528539215</c:v>
                </c:pt>
                <c:pt idx="1189">
                  <c:v>-0.45839900695379288</c:v>
                </c:pt>
                <c:pt idx="1190">
                  <c:v>-0.4509493648530648</c:v>
                </c:pt>
                <c:pt idx="1191">
                  <c:v>-0.44324282170007223</c:v>
                </c:pt>
                <c:pt idx="1192">
                  <c:v>-0.44509550615628157</c:v>
                </c:pt>
                <c:pt idx="1193">
                  <c:v>-0.44418757377260254</c:v>
                </c:pt>
                <c:pt idx="1194">
                  <c:v>-0.44388676955154183</c:v>
                </c:pt>
                <c:pt idx="1195">
                  <c:v>-0.44023030743445135</c:v>
                </c:pt>
                <c:pt idx="1196">
                  <c:v>-0.44528337389204431</c:v>
                </c:pt>
                <c:pt idx="1197">
                  <c:v>-0.45286049551931906</c:v>
                </c:pt>
                <c:pt idx="1198">
                  <c:v>-0.43982170513577634</c:v>
                </c:pt>
                <c:pt idx="1199">
                  <c:v>-0.43634973581993086</c:v>
                </c:pt>
                <c:pt idx="1200">
                  <c:v>-0.44073694969527533</c:v>
                </c:pt>
                <c:pt idx="1201">
                  <c:v>-0.42931815023049968</c:v>
                </c:pt>
                <c:pt idx="1202">
                  <c:v>-0.41985062776776116</c:v>
                </c:pt>
                <c:pt idx="1203">
                  <c:v>-0.42225853968137428</c:v>
                </c:pt>
                <c:pt idx="1204">
                  <c:v>-0.42828456970991147</c:v>
                </c:pt>
                <c:pt idx="1205">
                  <c:v>-0.42670059207501065</c:v>
                </c:pt>
                <c:pt idx="1206">
                  <c:v>-0.43066095872921273</c:v>
                </c:pt>
                <c:pt idx="1207">
                  <c:v>-0.43661887266673838</c:v>
                </c:pt>
                <c:pt idx="1208">
                  <c:v>-0.45119324346142708</c:v>
                </c:pt>
                <c:pt idx="1209">
                  <c:v>-0.45140235808565377</c:v>
                </c:pt>
                <c:pt idx="1210">
                  <c:v>-0.44841541578199018</c:v>
                </c:pt>
                <c:pt idx="1211">
                  <c:v>-0.44935152393063549</c:v>
                </c:pt>
                <c:pt idx="1212">
                  <c:v>-0.45082253791687033</c:v>
                </c:pt>
                <c:pt idx="1213">
                  <c:v>-0.45272585560248835</c:v>
                </c:pt>
                <c:pt idx="1214">
                  <c:v>-0.4465960264492993</c:v>
                </c:pt>
                <c:pt idx="1215">
                  <c:v>-0.4571788221633869</c:v>
                </c:pt>
                <c:pt idx="1216">
                  <c:v>-0.44832045040006918</c:v>
                </c:pt>
                <c:pt idx="1217">
                  <c:v>-0.44725006350831586</c:v>
                </c:pt>
                <c:pt idx="1218">
                  <c:v>-0.44164100217665525</c:v>
                </c:pt>
                <c:pt idx="1219">
                  <c:v>-0.44586501843995974</c:v>
                </c:pt>
                <c:pt idx="1220">
                  <c:v>-0.44570192389290864</c:v>
                </c:pt>
                <c:pt idx="1221">
                  <c:v>-0.44847789960201956</c:v>
                </c:pt>
                <c:pt idx="1222">
                  <c:v>-0.45004864720252491</c:v>
                </c:pt>
                <c:pt idx="1223">
                  <c:v>-0.45212725440297163</c:v>
                </c:pt>
                <c:pt idx="1224">
                  <c:v>-0.45129486169079169</c:v>
                </c:pt>
                <c:pt idx="1225">
                  <c:v>-0.44685146103018614</c:v>
                </c:pt>
                <c:pt idx="1226">
                  <c:v>-0.44510929487996276</c:v>
                </c:pt>
                <c:pt idx="1227">
                  <c:v>-0.43851643580690514</c:v>
                </c:pt>
                <c:pt idx="1228">
                  <c:v>-0.44382735244139582</c:v>
                </c:pt>
                <c:pt idx="1229">
                  <c:v>-0.44033508803893373</c:v>
                </c:pt>
                <c:pt idx="1230">
                  <c:v>-0.44253000073917714</c:v>
                </c:pt>
                <c:pt idx="1231">
                  <c:v>-0.44703893815005435</c:v>
                </c:pt>
                <c:pt idx="1232">
                  <c:v>-0.43991720438734305</c:v>
                </c:pt>
                <c:pt idx="1233">
                  <c:v>-0.43359055860776208</c:v>
                </c:pt>
                <c:pt idx="1234">
                  <c:v>-0.42987950959983978</c:v>
                </c:pt>
                <c:pt idx="1235">
                  <c:v>-0.41934233455458336</c:v>
                </c:pt>
                <c:pt idx="1236">
                  <c:v>-0.42227152725482275</c:v>
                </c:pt>
                <c:pt idx="1237">
                  <c:v>-0.4261162712740002</c:v>
                </c:pt>
                <c:pt idx="1238">
                  <c:v>-0.43078897624006551</c:v>
                </c:pt>
                <c:pt idx="1239">
                  <c:v>-0.4241220605514523</c:v>
                </c:pt>
                <c:pt idx="1240">
                  <c:v>-0.41786134101495087</c:v>
                </c:pt>
                <c:pt idx="1241">
                  <c:v>-0.41105407467767463</c:v>
                </c:pt>
                <c:pt idx="1242">
                  <c:v>-0.41513866096137431</c:v>
                </c:pt>
                <c:pt idx="1243">
                  <c:v>-0.41953846320503696</c:v>
                </c:pt>
                <c:pt idx="1244">
                  <c:v>-0.42019930926417826</c:v>
                </c:pt>
                <c:pt idx="1245">
                  <c:v>-0.41569242143870988</c:v>
                </c:pt>
                <c:pt idx="1246">
                  <c:v>-0.42584504917261168</c:v>
                </c:pt>
                <c:pt idx="1247">
                  <c:v>-0.42326946047538261</c:v>
                </c:pt>
                <c:pt idx="1248">
                  <c:v>-0.41557706173673248</c:v>
                </c:pt>
                <c:pt idx="1249">
                  <c:v>-0.41884000030874191</c:v>
                </c:pt>
                <c:pt idx="1250">
                  <c:v>-0.41841456834972923</c:v>
                </c:pt>
                <c:pt idx="1251">
                  <c:v>-0.42411396781286714</c:v>
                </c:pt>
                <c:pt idx="1252">
                  <c:v>-0.44627656581616582</c:v>
                </c:pt>
                <c:pt idx="1253">
                  <c:v>-0.46612930826065113</c:v>
                </c:pt>
                <c:pt idx="1254">
                  <c:v>-0.47612071326302685</c:v>
                </c:pt>
                <c:pt idx="1255">
                  <c:v>-0.4847411368004152</c:v>
                </c:pt>
                <c:pt idx="1256">
                  <c:v>-0.47937647174228137</c:v>
                </c:pt>
                <c:pt idx="1257">
                  <c:v>-0.49141386104357654</c:v>
                </c:pt>
                <c:pt idx="1258">
                  <c:v>-0.49614935870283305</c:v>
                </c:pt>
                <c:pt idx="1259">
                  <c:v>-0.50481596594283884</c:v>
                </c:pt>
                <c:pt idx="1260">
                  <c:v>-0.49869217458899695</c:v>
                </c:pt>
                <c:pt idx="1261">
                  <c:v>-0.50799767459821066</c:v>
                </c:pt>
                <c:pt idx="1262">
                  <c:v>-0.50941409687660366</c:v>
                </c:pt>
                <c:pt idx="1263">
                  <c:v>-0.51376864233095287</c:v>
                </c:pt>
                <c:pt idx="1264">
                  <c:v>-0.50706640126415881</c:v>
                </c:pt>
                <c:pt idx="1265">
                  <c:v>-0.50563322886911388</c:v>
                </c:pt>
                <c:pt idx="1266">
                  <c:v>-0.50393684451766663</c:v>
                </c:pt>
                <c:pt idx="1267">
                  <c:v>-0.49812763405466032</c:v>
                </c:pt>
                <c:pt idx="1268">
                  <c:v>-0.49552764946623951</c:v>
                </c:pt>
                <c:pt idx="1269">
                  <c:v>-0.50400315027854847</c:v>
                </c:pt>
                <c:pt idx="1270">
                  <c:v>-0.50310095679598665</c:v>
                </c:pt>
                <c:pt idx="1271">
                  <c:v>-0.51161333595153047</c:v>
                </c:pt>
                <c:pt idx="1272">
                  <c:v>-0.50225639056545268</c:v>
                </c:pt>
                <c:pt idx="1273">
                  <c:v>-0.51357658996433553</c:v>
                </c:pt>
                <c:pt idx="1274">
                  <c:v>-0.51703646063636799</c:v>
                </c:pt>
                <c:pt idx="1275">
                  <c:v>-0.50801281201879789</c:v>
                </c:pt>
                <c:pt idx="1276">
                  <c:v>-0.50126794748316994</c:v>
                </c:pt>
                <c:pt idx="1277">
                  <c:v>-0.50335251369937684</c:v>
                </c:pt>
                <c:pt idx="1278">
                  <c:v>-0.50331720110854317</c:v>
                </c:pt>
                <c:pt idx="1279">
                  <c:v>-0.50042429047198078</c:v>
                </c:pt>
                <c:pt idx="1280">
                  <c:v>-0.50702197624807077</c:v>
                </c:pt>
                <c:pt idx="1281">
                  <c:v>-0.49868342926324094</c:v>
                </c:pt>
                <c:pt idx="1282">
                  <c:v>-0.49815973382203693</c:v>
                </c:pt>
                <c:pt idx="1283">
                  <c:v>-0.48657884176120969</c:v>
                </c:pt>
                <c:pt idx="1284">
                  <c:v>-0.48275242240887739</c:v>
                </c:pt>
                <c:pt idx="1285">
                  <c:v>-0.48330322048746033</c:v>
                </c:pt>
                <c:pt idx="1286">
                  <c:v>-0.49174234588521015</c:v>
                </c:pt>
                <c:pt idx="1287">
                  <c:v>-0.49250932443839657</c:v>
                </c:pt>
                <c:pt idx="1288">
                  <c:v>-0.48997936313058676</c:v>
                </c:pt>
                <c:pt idx="1289">
                  <c:v>-0.48605839427676456</c:v>
                </c:pt>
                <c:pt idx="1290">
                  <c:v>-0.47740245565142458</c:v>
                </c:pt>
                <c:pt idx="1291">
                  <c:v>-0.46742944967972455</c:v>
                </c:pt>
                <c:pt idx="1292">
                  <c:v>-0.47243285432011428</c:v>
                </c:pt>
                <c:pt idx="1293">
                  <c:v>-0.45922090605098453</c:v>
                </c:pt>
                <c:pt idx="1294">
                  <c:v>-0.45839234438791243</c:v>
                </c:pt>
                <c:pt idx="1295">
                  <c:v>-0.46975281388327939</c:v>
                </c:pt>
                <c:pt idx="1296">
                  <c:v>-0.46576949805137191</c:v>
                </c:pt>
                <c:pt idx="1297">
                  <c:v>-0.47594747795444836</c:v>
                </c:pt>
                <c:pt idx="1298">
                  <c:v>-0.47461196010408468</c:v>
                </c:pt>
                <c:pt idx="1299">
                  <c:v>-0.47457830415681634</c:v>
                </c:pt>
                <c:pt idx="1300">
                  <c:v>-0.476050661659985</c:v>
                </c:pt>
                <c:pt idx="1301">
                  <c:v>-0.47138831050800722</c:v>
                </c:pt>
                <c:pt idx="1302">
                  <c:v>-0.47197899792907938</c:v>
                </c:pt>
                <c:pt idx="1303">
                  <c:v>-0.46874766040520888</c:v>
                </c:pt>
                <c:pt idx="1304">
                  <c:v>-0.47094380477203845</c:v>
                </c:pt>
                <c:pt idx="1305">
                  <c:v>-0.46953810498437765</c:v>
                </c:pt>
                <c:pt idx="1306">
                  <c:v>-0.45716205783520991</c:v>
                </c:pt>
                <c:pt idx="1307">
                  <c:v>-0.44431276862257185</c:v>
                </c:pt>
                <c:pt idx="1308">
                  <c:v>-0.42874219965423532</c:v>
                </c:pt>
                <c:pt idx="1309">
                  <c:v>-0.4220426141818292</c:v>
                </c:pt>
                <c:pt idx="1310">
                  <c:v>-0.42475821813579151</c:v>
                </c:pt>
                <c:pt idx="1311">
                  <c:v>-0.4319415130333123</c:v>
                </c:pt>
                <c:pt idx="1312">
                  <c:v>-0.43726242895475154</c:v>
                </c:pt>
                <c:pt idx="1313">
                  <c:v>-0.41471916422801902</c:v>
                </c:pt>
                <c:pt idx="1314">
                  <c:v>-0.40976107486408964</c:v>
                </c:pt>
                <c:pt idx="1315">
                  <c:v>-0.40986039336465296</c:v>
                </c:pt>
                <c:pt idx="1316">
                  <c:v>-0.4042524566024408</c:v>
                </c:pt>
                <c:pt idx="1317">
                  <c:v>-0.41268198548692758</c:v>
                </c:pt>
                <c:pt idx="1318">
                  <c:v>-0.41744469965370734</c:v>
                </c:pt>
                <c:pt idx="1319">
                  <c:v>-0.40582435613745726</c:v>
                </c:pt>
                <c:pt idx="1320">
                  <c:v>-0.40767883333952726</c:v>
                </c:pt>
                <c:pt idx="1321">
                  <c:v>-0.40025187286614772</c:v>
                </c:pt>
                <c:pt idx="1322">
                  <c:v>-0.39916693490216504</c:v>
                </c:pt>
                <c:pt idx="1323">
                  <c:v>-0.41228635453355689</c:v>
                </c:pt>
                <c:pt idx="1324">
                  <c:v>-0.41579567902771175</c:v>
                </c:pt>
                <c:pt idx="1325">
                  <c:v>-0.4206826790089826</c:v>
                </c:pt>
                <c:pt idx="1326">
                  <c:v>-0.41618670211746545</c:v>
                </c:pt>
                <c:pt idx="1327">
                  <c:v>-0.41506920605740927</c:v>
                </c:pt>
                <c:pt idx="1328">
                  <c:v>-0.39742340081564298</c:v>
                </c:pt>
                <c:pt idx="1329">
                  <c:v>-0.40784567942199657</c:v>
                </c:pt>
                <c:pt idx="1330">
                  <c:v>-0.40016608994334923</c:v>
                </c:pt>
                <c:pt idx="1331">
                  <c:v>-0.39860417793083169</c:v>
                </c:pt>
                <c:pt idx="1332">
                  <c:v>-0.33005575342598414</c:v>
                </c:pt>
                <c:pt idx="1333">
                  <c:v>-0.34683463431474748</c:v>
                </c:pt>
                <c:pt idx="1334">
                  <c:v>-0.35107283927453037</c:v>
                </c:pt>
                <c:pt idx="1335">
                  <c:v>-0.35106796360421688</c:v>
                </c:pt>
                <c:pt idx="1336">
                  <c:v>-0.34899094781966333</c:v>
                </c:pt>
                <c:pt idx="1337">
                  <c:v>-0.34936489160472961</c:v>
                </c:pt>
                <c:pt idx="1338">
                  <c:v>-0.34963754877848996</c:v>
                </c:pt>
                <c:pt idx="1339">
                  <c:v>-0.34736364112625839</c:v>
                </c:pt>
                <c:pt idx="1340">
                  <c:v>-0.34739358482090299</c:v>
                </c:pt>
                <c:pt idx="1341">
                  <c:v>-0.34086664617976681</c:v>
                </c:pt>
                <c:pt idx="1342">
                  <c:v>-0.33890817228892889</c:v>
                </c:pt>
                <c:pt idx="1343">
                  <c:v>-0.35438133060578725</c:v>
                </c:pt>
                <c:pt idx="1344">
                  <c:v>-0.3519379140211063</c:v>
                </c:pt>
                <c:pt idx="1345">
                  <c:v>-0.35257771382948344</c:v>
                </c:pt>
                <c:pt idx="1346">
                  <c:v>-0.35985040881797892</c:v>
                </c:pt>
                <c:pt idx="1347">
                  <c:v>-0.35542347384696937</c:v>
                </c:pt>
                <c:pt idx="1348">
                  <c:v>-0.35539755544049112</c:v>
                </c:pt>
                <c:pt idx="1349">
                  <c:v>-0.37526016912816318</c:v>
                </c:pt>
                <c:pt idx="1350">
                  <c:v>-0.3931582251728315</c:v>
                </c:pt>
                <c:pt idx="1351">
                  <c:v>-0.39051345621306455</c:v>
                </c:pt>
                <c:pt idx="1352">
                  <c:v>-0.38975495322886367</c:v>
                </c:pt>
                <c:pt idx="1353">
                  <c:v>-0.3855071024773068</c:v>
                </c:pt>
                <c:pt idx="1354">
                  <c:v>-0.38185605184355187</c:v>
                </c:pt>
                <c:pt idx="1355">
                  <c:v>-0.34944385414844092</c:v>
                </c:pt>
                <c:pt idx="1356">
                  <c:v>-0.35474163131965553</c:v>
                </c:pt>
                <c:pt idx="1357">
                  <c:v>-0.34306562083330905</c:v>
                </c:pt>
                <c:pt idx="1358">
                  <c:v>-0.34572636179596994</c:v>
                </c:pt>
                <c:pt idx="1359">
                  <c:v>-0.35752020398957773</c:v>
                </c:pt>
                <c:pt idx="1360">
                  <c:v>-0.35834197102982246</c:v>
                </c:pt>
                <c:pt idx="1361">
                  <c:v>-0.36311261599100086</c:v>
                </c:pt>
                <c:pt idx="1362">
                  <c:v>-0.36683433492677475</c:v>
                </c:pt>
                <c:pt idx="1363">
                  <c:v>-0.36495209485189828</c:v>
                </c:pt>
                <c:pt idx="1364">
                  <c:v>-0.35515562335064599</c:v>
                </c:pt>
                <c:pt idx="1365">
                  <c:v>-0.36620050492892975</c:v>
                </c:pt>
                <c:pt idx="1366">
                  <c:v>-0.35885411488063812</c:v>
                </c:pt>
                <c:pt idx="1367">
                  <c:v>-0.35824733415039767</c:v>
                </c:pt>
                <c:pt idx="1368">
                  <c:v>-0.3588402253636781</c:v>
                </c:pt>
                <c:pt idx="1369">
                  <c:v>-0.37759592146602738</c:v>
                </c:pt>
                <c:pt idx="1370">
                  <c:v>-0.38702907937844111</c:v>
                </c:pt>
                <c:pt idx="1371">
                  <c:v>-0.38478801947667707</c:v>
                </c:pt>
                <c:pt idx="1372">
                  <c:v>-0.3887966343220477</c:v>
                </c:pt>
                <c:pt idx="1373">
                  <c:v>-0.39919421237570885</c:v>
                </c:pt>
                <c:pt idx="1374">
                  <c:v>-0.4037994167652813</c:v>
                </c:pt>
                <c:pt idx="1375">
                  <c:v>-0.39210037173276269</c:v>
                </c:pt>
                <c:pt idx="1376">
                  <c:v>-0.39207187914932295</c:v>
                </c:pt>
                <c:pt idx="1377">
                  <c:v>-0.39564991535144189</c:v>
                </c:pt>
                <c:pt idx="1378">
                  <c:v>-0.38293548038957015</c:v>
                </c:pt>
                <c:pt idx="1379">
                  <c:v>-0.38266672661284629</c:v>
                </c:pt>
                <c:pt idx="1380">
                  <c:v>-0.38209161309100526</c:v>
                </c:pt>
                <c:pt idx="1381">
                  <c:v>-0.37948650036216003</c:v>
                </c:pt>
                <c:pt idx="1382">
                  <c:v>-0.34236692326084817</c:v>
                </c:pt>
                <c:pt idx="1383">
                  <c:v>-0.35730765622654825</c:v>
                </c:pt>
                <c:pt idx="1384">
                  <c:v>-0.36016128773104283</c:v>
                </c:pt>
                <c:pt idx="1385">
                  <c:v>-0.36275272012335114</c:v>
                </c:pt>
                <c:pt idx="1386">
                  <c:v>-0.34978919519801432</c:v>
                </c:pt>
                <c:pt idx="1387">
                  <c:v>-0.35139105863768783</c:v>
                </c:pt>
                <c:pt idx="1388">
                  <c:v>-0.36707459328563374</c:v>
                </c:pt>
                <c:pt idx="1389">
                  <c:v>-0.36590184284497196</c:v>
                </c:pt>
                <c:pt idx="1390">
                  <c:v>-0.36311008247626553</c:v>
                </c:pt>
                <c:pt idx="1391">
                  <c:v>-0.35444430823039974</c:v>
                </c:pt>
                <c:pt idx="1392">
                  <c:v>-0.36202958895008586</c:v>
                </c:pt>
                <c:pt idx="1393">
                  <c:v>-0.35295963256731588</c:v>
                </c:pt>
                <c:pt idx="1394">
                  <c:v>-0.35325812676144352</c:v>
                </c:pt>
                <c:pt idx="1395">
                  <c:v>-0.33128026934115429</c:v>
                </c:pt>
                <c:pt idx="1396">
                  <c:v>-0.3478003190166119</c:v>
                </c:pt>
                <c:pt idx="1397">
                  <c:v>-0.34457376036928278</c:v>
                </c:pt>
                <c:pt idx="1398">
                  <c:v>-0.33747504943106532</c:v>
                </c:pt>
                <c:pt idx="1399">
                  <c:v>-0.33986354553394493</c:v>
                </c:pt>
                <c:pt idx="1400">
                  <c:v>-0.33700711109456871</c:v>
                </c:pt>
                <c:pt idx="1401">
                  <c:v>-0.32753034451099683</c:v>
                </c:pt>
                <c:pt idx="1402">
                  <c:v>-0.32309012078154575</c:v>
                </c:pt>
                <c:pt idx="1403">
                  <c:v>-0.33681982106330743</c:v>
                </c:pt>
                <c:pt idx="1404">
                  <c:v>-0.33737490453897778</c:v>
                </c:pt>
                <c:pt idx="1405">
                  <c:v>-0.34042478340756777</c:v>
                </c:pt>
                <c:pt idx="1406">
                  <c:v>-0.39081642667168415</c:v>
                </c:pt>
                <c:pt idx="1407">
                  <c:v>-0.37396163140916094</c:v>
                </c:pt>
                <c:pt idx="1408">
                  <c:v>-0.37824843349251025</c:v>
                </c:pt>
                <c:pt idx="1409">
                  <c:v>-0.37686227288026697</c:v>
                </c:pt>
                <c:pt idx="1410">
                  <c:v>-0.37659029693995438</c:v>
                </c:pt>
                <c:pt idx="1411">
                  <c:v>-0.37577946694986908</c:v>
                </c:pt>
                <c:pt idx="1412">
                  <c:v>-0.38535827757255148</c:v>
                </c:pt>
                <c:pt idx="1413">
                  <c:v>-0.39374774243820321</c:v>
                </c:pt>
                <c:pt idx="1414">
                  <c:v>-0.39721431356212067</c:v>
                </c:pt>
                <c:pt idx="1415">
                  <c:v>-0.38909775263944624</c:v>
                </c:pt>
                <c:pt idx="1416">
                  <c:v>-0.39604984839163482</c:v>
                </c:pt>
                <c:pt idx="1417">
                  <c:v>-0.39812215543073992</c:v>
                </c:pt>
                <c:pt idx="1418">
                  <c:v>-0.39784141326885214</c:v>
                </c:pt>
                <c:pt idx="1419">
                  <c:v>-0.39435895607888005</c:v>
                </c:pt>
                <c:pt idx="1420">
                  <c:v>-0.38743512013573678</c:v>
                </c:pt>
                <c:pt idx="1421">
                  <c:v>-0.39526581275640449</c:v>
                </c:pt>
                <c:pt idx="1422">
                  <c:v>-0.3994927517243092</c:v>
                </c:pt>
                <c:pt idx="1423">
                  <c:v>-0.41172612728853719</c:v>
                </c:pt>
                <c:pt idx="1424">
                  <c:v>-0.400453326256488</c:v>
                </c:pt>
                <c:pt idx="1425">
                  <c:v>-0.40046940289555866</c:v>
                </c:pt>
                <c:pt idx="1426">
                  <c:v>-0.40856667905554067</c:v>
                </c:pt>
                <c:pt idx="1427">
                  <c:v>-0.41291705145374313</c:v>
                </c:pt>
                <c:pt idx="1428">
                  <c:v>-0.42307487298281055</c:v>
                </c:pt>
                <c:pt idx="1429">
                  <c:v>-0.42242878811701856</c:v>
                </c:pt>
                <c:pt idx="1430">
                  <c:v>-0.41930992136946732</c:v>
                </c:pt>
                <c:pt idx="1431">
                  <c:v>-0.41836386138696802</c:v>
                </c:pt>
                <c:pt idx="1432">
                  <c:v>-0.42136842149051201</c:v>
                </c:pt>
                <c:pt idx="1433">
                  <c:v>-0.41451713126309342</c:v>
                </c:pt>
                <c:pt idx="1434">
                  <c:v>-0.41476443577259592</c:v>
                </c:pt>
                <c:pt idx="1435">
                  <c:v>-0.41432176864513304</c:v>
                </c:pt>
                <c:pt idx="1436">
                  <c:v>-0.41407368322858951</c:v>
                </c:pt>
                <c:pt idx="1437">
                  <c:v>-0.42079777739564794</c:v>
                </c:pt>
                <c:pt idx="1438">
                  <c:v>-0.42058463771149601</c:v>
                </c:pt>
                <c:pt idx="1439">
                  <c:v>-0.41153659961934907</c:v>
                </c:pt>
                <c:pt idx="1440">
                  <c:v>-0.40770542251641706</c:v>
                </c:pt>
                <c:pt idx="1441">
                  <c:v>-0.40162310169858906</c:v>
                </c:pt>
                <c:pt idx="1442">
                  <c:v>-0.39897987686372605</c:v>
                </c:pt>
                <c:pt idx="1443">
                  <c:v>-0.40691943651363804</c:v>
                </c:pt>
                <c:pt idx="1444">
                  <c:v>-0.40154950324195793</c:v>
                </c:pt>
                <c:pt idx="1445">
                  <c:v>-0.39152094932503367</c:v>
                </c:pt>
                <c:pt idx="1446">
                  <c:v>-0.39154536530251371</c:v>
                </c:pt>
                <c:pt idx="1447">
                  <c:v>-0.37232596611539148</c:v>
                </c:pt>
                <c:pt idx="1448">
                  <c:v>-0.38291463070425091</c:v>
                </c:pt>
                <c:pt idx="1449">
                  <c:v>-0.37807228385529312</c:v>
                </c:pt>
                <c:pt idx="1450">
                  <c:v>-0.37313443681008895</c:v>
                </c:pt>
                <c:pt idx="1451">
                  <c:v>-0.38176707562232881</c:v>
                </c:pt>
                <c:pt idx="1452">
                  <c:v>-0.38815915480837049</c:v>
                </c:pt>
                <c:pt idx="1453">
                  <c:v>-0.39161924809568072</c:v>
                </c:pt>
                <c:pt idx="1454">
                  <c:v>-0.39905196406782562</c:v>
                </c:pt>
                <c:pt idx="1455">
                  <c:v>-0.39529532454599459</c:v>
                </c:pt>
                <c:pt idx="1456">
                  <c:v>-0.39973183599431006</c:v>
                </c:pt>
                <c:pt idx="1457">
                  <c:v>-0.39917004587417704</c:v>
                </c:pt>
                <c:pt idx="1458">
                  <c:v>-0.39820393412448762</c:v>
                </c:pt>
                <c:pt idx="1459">
                  <c:v>-0.40810569358702486</c:v>
                </c:pt>
                <c:pt idx="1460">
                  <c:v>-0.39818454743089537</c:v>
                </c:pt>
                <c:pt idx="1461">
                  <c:v>-0.39504222794938226</c:v>
                </c:pt>
                <c:pt idx="1462">
                  <c:v>-0.39558792990049296</c:v>
                </c:pt>
                <c:pt idx="1463">
                  <c:v>-0.3925213755526562</c:v>
                </c:pt>
                <c:pt idx="1464">
                  <c:v>-0.39968335244888686</c:v>
                </c:pt>
                <c:pt idx="1465">
                  <c:v>-0.40073721082196145</c:v>
                </c:pt>
                <c:pt idx="1466">
                  <c:v>-0.38994788628130461</c:v>
                </c:pt>
                <c:pt idx="1467">
                  <c:v>-0.39117775075497274</c:v>
                </c:pt>
                <c:pt idx="1468">
                  <c:v>-0.39086468085971493</c:v>
                </c:pt>
                <c:pt idx="1469">
                  <c:v>-0.38877775770658807</c:v>
                </c:pt>
                <c:pt idx="1470">
                  <c:v>-0.39884303454337</c:v>
                </c:pt>
                <c:pt idx="1471">
                  <c:v>-0.39791440916490795</c:v>
                </c:pt>
                <c:pt idx="1472">
                  <c:v>-0.40171474122047335</c:v>
                </c:pt>
                <c:pt idx="1473">
                  <c:v>-0.40752067080970467</c:v>
                </c:pt>
                <c:pt idx="1474">
                  <c:v>-0.4009306241450995</c:v>
                </c:pt>
                <c:pt idx="1475">
                  <c:v>-0.39812987172131575</c:v>
                </c:pt>
                <c:pt idx="1476">
                  <c:v>-0.39305622921997019</c:v>
                </c:pt>
                <c:pt idx="1477">
                  <c:v>-0.39842067799926717</c:v>
                </c:pt>
                <c:pt idx="1478">
                  <c:v>-0.40266666109783256</c:v>
                </c:pt>
                <c:pt idx="1479">
                  <c:v>-0.39945144886936657</c:v>
                </c:pt>
                <c:pt idx="1480">
                  <c:v>-0.39918831065311478</c:v>
                </c:pt>
                <c:pt idx="1481">
                  <c:v>-0.39972559063000757</c:v>
                </c:pt>
                <c:pt idx="1482">
                  <c:v>-0.39842454509766567</c:v>
                </c:pt>
                <c:pt idx="1483">
                  <c:v>-0.39897793649020941</c:v>
                </c:pt>
                <c:pt idx="1484">
                  <c:v>-0.38605580489926117</c:v>
                </c:pt>
                <c:pt idx="1485">
                  <c:v>-0.38242441419633688</c:v>
                </c:pt>
                <c:pt idx="1486">
                  <c:v>-0.37815256679444242</c:v>
                </c:pt>
                <c:pt idx="1487">
                  <c:v>-0.38727012946463102</c:v>
                </c:pt>
                <c:pt idx="1488">
                  <c:v>-0.37289359169783942</c:v>
                </c:pt>
                <c:pt idx="1489">
                  <c:v>-0.38589647660477211</c:v>
                </c:pt>
                <c:pt idx="1490">
                  <c:v>-0.3799194634265991</c:v>
                </c:pt>
                <c:pt idx="1491">
                  <c:v>-0.39687852047715055</c:v>
                </c:pt>
                <c:pt idx="1492">
                  <c:v>-0.39038830502551636</c:v>
                </c:pt>
                <c:pt idx="1493">
                  <c:v>-0.39353572330207898</c:v>
                </c:pt>
                <c:pt idx="1494">
                  <c:v>-0.39155145123460877</c:v>
                </c:pt>
                <c:pt idx="1495">
                  <c:v>-0.40150153443493164</c:v>
                </c:pt>
                <c:pt idx="1496">
                  <c:v>-0.39174617793092081</c:v>
                </c:pt>
                <c:pt idx="1497">
                  <c:v>-0.38739858739174549</c:v>
                </c:pt>
                <c:pt idx="1498">
                  <c:v>-0.38495195433128904</c:v>
                </c:pt>
                <c:pt idx="1499">
                  <c:v>-0.37512049326850838</c:v>
                </c:pt>
                <c:pt idx="1500">
                  <c:v>-0.38552591057761754</c:v>
                </c:pt>
                <c:pt idx="1501">
                  <c:v>-0.37333151344706295</c:v>
                </c:pt>
                <c:pt idx="1502">
                  <c:v>-0.37593264089029832</c:v>
                </c:pt>
                <c:pt idx="1503">
                  <c:v>-0.37479204989011228</c:v>
                </c:pt>
                <c:pt idx="1504">
                  <c:v>-0.3649147346162338</c:v>
                </c:pt>
                <c:pt idx="1505">
                  <c:v>-0.36200888751553872</c:v>
                </c:pt>
                <c:pt idx="1506">
                  <c:v>-0.35555605690636705</c:v>
                </c:pt>
                <c:pt idx="1507">
                  <c:v>-0.34461339521993206</c:v>
                </c:pt>
                <c:pt idx="1508">
                  <c:v>-0.3408552524273667</c:v>
                </c:pt>
                <c:pt idx="1509">
                  <c:v>-0.3364250725586786</c:v>
                </c:pt>
                <c:pt idx="1510">
                  <c:v>-0.34702374110381418</c:v>
                </c:pt>
                <c:pt idx="1511">
                  <c:v>-0.3418273643239651</c:v>
                </c:pt>
                <c:pt idx="1512">
                  <c:v>-0.34375819344751735</c:v>
                </c:pt>
                <c:pt idx="1513">
                  <c:v>-0.34640940675716725</c:v>
                </c:pt>
                <c:pt idx="1514">
                  <c:v>-0.34128296080373999</c:v>
                </c:pt>
                <c:pt idx="1515">
                  <c:v>-0.33510460160561339</c:v>
                </c:pt>
                <c:pt idx="1516">
                  <c:v>-0.34267121023226588</c:v>
                </c:pt>
                <c:pt idx="1517">
                  <c:v>-0.34438755093728224</c:v>
                </c:pt>
                <c:pt idx="1518">
                  <c:v>-0.3452852744014181</c:v>
                </c:pt>
                <c:pt idx="1519">
                  <c:v>-0.34944334507459662</c:v>
                </c:pt>
                <c:pt idx="1520">
                  <c:v>-0.34376201648714544</c:v>
                </c:pt>
                <c:pt idx="1521">
                  <c:v>-0.3316163238452603</c:v>
                </c:pt>
                <c:pt idx="1522">
                  <c:v>-0.32911000436568039</c:v>
                </c:pt>
                <c:pt idx="1523">
                  <c:v>-0.32757191000936137</c:v>
                </c:pt>
                <c:pt idx="1524">
                  <c:v>-0.32656912436371854</c:v>
                </c:pt>
                <c:pt idx="1525">
                  <c:v>-0.32773640655759928</c:v>
                </c:pt>
                <c:pt idx="1526">
                  <c:v>-0.32046402996324053</c:v>
                </c:pt>
                <c:pt idx="1527">
                  <c:v>-0.31376507494062089</c:v>
                </c:pt>
                <c:pt idx="1528">
                  <c:v>-0.33501049305600605</c:v>
                </c:pt>
                <c:pt idx="1529">
                  <c:v>-0.3199595733259889</c:v>
                </c:pt>
                <c:pt idx="1530">
                  <c:v>-0.32382115213975438</c:v>
                </c:pt>
                <c:pt idx="1531">
                  <c:v>-0.32464382489699495</c:v>
                </c:pt>
                <c:pt idx="1532">
                  <c:v>-0.32632218721708861</c:v>
                </c:pt>
                <c:pt idx="1533">
                  <c:v>-0.32381829929806227</c:v>
                </c:pt>
                <c:pt idx="1534">
                  <c:v>-0.31794018703285121</c:v>
                </c:pt>
                <c:pt idx="1535">
                  <c:v>-0.32043862437092729</c:v>
                </c:pt>
                <c:pt idx="1536">
                  <c:v>-0.31663923478841771</c:v>
                </c:pt>
                <c:pt idx="1537">
                  <c:v>-0.32011992987024207</c:v>
                </c:pt>
                <c:pt idx="1538">
                  <c:v>-0.31969787360675472</c:v>
                </c:pt>
                <c:pt idx="1539">
                  <c:v>-0.31099376736169149</c:v>
                </c:pt>
                <c:pt idx="1540">
                  <c:v>-0.30892936699247542</c:v>
                </c:pt>
                <c:pt idx="1541">
                  <c:v>-0.30327265194616448</c:v>
                </c:pt>
                <c:pt idx="1542">
                  <c:v>-0.31553621721550296</c:v>
                </c:pt>
                <c:pt idx="1543">
                  <c:v>-0.31396380215761654</c:v>
                </c:pt>
                <c:pt idx="1544">
                  <c:v>-0.3237279731794197</c:v>
                </c:pt>
                <c:pt idx="1545">
                  <c:v>-0.32378515077254177</c:v>
                </c:pt>
                <c:pt idx="1546">
                  <c:v>-0.32354196967442261</c:v>
                </c:pt>
                <c:pt idx="1547">
                  <c:v>-0.32631492095452275</c:v>
                </c:pt>
                <c:pt idx="1548">
                  <c:v>-0.33202201867133396</c:v>
                </c:pt>
                <c:pt idx="1549">
                  <c:v>-0.32718248428293373</c:v>
                </c:pt>
                <c:pt idx="1550">
                  <c:v>-0.31391085375252137</c:v>
                </c:pt>
                <c:pt idx="1551">
                  <c:v>-0.29578885071610594</c:v>
                </c:pt>
                <c:pt idx="1552">
                  <c:v>-0.29187484001283825</c:v>
                </c:pt>
                <c:pt idx="1553">
                  <c:v>-0.29609310175721526</c:v>
                </c:pt>
                <c:pt idx="1554">
                  <c:v>-0.2996054808105818</c:v>
                </c:pt>
                <c:pt idx="1555">
                  <c:v>-0.29285904689404429</c:v>
                </c:pt>
                <c:pt idx="1556">
                  <c:v>-0.28913639011407188</c:v>
                </c:pt>
                <c:pt idx="1557">
                  <c:v>-0.29115119850313576</c:v>
                </c:pt>
                <c:pt idx="1558">
                  <c:v>-0.28013763640427325</c:v>
                </c:pt>
                <c:pt idx="1559">
                  <c:v>-0.26867845142603164</c:v>
                </c:pt>
                <c:pt idx="1560">
                  <c:v>-0.26830757366022839</c:v>
                </c:pt>
                <c:pt idx="1561">
                  <c:v>-0.25720714067304651</c:v>
                </c:pt>
                <c:pt idx="1562">
                  <c:v>-0.25530082825706357</c:v>
                </c:pt>
                <c:pt idx="1563">
                  <c:v>-0.25923946607670989</c:v>
                </c:pt>
                <c:pt idx="1564">
                  <c:v>-0.25766495678990686</c:v>
                </c:pt>
                <c:pt idx="1565">
                  <c:v>-0.25773061865993685</c:v>
                </c:pt>
                <c:pt idx="1566">
                  <c:v>-0.2462751922916423</c:v>
                </c:pt>
                <c:pt idx="1567">
                  <c:v>-0.23502336903637411</c:v>
                </c:pt>
                <c:pt idx="1568">
                  <c:v>-0.21956515358044515</c:v>
                </c:pt>
                <c:pt idx="1569">
                  <c:v>-0.22879932028141081</c:v>
                </c:pt>
                <c:pt idx="1570">
                  <c:v>-0.2319896123692553</c:v>
                </c:pt>
                <c:pt idx="1571">
                  <c:v>-0.23777788237985376</c:v>
                </c:pt>
                <c:pt idx="1572">
                  <c:v>-0.25492803630122518</c:v>
                </c:pt>
                <c:pt idx="1573">
                  <c:v>-0.26336664690986622</c:v>
                </c:pt>
                <c:pt idx="1574">
                  <c:v>-0.26899611344840257</c:v>
                </c:pt>
                <c:pt idx="1575">
                  <c:v>-0.27008461124737504</c:v>
                </c:pt>
                <c:pt idx="1576">
                  <c:v>-0.27363508966940464</c:v>
                </c:pt>
                <c:pt idx="1577">
                  <c:v>-0.27248389227779379</c:v>
                </c:pt>
                <c:pt idx="1578">
                  <c:v>-0.27375925366926024</c:v>
                </c:pt>
                <c:pt idx="1579">
                  <c:v>-0.27266691878863825</c:v>
                </c:pt>
                <c:pt idx="1580">
                  <c:v>-0.28126244953411339</c:v>
                </c:pt>
                <c:pt idx="1581">
                  <c:v>-0.26834618077523831</c:v>
                </c:pt>
                <c:pt idx="1582">
                  <c:v>-0.26463972534523383</c:v>
                </c:pt>
                <c:pt idx="1583">
                  <c:v>-0.28270683533538177</c:v>
                </c:pt>
                <c:pt idx="1584">
                  <c:v>-0.29220365649283586</c:v>
                </c:pt>
                <c:pt idx="1585">
                  <c:v>-0.29170058022620493</c:v>
                </c:pt>
                <c:pt idx="1586">
                  <c:v>-0.29435322679248466</c:v>
                </c:pt>
                <c:pt idx="1587">
                  <c:v>-0.28849347243682821</c:v>
                </c:pt>
                <c:pt idx="1588">
                  <c:v>-0.26555204327205573</c:v>
                </c:pt>
                <c:pt idx="1589">
                  <c:v>-0.26001814792458455</c:v>
                </c:pt>
                <c:pt idx="1590">
                  <c:v>-0.26288041159518771</c:v>
                </c:pt>
                <c:pt idx="1591">
                  <c:v>-0.27907326157259715</c:v>
                </c:pt>
                <c:pt idx="1592">
                  <c:v>-0.28633778889228234</c:v>
                </c:pt>
                <c:pt idx="1593">
                  <c:v>-0.29054291489205775</c:v>
                </c:pt>
                <c:pt idx="1594">
                  <c:v>-0.32401331158214397</c:v>
                </c:pt>
                <c:pt idx="1595">
                  <c:v>-0.31804146166329539</c:v>
                </c:pt>
                <c:pt idx="1596">
                  <c:v>-0.31678763626297712</c:v>
                </c:pt>
                <c:pt idx="1597">
                  <c:v>-0.31967626085702416</c:v>
                </c:pt>
                <c:pt idx="1598">
                  <c:v>-0.3111654761805891</c:v>
                </c:pt>
                <c:pt idx="1599">
                  <c:v>-0.30505153261583995</c:v>
                </c:pt>
                <c:pt idx="1600">
                  <c:v>-0.30424726557957948</c:v>
                </c:pt>
                <c:pt idx="1601">
                  <c:v>-0.30337624991609202</c:v>
                </c:pt>
                <c:pt idx="1602">
                  <c:v>-0.2995474540199613</c:v>
                </c:pt>
                <c:pt idx="1603">
                  <c:v>-0.30306207372558891</c:v>
                </c:pt>
                <c:pt idx="1604">
                  <c:v>-0.29818685705937487</c:v>
                </c:pt>
                <c:pt idx="1605">
                  <c:v>-0.30306151107151424</c:v>
                </c:pt>
                <c:pt idx="1606">
                  <c:v>-0.30266352038591049</c:v>
                </c:pt>
                <c:pt idx="1607">
                  <c:v>-0.29226818169666191</c:v>
                </c:pt>
                <c:pt idx="1608">
                  <c:v>-0.29519251576442185</c:v>
                </c:pt>
                <c:pt idx="1609">
                  <c:v>-0.30707184385841335</c:v>
                </c:pt>
                <c:pt idx="1610">
                  <c:v>-0.30714633641975819</c:v>
                </c:pt>
                <c:pt idx="1611">
                  <c:v>-0.30384561779938568</c:v>
                </c:pt>
                <c:pt idx="1612">
                  <c:v>-0.31081584307877619</c:v>
                </c:pt>
                <c:pt idx="1613">
                  <c:v>-0.31392149772385869</c:v>
                </c:pt>
                <c:pt idx="1614">
                  <c:v>-0.30811775870673286</c:v>
                </c:pt>
                <c:pt idx="1615">
                  <c:v>-0.32142192645640366</c:v>
                </c:pt>
                <c:pt idx="1616">
                  <c:v>-0.31880329380750372</c:v>
                </c:pt>
                <c:pt idx="1617">
                  <c:v>-0.32765011871646221</c:v>
                </c:pt>
                <c:pt idx="1618">
                  <c:v>-0.32659106789190617</c:v>
                </c:pt>
                <c:pt idx="1619">
                  <c:v>-0.32807561775799676</c:v>
                </c:pt>
                <c:pt idx="1620">
                  <c:v>-0.31533777463558854</c:v>
                </c:pt>
                <c:pt idx="1621">
                  <c:v>-0.31455346573307053</c:v>
                </c:pt>
                <c:pt idx="1622">
                  <c:v>-0.32063555045781411</c:v>
                </c:pt>
                <c:pt idx="1623">
                  <c:v>-0.31585343460961468</c:v>
                </c:pt>
                <c:pt idx="1624">
                  <c:v>-0.32759167309242254</c:v>
                </c:pt>
                <c:pt idx="1625">
                  <c:v>-0.32187592044446856</c:v>
                </c:pt>
                <c:pt idx="1626">
                  <c:v>-0.31997782733016478</c:v>
                </c:pt>
                <c:pt idx="1627">
                  <c:v>-0.31680898669836244</c:v>
                </c:pt>
                <c:pt idx="1628">
                  <c:v>-0.30443647597111134</c:v>
                </c:pt>
                <c:pt idx="1629">
                  <c:v>-0.30256435938541526</c:v>
                </c:pt>
                <c:pt idx="1630">
                  <c:v>-0.29910960931423214</c:v>
                </c:pt>
                <c:pt idx="1631">
                  <c:v>-0.29890751608800203</c:v>
                </c:pt>
                <c:pt idx="1632">
                  <c:v>-0.30581302848937297</c:v>
                </c:pt>
                <c:pt idx="1633">
                  <c:v>-0.31267570362487274</c:v>
                </c:pt>
                <c:pt idx="1634">
                  <c:v>-0.31257438107751268</c:v>
                </c:pt>
                <c:pt idx="1635">
                  <c:v>-0.31229100894830708</c:v>
                </c:pt>
                <c:pt idx="1636">
                  <c:v>-0.31026190127980002</c:v>
                </c:pt>
                <c:pt idx="1637">
                  <c:v>-0.30791287363106123</c:v>
                </c:pt>
                <c:pt idx="1638">
                  <c:v>-0.31107751902383396</c:v>
                </c:pt>
                <c:pt idx="1639">
                  <c:v>-0.30514681427044144</c:v>
                </c:pt>
                <c:pt idx="1640">
                  <c:v>-0.30172824199814441</c:v>
                </c:pt>
                <c:pt idx="1641">
                  <c:v>-0.30028124868507033</c:v>
                </c:pt>
                <c:pt idx="1642">
                  <c:v>-0.33245562225671244</c:v>
                </c:pt>
                <c:pt idx="1643">
                  <c:v>-0.32820883806842138</c:v>
                </c:pt>
                <c:pt idx="1644">
                  <c:v>-0.3181529127017273</c:v>
                </c:pt>
                <c:pt idx="1645">
                  <c:v>-0.31902229471141808</c:v>
                </c:pt>
                <c:pt idx="1646">
                  <c:v>-0.3113024184607075</c:v>
                </c:pt>
                <c:pt idx="1647">
                  <c:v>-0.32864304375465958</c:v>
                </c:pt>
                <c:pt idx="1648">
                  <c:v>-0.34343020461995311</c:v>
                </c:pt>
                <c:pt idx="1649">
                  <c:v>-0.34458552787294205</c:v>
                </c:pt>
                <c:pt idx="1650">
                  <c:v>-0.33232400080935076</c:v>
                </c:pt>
                <c:pt idx="1651">
                  <c:v>-0.3338949671845326</c:v>
                </c:pt>
                <c:pt idx="1652">
                  <c:v>-0.35840237664214802</c:v>
                </c:pt>
                <c:pt idx="1653">
                  <c:v>-0.34894966361602031</c:v>
                </c:pt>
                <c:pt idx="1654">
                  <c:v>-0.34559792451867211</c:v>
                </c:pt>
                <c:pt idx="1655">
                  <c:v>-0.3301253862282354</c:v>
                </c:pt>
                <c:pt idx="1656">
                  <c:v>-0.3297551804855311</c:v>
                </c:pt>
                <c:pt idx="1657">
                  <c:v>-0.33683319009121693</c:v>
                </c:pt>
                <c:pt idx="1658">
                  <c:v>-0.33566957873858316</c:v>
                </c:pt>
                <c:pt idx="1659">
                  <c:v>-0.32228295494505133</c:v>
                </c:pt>
                <c:pt idx="1660">
                  <c:v>-0.3319282137326115</c:v>
                </c:pt>
                <c:pt idx="1661">
                  <c:v>-0.32678224097466357</c:v>
                </c:pt>
                <c:pt idx="1662">
                  <c:v>-0.32842066392622615</c:v>
                </c:pt>
                <c:pt idx="1663">
                  <c:v>-0.32510786072795983</c:v>
                </c:pt>
                <c:pt idx="1664">
                  <c:v>-0.32998118308211255</c:v>
                </c:pt>
                <c:pt idx="1665">
                  <c:v>-0.33429354138924305</c:v>
                </c:pt>
                <c:pt idx="1666">
                  <c:v>-0.33241978993508203</c:v>
                </c:pt>
                <c:pt idx="1667">
                  <c:v>-0.33469546102927272</c:v>
                </c:pt>
                <c:pt idx="1668">
                  <c:v>-0.35209666900218461</c:v>
                </c:pt>
                <c:pt idx="1669">
                  <c:v>-0.35474109324491621</c:v>
                </c:pt>
                <c:pt idx="1670">
                  <c:v>-0.35457195196343205</c:v>
                </c:pt>
                <c:pt idx="1671">
                  <c:v>-0.35174215155552591</c:v>
                </c:pt>
                <c:pt idx="1672">
                  <c:v>-0.36383179263643151</c:v>
                </c:pt>
                <c:pt idx="1673">
                  <c:v>-0.3621693923455549</c:v>
                </c:pt>
                <c:pt idx="1674">
                  <c:v>-0.35687531306895426</c:v>
                </c:pt>
                <c:pt idx="1675">
                  <c:v>-0.3573515400560372</c:v>
                </c:pt>
                <c:pt idx="1676">
                  <c:v>-0.34651595238834598</c:v>
                </c:pt>
                <c:pt idx="1677">
                  <c:v>-0.32991244237274686</c:v>
                </c:pt>
                <c:pt idx="1678">
                  <c:v>-0.33599022379310106</c:v>
                </c:pt>
                <c:pt idx="1679">
                  <c:v>-0.33678790207117104</c:v>
                </c:pt>
                <c:pt idx="1680">
                  <c:v>-0.33731881992226675</c:v>
                </c:pt>
                <c:pt idx="1681">
                  <c:v>-0.34150580697961641</c:v>
                </c:pt>
                <c:pt idx="1682">
                  <c:v>-0.34728268202009738</c:v>
                </c:pt>
                <c:pt idx="1683">
                  <c:v>-0.34830228971526556</c:v>
                </c:pt>
                <c:pt idx="1684">
                  <c:v>-0.34913188027334485</c:v>
                </c:pt>
                <c:pt idx="1685">
                  <c:v>-0.34878683385452391</c:v>
                </c:pt>
                <c:pt idx="1686">
                  <c:v>-0.35475831825838722</c:v>
                </c:pt>
                <c:pt idx="1687">
                  <c:v>-0.34611980628593997</c:v>
                </c:pt>
                <c:pt idx="1688">
                  <c:v>-0.34369704884286378</c:v>
                </c:pt>
                <c:pt idx="1689">
                  <c:v>-0.35234832566587859</c:v>
                </c:pt>
                <c:pt idx="1690">
                  <c:v>-0.34218817310559513</c:v>
                </c:pt>
                <c:pt idx="1691">
                  <c:v>-0.332573317130471</c:v>
                </c:pt>
                <c:pt idx="1692">
                  <c:v>-0.33444241377560491</c:v>
                </c:pt>
                <c:pt idx="1693">
                  <c:v>-0.35377175407559147</c:v>
                </c:pt>
                <c:pt idx="1694">
                  <c:v>-0.35481754822827161</c:v>
                </c:pt>
                <c:pt idx="1695">
                  <c:v>-0.35403294145013364</c:v>
                </c:pt>
                <c:pt idx="1696">
                  <c:v>-0.35407328609909938</c:v>
                </c:pt>
                <c:pt idx="1697">
                  <c:v>-0.36383597792530775</c:v>
                </c:pt>
                <c:pt idx="1698">
                  <c:v>-0.37093299168961302</c:v>
                </c:pt>
                <c:pt idx="1699">
                  <c:v>-0.36350090824883374</c:v>
                </c:pt>
                <c:pt idx="1700">
                  <c:v>-0.36414118758299741</c:v>
                </c:pt>
                <c:pt idx="1701">
                  <c:v>-0.34852099795394942</c:v>
                </c:pt>
                <c:pt idx="1702">
                  <c:v>-0.36099795827539638</c:v>
                </c:pt>
                <c:pt idx="1703">
                  <c:v>-0.35820610099547068</c:v>
                </c:pt>
                <c:pt idx="1704">
                  <c:v>-0.35814098427140129</c:v>
                </c:pt>
                <c:pt idx="1705">
                  <c:v>-0.34723873208843536</c:v>
                </c:pt>
                <c:pt idx="1706">
                  <c:v>-0.35429690284324133</c:v>
                </c:pt>
                <c:pt idx="1707">
                  <c:v>-0.41969989539562091</c:v>
                </c:pt>
                <c:pt idx="1708">
                  <c:v>-0.41182622978456795</c:v>
                </c:pt>
                <c:pt idx="1709">
                  <c:v>-0.44085394884396911</c:v>
                </c:pt>
                <c:pt idx="1710">
                  <c:v>-0.44781704937505995</c:v>
                </c:pt>
                <c:pt idx="1711">
                  <c:v>-0.45204237257157287</c:v>
                </c:pt>
                <c:pt idx="1712">
                  <c:v>-0.4489733052622582</c:v>
                </c:pt>
                <c:pt idx="1713">
                  <c:v>-0.44834404363487335</c:v>
                </c:pt>
                <c:pt idx="1714">
                  <c:v>-0.45215958428127523</c:v>
                </c:pt>
                <c:pt idx="1715">
                  <c:v>-0.43889778846513694</c:v>
                </c:pt>
                <c:pt idx="1716">
                  <c:v>-0.44907360417231923</c:v>
                </c:pt>
                <c:pt idx="1717">
                  <c:v>-0.44195196604934694</c:v>
                </c:pt>
                <c:pt idx="1718">
                  <c:v>-0.4448843251953053</c:v>
                </c:pt>
                <c:pt idx="1719">
                  <c:v>-0.44352601733081298</c:v>
                </c:pt>
                <c:pt idx="1720">
                  <c:v>-0.44638879602814763</c:v>
                </c:pt>
                <c:pt idx="1721">
                  <c:v>-0.45191045843538014</c:v>
                </c:pt>
                <c:pt idx="1722">
                  <c:v>-0.44808019742149163</c:v>
                </c:pt>
                <c:pt idx="1723">
                  <c:v>-0.45375173089336773</c:v>
                </c:pt>
                <c:pt idx="1724">
                  <c:v>-0.45250868501945474</c:v>
                </c:pt>
                <c:pt idx="1725">
                  <c:v>-0.4536445216703382</c:v>
                </c:pt>
                <c:pt idx="1726">
                  <c:v>-0.44622563700224083</c:v>
                </c:pt>
                <c:pt idx="1727">
                  <c:v>-0.44565710758718546</c:v>
                </c:pt>
                <c:pt idx="1728">
                  <c:v>-0.44722968617472536</c:v>
                </c:pt>
                <c:pt idx="1729">
                  <c:v>-0.43745000172805049</c:v>
                </c:pt>
                <c:pt idx="1730">
                  <c:v>-0.4448546123749465</c:v>
                </c:pt>
                <c:pt idx="1731">
                  <c:v>-0.44457145427642442</c:v>
                </c:pt>
                <c:pt idx="1732">
                  <c:v>-0.44274452426555067</c:v>
                </c:pt>
                <c:pt idx="1733">
                  <c:v>-0.43956917495765435</c:v>
                </c:pt>
                <c:pt idx="1734">
                  <c:v>-0.43871411151232409</c:v>
                </c:pt>
                <c:pt idx="1735">
                  <c:v>-0.43786346168403134</c:v>
                </c:pt>
                <c:pt idx="1736">
                  <c:v>-0.44352999282512739</c:v>
                </c:pt>
                <c:pt idx="1737">
                  <c:v>-0.44454411283077488</c:v>
                </c:pt>
                <c:pt idx="1738">
                  <c:v>-0.44303673537157773</c:v>
                </c:pt>
                <c:pt idx="1739">
                  <c:v>-0.45112155263994991</c:v>
                </c:pt>
                <c:pt idx="1740">
                  <c:v>-0.45069577289226004</c:v>
                </c:pt>
                <c:pt idx="1741">
                  <c:v>-0.45245744562129075</c:v>
                </c:pt>
                <c:pt idx="1742">
                  <c:v>-0.44498161901957134</c:v>
                </c:pt>
                <c:pt idx="1743">
                  <c:v>-0.44699004673928489</c:v>
                </c:pt>
                <c:pt idx="1744">
                  <c:v>-0.45240229427542822</c:v>
                </c:pt>
                <c:pt idx="1745">
                  <c:v>-0.45217242216095066</c:v>
                </c:pt>
                <c:pt idx="1746">
                  <c:v>-0.4514324404971175</c:v>
                </c:pt>
                <c:pt idx="1747">
                  <c:v>-0.46125815541181292</c:v>
                </c:pt>
                <c:pt idx="1748">
                  <c:v>-0.46149889345915418</c:v>
                </c:pt>
                <c:pt idx="1749">
                  <c:v>-0.4616417862651091</c:v>
                </c:pt>
                <c:pt idx="1750">
                  <c:v>-0.46144173205706773</c:v>
                </c:pt>
                <c:pt idx="1751">
                  <c:v>-0.46481323440411881</c:v>
                </c:pt>
                <c:pt idx="1752">
                  <c:v>-0.47348313967504374</c:v>
                </c:pt>
                <c:pt idx="1753">
                  <c:v>-0.46577434683638963</c:v>
                </c:pt>
                <c:pt idx="1754">
                  <c:v>-0.46995709756358095</c:v>
                </c:pt>
                <c:pt idx="1755">
                  <c:v>-0.46694218160772116</c:v>
                </c:pt>
                <c:pt idx="1756">
                  <c:v>-0.46736608876138963</c:v>
                </c:pt>
                <c:pt idx="1757">
                  <c:v>-0.46860067908837588</c:v>
                </c:pt>
                <c:pt idx="1758">
                  <c:v>-0.46700197320604997</c:v>
                </c:pt>
                <c:pt idx="1759">
                  <c:v>-0.46202083310054509</c:v>
                </c:pt>
                <c:pt idx="1760">
                  <c:v>-0.46968572847353729</c:v>
                </c:pt>
                <c:pt idx="1761">
                  <c:v>-0.4689988427170636</c:v>
                </c:pt>
                <c:pt idx="1762">
                  <c:v>-0.46707814264276026</c:v>
                </c:pt>
                <c:pt idx="1763">
                  <c:v>-0.46945771880733556</c:v>
                </c:pt>
                <c:pt idx="1764">
                  <c:v>-0.46587109170687535</c:v>
                </c:pt>
                <c:pt idx="1765">
                  <c:v>-0.46445838952077978</c:v>
                </c:pt>
                <c:pt idx="1766">
                  <c:v>-0.46462430744214789</c:v>
                </c:pt>
                <c:pt idx="1767">
                  <c:v>-0.46956137772309869</c:v>
                </c:pt>
                <c:pt idx="1768">
                  <c:v>-0.4608983617140292</c:v>
                </c:pt>
                <c:pt idx="1769">
                  <c:v>-0.46536755805362839</c:v>
                </c:pt>
                <c:pt idx="1770">
                  <c:v>-0.4600214890313753</c:v>
                </c:pt>
                <c:pt idx="1771">
                  <c:v>-0.45648885785627991</c:v>
                </c:pt>
                <c:pt idx="1772">
                  <c:v>-0.45941780295544876</c:v>
                </c:pt>
                <c:pt idx="1773">
                  <c:v>-0.46339971785535083</c:v>
                </c:pt>
                <c:pt idx="1774">
                  <c:v>-0.45864202328768544</c:v>
                </c:pt>
                <c:pt idx="1775">
                  <c:v>-0.4456688098454562</c:v>
                </c:pt>
                <c:pt idx="1776">
                  <c:v>-0.45866894369488631</c:v>
                </c:pt>
                <c:pt idx="1777">
                  <c:v>-0.45145973801901695</c:v>
                </c:pt>
                <c:pt idx="1778">
                  <c:v>-0.44490981152623299</c:v>
                </c:pt>
                <c:pt idx="1779">
                  <c:v>-0.44429902571345692</c:v>
                </c:pt>
                <c:pt idx="1780">
                  <c:v>-0.44714947774320812</c:v>
                </c:pt>
                <c:pt idx="1781">
                  <c:v>-0.44770034440289164</c:v>
                </c:pt>
                <c:pt idx="1782">
                  <c:v>-0.45521430220880843</c:v>
                </c:pt>
                <c:pt idx="1783">
                  <c:v>-0.45023852314687285</c:v>
                </c:pt>
                <c:pt idx="1784">
                  <c:v>-0.44877418765227639</c:v>
                </c:pt>
                <c:pt idx="1785">
                  <c:v>-0.45737791287981677</c:v>
                </c:pt>
                <c:pt idx="1786">
                  <c:v>-0.46156988399380761</c:v>
                </c:pt>
                <c:pt idx="1787">
                  <c:v>-0.46944616283631113</c:v>
                </c:pt>
                <c:pt idx="1788">
                  <c:v>-0.47019522109232481</c:v>
                </c:pt>
                <c:pt idx="1789">
                  <c:v>-0.47306238672060297</c:v>
                </c:pt>
                <c:pt idx="1790">
                  <c:v>-0.4724860375470229</c:v>
                </c:pt>
                <c:pt idx="1791">
                  <c:v>-0.46498570548417395</c:v>
                </c:pt>
                <c:pt idx="1792">
                  <c:v>-0.46446987346669744</c:v>
                </c:pt>
                <c:pt idx="1793">
                  <c:v>-0.47304608435065931</c:v>
                </c:pt>
                <c:pt idx="1794">
                  <c:v>-0.45908488325130059</c:v>
                </c:pt>
                <c:pt idx="1795">
                  <c:v>-0.46204190857772798</c:v>
                </c:pt>
                <c:pt idx="1796">
                  <c:v>-0.46331172729578896</c:v>
                </c:pt>
                <c:pt idx="1797">
                  <c:v>-0.46026000602459438</c:v>
                </c:pt>
                <c:pt idx="1798">
                  <c:v>-0.46021100616742239</c:v>
                </c:pt>
                <c:pt idx="1799">
                  <c:v>-0.45559422667073302</c:v>
                </c:pt>
                <c:pt idx="1800">
                  <c:v>-0.46018359103506423</c:v>
                </c:pt>
                <c:pt idx="1801">
                  <c:v>-0.46171561567471175</c:v>
                </c:pt>
                <c:pt idx="1802">
                  <c:v>-0.45648759731371347</c:v>
                </c:pt>
                <c:pt idx="1803">
                  <c:v>-0.45286488430503535</c:v>
                </c:pt>
                <c:pt idx="1804">
                  <c:v>-0.44778444274995344</c:v>
                </c:pt>
                <c:pt idx="1805">
                  <c:v>-0.44204437304901811</c:v>
                </c:pt>
                <c:pt idx="1806">
                  <c:v>-0.44829770917865108</c:v>
                </c:pt>
                <c:pt idx="1807">
                  <c:v>-0.44242777952486734</c:v>
                </c:pt>
                <c:pt idx="1808">
                  <c:v>-0.44583323173046641</c:v>
                </c:pt>
                <c:pt idx="1809">
                  <c:v>-0.44877230486593911</c:v>
                </c:pt>
                <c:pt idx="1810">
                  <c:v>-0.43655849170998806</c:v>
                </c:pt>
                <c:pt idx="1811">
                  <c:v>-0.43991446408445534</c:v>
                </c:pt>
                <c:pt idx="1812">
                  <c:v>-0.44808674345498367</c:v>
                </c:pt>
                <c:pt idx="1813">
                  <c:v>-0.43403185957405799</c:v>
                </c:pt>
                <c:pt idx="1814">
                  <c:v>-0.43270911030723402</c:v>
                </c:pt>
                <c:pt idx="1815">
                  <c:v>-0.43701028601715441</c:v>
                </c:pt>
                <c:pt idx="1816">
                  <c:v>-0.43808346446594471</c:v>
                </c:pt>
                <c:pt idx="1817">
                  <c:v>-0.43592235965737358</c:v>
                </c:pt>
                <c:pt idx="1818">
                  <c:v>-0.43713917387500678</c:v>
                </c:pt>
                <c:pt idx="1819">
                  <c:v>-0.44043269184535516</c:v>
                </c:pt>
                <c:pt idx="1820">
                  <c:v>-0.44005844825914753</c:v>
                </c:pt>
                <c:pt idx="1821">
                  <c:v>-0.43846571029753456</c:v>
                </c:pt>
                <c:pt idx="1822">
                  <c:v>-0.43931577993570159</c:v>
                </c:pt>
                <c:pt idx="1823">
                  <c:v>-0.43892778845778269</c:v>
                </c:pt>
                <c:pt idx="1824">
                  <c:v>-0.4387505176567047</c:v>
                </c:pt>
                <c:pt idx="1825">
                  <c:v>-0.4382992173544058</c:v>
                </c:pt>
                <c:pt idx="1826">
                  <c:v>-0.43023210539950674</c:v>
                </c:pt>
                <c:pt idx="1827">
                  <c:v>-0.44051320027543872</c:v>
                </c:pt>
                <c:pt idx="1828">
                  <c:v>-0.43802729525249839</c:v>
                </c:pt>
                <c:pt idx="1829">
                  <c:v>-0.43405263122849724</c:v>
                </c:pt>
                <c:pt idx="1830">
                  <c:v>-0.42784206753764331</c:v>
                </c:pt>
                <c:pt idx="1831">
                  <c:v>-0.42564882635670598</c:v>
                </c:pt>
                <c:pt idx="1832">
                  <c:v>-0.43035739455642985</c:v>
                </c:pt>
                <c:pt idx="1833">
                  <c:v>-0.42639212814021976</c:v>
                </c:pt>
                <c:pt idx="1834">
                  <c:v>-0.42926226160451075</c:v>
                </c:pt>
                <c:pt idx="1835">
                  <c:v>-0.42928949789449455</c:v>
                </c:pt>
                <c:pt idx="1836">
                  <c:v>-0.429429455553761</c:v>
                </c:pt>
                <c:pt idx="1837">
                  <c:v>-0.43152378987216766</c:v>
                </c:pt>
                <c:pt idx="1838">
                  <c:v>-0.43493581803440706</c:v>
                </c:pt>
                <c:pt idx="1839">
                  <c:v>-0.44204375268523866</c:v>
                </c:pt>
                <c:pt idx="1840">
                  <c:v>-0.4383090932900211</c:v>
                </c:pt>
                <c:pt idx="1841">
                  <c:v>-0.43458908517026695</c:v>
                </c:pt>
                <c:pt idx="1842">
                  <c:v>-0.43815029323003829</c:v>
                </c:pt>
                <c:pt idx="1843">
                  <c:v>-0.43006049241686495</c:v>
                </c:pt>
                <c:pt idx="1844">
                  <c:v>-0.43110738036645968</c:v>
                </c:pt>
                <c:pt idx="1845">
                  <c:v>-0.43066376121718886</c:v>
                </c:pt>
                <c:pt idx="1846">
                  <c:v>-0.42905267617867637</c:v>
                </c:pt>
                <c:pt idx="1847">
                  <c:v>-0.4259602990075142</c:v>
                </c:pt>
                <c:pt idx="1848">
                  <c:v>-0.43603139594613882</c:v>
                </c:pt>
                <c:pt idx="1849">
                  <c:v>-0.44033476436311791</c:v>
                </c:pt>
                <c:pt idx="1850">
                  <c:v>-0.44569615332122203</c:v>
                </c:pt>
                <c:pt idx="1851">
                  <c:v>-0.44558444667463148</c:v>
                </c:pt>
                <c:pt idx="1852">
                  <c:v>-0.46366137416675601</c:v>
                </c:pt>
                <c:pt idx="1853">
                  <c:v>-0.46019967420001184</c:v>
                </c:pt>
                <c:pt idx="1854">
                  <c:v>-0.4757644416110709</c:v>
                </c:pt>
                <c:pt idx="1855">
                  <c:v>-0.46351959710228385</c:v>
                </c:pt>
                <c:pt idx="1856">
                  <c:v>-0.46421496876474277</c:v>
                </c:pt>
                <c:pt idx="1857">
                  <c:v>-0.46509587450594536</c:v>
                </c:pt>
                <c:pt idx="1858">
                  <c:v>-0.46036859894214799</c:v>
                </c:pt>
                <c:pt idx="1859">
                  <c:v>-0.45462663884434273</c:v>
                </c:pt>
                <c:pt idx="1860">
                  <c:v>-0.45260355382369577</c:v>
                </c:pt>
                <c:pt idx="1861">
                  <c:v>-0.44391149620662984</c:v>
                </c:pt>
                <c:pt idx="1862">
                  <c:v>-0.44240225127723676</c:v>
                </c:pt>
                <c:pt idx="1863">
                  <c:v>-0.45511533076188548</c:v>
                </c:pt>
                <c:pt idx="1864">
                  <c:v>-0.45345493336565779</c:v>
                </c:pt>
                <c:pt idx="1865">
                  <c:v>-0.44789872951503285</c:v>
                </c:pt>
                <c:pt idx="1866">
                  <c:v>-0.44843535448069038</c:v>
                </c:pt>
                <c:pt idx="1867">
                  <c:v>-0.45556145161053552</c:v>
                </c:pt>
                <c:pt idx="1868">
                  <c:v>-0.45660363765555068</c:v>
                </c:pt>
                <c:pt idx="1869">
                  <c:v>-0.46065406419392785</c:v>
                </c:pt>
                <c:pt idx="1870">
                  <c:v>-0.45530306943009746</c:v>
                </c:pt>
                <c:pt idx="1871">
                  <c:v>-0.45060101363616878</c:v>
                </c:pt>
                <c:pt idx="1872">
                  <c:v>-0.44283851508648142</c:v>
                </c:pt>
                <c:pt idx="1873">
                  <c:v>-0.43567121302215284</c:v>
                </c:pt>
                <c:pt idx="1874">
                  <c:v>-0.4380487743717062</c:v>
                </c:pt>
                <c:pt idx="1875">
                  <c:v>-0.42051996575610484</c:v>
                </c:pt>
                <c:pt idx="1876">
                  <c:v>-0.42434012276815547</c:v>
                </c:pt>
                <c:pt idx="1877">
                  <c:v>-0.41863227491039867</c:v>
                </c:pt>
                <c:pt idx="1878">
                  <c:v>-0.4379323093497397</c:v>
                </c:pt>
                <c:pt idx="1879">
                  <c:v>-0.43628111932484237</c:v>
                </c:pt>
                <c:pt idx="1880">
                  <c:v>-0.43328770980509546</c:v>
                </c:pt>
                <c:pt idx="1881">
                  <c:v>-0.43260383315619511</c:v>
                </c:pt>
                <c:pt idx="1882">
                  <c:v>-0.43176658796518486</c:v>
                </c:pt>
                <c:pt idx="1883">
                  <c:v>-0.43290183363987067</c:v>
                </c:pt>
                <c:pt idx="1884">
                  <c:v>-0.43409416310473126</c:v>
                </c:pt>
                <c:pt idx="1885">
                  <c:v>-0.43817008261202406</c:v>
                </c:pt>
                <c:pt idx="1886">
                  <c:v>-0.44005416244253159</c:v>
                </c:pt>
                <c:pt idx="1887">
                  <c:v>-0.43055163454137002</c:v>
                </c:pt>
                <c:pt idx="1888">
                  <c:v>-0.42112775355347321</c:v>
                </c:pt>
                <c:pt idx="1889">
                  <c:v>-0.42105893089597757</c:v>
                </c:pt>
                <c:pt idx="1890">
                  <c:v>-0.4208279462479817</c:v>
                </c:pt>
                <c:pt idx="1891">
                  <c:v>-0.42374955377137757</c:v>
                </c:pt>
                <c:pt idx="1892">
                  <c:v>-0.42737884446743879</c:v>
                </c:pt>
                <c:pt idx="1893">
                  <c:v>-0.43044849527090434</c:v>
                </c:pt>
                <c:pt idx="1894">
                  <c:v>-0.43958622995908325</c:v>
                </c:pt>
                <c:pt idx="1895">
                  <c:v>-0.43603191445423872</c:v>
                </c:pt>
                <c:pt idx="1896">
                  <c:v>-0.43195639036741251</c:v>
                </c:pt>
                <c:pt idx="1897">
                  <c:v>-0.44144442362083458</c:v>
                </c:pt>
                <c:pt idx="1898">
                  <c:v>-0.44092267997398504</c:v>
                </c:pt>
                <c:pt idx="1899">
                  <c:v>-0.44480696371519091</c:v>
                </c:pt>
                <c:pt idx="1900">
                  <c:v>-0.43775765724671201</c:v>
                </c:pt>
                <c:pt idx="1901">
                  <c:v>-0.43464084452335783</c:v>
                </c:pt>
                <c:pt idx="1902">
                  <c:v>-0.43004241803954102</c:v>
                </c:pt>
                <c:pt idx="1903">
                  <c:v>-0.43597137399789099</c:v>
                </c:pt>
                <c:pt idx="1904">
                  <c:v>-0.42432333322376803</c:v>
                </c:pt>
                <c:pt idx="1905">
                  <c:v>-0.42198497400017565</c:v>
                </c:pt>
                <c:pt idx="1906">
                  <c:v>-0.42593231102156093</c:v>
                </c:pt>
                <c:pt idx="1907">
                  <c:v>-0.41522323821547891</c:v>
                </c:pt>
                <c:pt idx="1908">
                  <c:v>-0.4073658466237613</c:v>
                </c:pt>
                <c:pt idx="1909">
                  <c:v>-0.41852745292586979</c:v>
                </c:pt>
                <c:pt idx="1910">
                  <c:v>-0.42124077013170813</c:v>
                </c:pt>
                <c:pt idx="1911">
                  <c:v>-0.42838022656534847</c:v>
                </c:pt>
                <c:pt idx="1912">
                  <c:v>-0.42118441494111891</c:v>
                </c:pt>
                <c:pt idx="1913">
                  <c:v>-0.4317585676265201</c:v>
                </c:pt>
                <c:pt idx="1914">
                  <c:v>-0.43665091193319805</c:v>
                </c:pt>
                <c:pt idx="1915">
                  <c:v>-0.44111290093695066</c:v>
                </c:pt>
                <c:pt idx="1916">
                  <c:v>-0.43460445134971715</c:v>
                </c:pt>
                <c:pt idx="1917">
                  <c:v>-0.4337092648419435</c:v>
                </c:pt>
                <c:pt idx="1918">
                  <c:v>-0.43290458996003767</c:v>
                </c:pt>
                <c:pt idx="1919">
                  <c:v>-0.4329144996874511</c:v>
                </c:pt>
                <c:pt idx="1920">
                  <c:v>-0.42972702749819358</c:v>
                </c:pt>
                <c:pt idx="1921">
                  <c:v>-0.42960303017581736</c:v>
                </c:pt>
                <c:pt idx="1922">
                  <c:v>-0.43006325932440792</c:v>
                </c:pt>
                <c:pt idx="1923">
                  <c:v>-0.43463630116591623</c:v>
                </c:pt>
                <c:pt idx="1924">
                  <c:v>-0.43833139749585559</c:v>
                </c:pt>
                <c:pt idx="1925">
                  <c:v>-0.43787866427913269</c:v>
                </c:pt>
                <c:pt idx="1926">
                  <c:v>-0.44650136137207252</c:v>
                </c:pt>
                <c:pt idx="1927">
                  <c:v>-0.44245682510523565</c:v>
                </c:pt>
                <c:pt idx="1928">
                  <c:v>-0.44416326080676138</c:v>
                </c:pt>
                <c:pt idx="1929">
                  <c:v>-0.44267949335317225</c:v>
                </c:pt>
                <c:pt idx="1930">
                  <c:v>-0.44232182116457286</c:v>
                </c:pt>
                <c:pt idx="1931">
                  <c:v>-0.45352743610638779</c:v>
                </c:pt>
                <c:pt idx="1932">
                  <c:v>-0.46193824055104726</c:v>
                </c:pt>
                <c:pt idx="1933">
                  <c:v>-0.46100488329948708</c:v>
                </c:pt>
                <c:pt idx="1934">
                  <c:v>-0.45201814885831593</c:v>
                </c:pt>
                <c:pt idx="1935">
                  <c:v>-0.46743328402405471</c:v>
                </c:pt>
                <c:pt idx="1936">
                  <c:v>-0.46323825552746267</c:v>
                </c:pt>
                <c:pt idx="1937">
                  <c:v>-0.46897663706522763</c:v>
                </c:pt>
                <c:pt idx="1938">
                  <c:v>-0.47094049129634552</c:v>
                </c:pt>
                <c:pt idx="1939">
                  <c:v>-0.46949963753026858</c:v>
                </c:pt>
                <c:pt idx="1940">
                  <c:v>-0.4752617846141568</c:v>
                </c:pt>
                <c:pt idx="1941">
                  <c:v>-0.47854428871415944</c:v>
                </c:pt>
                <c:pt idx="1942">
                  <c:v>-0.48601947911481069</c:v>
                </c:pt>
                <c:pt idx="1943">
                  <c:v>-0.48581556316194763</c:v>
                </c:pt>
                <c:pt idx="1944">
                  <c:v>-0.49099981400390125</c:v>
                </c:pt>
                <c:pt idx="1945">
                  <c:v>-0.48488568928168208</c:v>
                </c:pt>
                <c:pt idx="1946">
                  <c:v>-0.47980355595148805</c:v>
                </c:pt>
                <c:pt idx="1947">
                  <c:v>-0.47972861889537632</c:v>
                </c:pt>
                <c:pt idx="1948">
                  <c:v>-0.48666573608929653</c:v>
                </c:pt>
                <c:pt idx="1949">
                  <c:v>-0.4814804620220674</c:v>
                </c:pt>
                <c:pt idx="1950">
                  <c:v>-0.4772514815223331</c:v>
                </c:pt>
                <c:pt idx="1951">
                  <c:v>-0.48451091871698238</c:v>
                </c:pt>
                <c:pt idx="1952">
                  <c:v>-0.49164655047646999</c:v>
                </c:pt>
                <c:pt idx="1953">
                  <c:v>-0.49045122634534644</c:v>
                </c:pt>
                <c:pt idx="1954">
                  <c:v>-0.4845184258958859</c:v>
                </c:pt>
                <c:pt idx="1955">
                  <c:v>-0.49728740754174316</c:v>
                </c:pt>
                <c:pt idx="1956">
                  <c:v>-0.49251402880348971</c:v>
                </c:pt>
                <c:pt idx="1957">
                  <c:v>-0.49422820987938321</c:v>
                </c:pt>
                <c:pt idx="1958">
                  <c:v>-0.49424046574301783</c:v>
                </c:pt>
                <c:pt idx="1959">
                  <c:v>-0.49875226311998322</c:v>
                </c:pt>
                <c:pt idx="1960">
                  <c:v>-0.4951097175994833</c:v>
                </c:pt>
                <c:pt idx="1961">
                  <c:v>-0.49038061854330528</c:v>
                </c:pt>
                <c:pt idx="1962">
                  <c:v>-0.49209301897425672</c:v>
                </c:pt>
                <c:pt idx="1963">
                  <c:v>-0.4816915307032964</c:v>
                </c:pt>
                <c:pt idx="1964">
                  <c:v>-0.47875898599755218</c:v>
                </c:pt>
                <c:pt idx="1965">
                  <c:v>-0.47730771670453032</c:v>
                </c:pt>
                <c:pt idx="1966">
                  <c:v>-0.47300029738087312</c:v>
                </c:pt>
                <c:pt idx="1967">
                  <c:v>-0.48452968866114243</c:v>
                </c:pt>
                <c:pt idx="1968">
                  <c:v>-0.47690580562606566</c:v>
                </c:pt>
                <c:pt idx="1969">
                  <c:v>-0.48164433660464701</c:v>
                </c:pt>
                <c:pt idx="1970">
                  <c:v>-0.48239223672176079</c:v>
                </c:pt>
                <c:pt idx="1971">
                  <c:v>-0.47850586932684391</c:v>
                </c:pt>
                <c:pt idx="1972">
                  <c:v>-0.47484595962091924</c:v>
                </c:pt>
                <c:pt idx="1973">
                  <c:v>-0.45664632679626793</c:v>
                </c:pt>
                <c:pt idx="1974">
                  <c:v>-0.45080983015041509</c:v>
                </c:pt>
                <c:pt idx="1975">
                  <c:v>-0.45061061178608408</c:v>
                </c:pt>
                <c:pt idx="1976">
                  <c:v>-0.43285784380411307</c:v>
                </c:pt>
                <c:pt idx="1977">
                  <c:v>-0.44096186137625792</c:v>
                </c:pt>
                <c:pt idx="1978">
                  <c:v>-0.45150543472978633</c:v>
                </c:pt>
                <c:pt idx="1979">
                  <c:v>-0.45889304164226941</c:v>
                </c:pt>
                <c:pt idx="1980">
                  <c:v>-0.45477378177319039</c:v>
                </c:pt>
                <c:pt idx="1981">
                  <c:v>-0.44945595495511192</c:v>
                </c:pt>
                <c:pt idx="1982">
                  <c:v>-0.44991107280275289</c:v>
                </c:pt>
                <c:pt idx="1983">
                  <c:v>-0.44472118495261148</c:v>
                </c:pt>
                <c:pt idx="1984">
                  <c:v>-0.44891441282957367</c:v>
                </c:pt>
                <c:pt idx="1985">
                  <c:v>-0.44429646417392554</c:v>
                </c:pt>
                <c:pt idx="1986">
                  <c:v>-0.45159807170074273</c:v>
                </c:pt>
                <c:pt idx="1987">
                  <c:v>-0.45343053456643256</c:v>
                </c:pt>
                <c:pt idx="1988">
                  <c:v>-0.45226948551085489</c:v>
                </c:pt>
                <c:pt idx="1989">
                  <c:v>-0.45112859535005911</c:v>
                </c:pt>
                <c:pt idx="1990">
                  <c:v>-0.45443539543870193</c:v>
                </c:pt>
                <c:pt idx="1991">
                  <c:v>-0.45688258398652504</c:v>
                </c:pt>
                <c:pt idx="1992">
                  <c:v>-0.45339608612246096</c:v>
                </c:pt>
                <c:pt idx="1993">
                  <c:v>-0.44837435952332838</c:v>
                </c:pt>
                <c:pt idx="1994">
                  <c:v>-0.44793620195330053</c:v>
                </c:pt>
                <c:pt idx="1995">
                  <c:v>-0.44354127259434417</c:v>
                </c:pt>
                <c:pt idx="1996">
                  <c:v>-0.44297222372700529</c:v>
                </c:pt>
                <c:pt idx="1997">
                  <c:v>-0.44139874093521014</c:v>
                </c:pt>
                <c:pt idx="1998">
                  <c:v>-0.44167377365923932</c:v>
                </c:pt>
                <c:pt idx="1999">
                  <c:v>-0.4371488200499275</c:v>
                </c:pt>
                <c:pt idx="2000">
                  <c:v>-0.43673061863167006</c:v>
                </c:pt>
                <c:pt idx="2001">
                  <c:v>-0.43074855889429942</c:v>
                </c:pt>
                <c:pt idx="2002">
                  <c:v>-0.43297039583375208</c:v>
                </c:pt>
                <c:pt idx="2003">
                  <c:v>-0.42672287609939541</c:v>
                </c:pt>
                <c:pt idx="2004">
                  <c:v>-0.42339067296047539</c:v>
                </c:pt>
                <c:pt idx="2005">
                  <c:v>-0.42889698517159935</c:v>
                </c:pt>
                <c:pt idx="2006">
                  <c:v>-0.42767769878625483</c:v>
                </c:pt>
                <c:pt idx="2007">
                  <c:v>-0.44082166747006868</c:v>
                </c:pt>
                <c:pt idx="2008">
                  <c:v>-0.44350303455945705</c:v>
                </c:pt>
                <c:pt idx="2009">
                  <c:v>-0.43870771576439038</c:v>
                </c:pt>
                <c:pt idx="2010">
                  <c:v>-0.43338910854000889</c:v>
                </c:pt>
                <c:pt idx="2011">
                  <c:v>-0.43008506861114548</c:v>
                </c:pt>
                <c:pt idx="2012">
                  <c:v>-0.42364432695901766</c:v>
                </c:pt>
                <c:pt idx="2013">
                  <c:v>-0.42616788338704215</c:v>
                </c:pt>
                <c:pt idx="2014">
                  <c:v>-0.43408741740072176</c:v>
                </c:pt>
                <c:pt idx="2015">
                  <c:v>-0.43593306306856261</c:v>
                </c:pt>
                <c:pt idx="2016">
                  <c:v>-0.44053330666759871</c:v>
                </c:pt>
                <c:pt idx="2017">
                  <c:v>-0.44556972250226601</c:v>
                </c:pt>
                <c:pt idx="2018">
                  <c:v>-0.43504666471809972</c:v>
                </c:pt>
                <c:pt idx="2019">
                  <c:v>-0.43594571653165048</c:v>
                </c:pt>
                <c:pt idx="2020">
                  <c:v>-0.43512333499455613</c:v>
                </c:pt>
                <c:pt idx="2021">
                  <c:v>-0.43426129464699337</c:v>
                </c:pt>
                <c:pt idx="2022">
                  <c:v>-0.43806138813899564</c:v>
                </c:pt>
                <c:pt idx="2023">
                  <c:v>-0.44308614711396654</c:v>
                </c:pt>
                <c:pt idx="2024">
                  <c:v>-0.44509933281073222</c:v>
                </c:pt>
                <c:pt idx="2025">
                  <c:v>-0.44349343842231936</c:v>
                </c:pt>
                <c:pt idx="2026">
                  <c:v>-0.44560985596751634</c:v>
                </c:pt>
                <c:pt idx="2027">
                  <c:v>-0.44239171172666936</c:v>
                </c:pt>
                <c:pt idx="2028">
                  <c:v>-0.44725211996665526</c:v>
                </c:pt>
                <c:pt idx="2029">
                  <c:v>-0.44413166750904076</c:v>
                </c:pt>
                <c:pt idx="2030">
                  <c:v>-0.44662136865473123</c:v>
                </c:pt>
                <c:pt idx="2031">
                  <c:v>-0.43859310275572705</c:v>
                </c:pt>
                <c:pt idx="2032">
                  <c:v>-0.43567580312898513</c:v>
                </c:pt>
                <c:pt idx="2033">
                  <c:v>-0.43699090729377332</c:v>
                </c:pt>
                <c:pt idx="2034">
                  <c:v>-0.44311721977313701</c:v>
                </c:pt>
                <c:pt idx="2035">
                  <c:v>-0.44712679285024048</c:v>
                </c:pt>
                <c:pt idx="2036">
                  <c:v>-0.46086338700456886</c:v>
                </c:pt>
                <c:pt idx="2037">
                  <c:v>-0.4576295711436803</c:v>
                </c:pt>
                <c:pt idx="2038">
                  <c:v>-0.46049556870991626</c:v>
                </c:pt>
                <c:pt idx="2039">
                  <c:v>-0.45984254564948213</c:v>
                </c:pt>
                <c:pt idx="2040">
                  <c:v>-0.45052074156021016</c:v>
                </c:pt>
                <c:pt idx="2041">
                  <c:v>-0.45547645891651867</c:v>
                </c:pt>
                <c:pt idx="2042">
                  <c:v>-0.45071781311600612</c:v>
                </c:pt>
                <c:pt idx="2043">
                  <c:v>-0.4481508637821543</c:v>
                </c:pt>
                <c:pt idx="2044">
                  <c:v>-0.45019477842181432</c:v>
                </c:pt>
                <c:pt idx="2045">
                  <c:v>-0.44425950162384042</c:v>
                </c:pt>
                <c:pt idx="2046">
                  <c:v>-0.44457149630882908</c:v>
                </c:pt>
                <c:pt idx="2047">
                  <c:v>-0.44848627081760239</c:v>
                </c:pt>
                <c:pt idx="2048">
                  <c:v>-0.45432919810885986</c:v>
                </c:pt>
                <c:pt idx="2049">
                  <c:v>-0.45803382246955082</c:v>
                </c:pt>
                <c:pt idx="2050">
                  <c:v>-0.45843640875523828</c:v>
                </c:pt>
                <c:pt idx="2051">
                  <c:v>-0.45963961590846458</c:v>
                </c:pt>
                <c:pt idx="2052">
                  <c:v>-0.4619736339906686</c:v>
                </c:pt>
                <c:pt idx="2053">
                  <c:v>-0.44983340408589134</c:v>
                </c:pt>
                <c:pt idx="2054">
                  <c:v>-0.48589427989260525</c:v>
                </c:pt>
                <c:pt idx="2055">
                  <c:v>-0.47919167830122367</c:v>
                </c:pt>
                <c:pt idx="2056">
                  <c:v>-0.48238748037264456</c:v>
                </c:pt>
                <c:pt idx="2057">
                  <c:v>-0.47648925968794342</c:v>
                </c:pt>
                <c:pt idx="2058">
                  <c:v>-0.46432113689529719</c:v>
                </c:pt>
                <c:pt idx="2059">
                  <c:v>-0.46391519414940052</c:v>
                </c:pt>
                <c:pt idx="2060">
                  <c:v>-0.45354346599872841</c:v>
                </c:pt>
                <c:pt idx="2061">
                  <c:v>-0.45681606134855646</c:v>
                </c:pt>
                <c:pt idx="2062">
                  <c:v>-0.45613318940451197</c:v>
                </c:pt>
                <c:pt idx="2063">
                  <c:v>-0.4560537293006458</c:v>
                </c:pt>
                <c:pt idx="2064">
                  <c:v>-0.4566988003888004</c:v>
                </c:pt>
                <c:pt idx="2065">
                  <c:v>-0.45661804074342216</c:v>
                </c:pt>
                <c:pt idx="2066">
                  <c:v>-0.46314458660639812</c:v>
                </c:pt>
                <c:pt idx="2067">
                  <c:v>-0.46908357029345116</c:v>
                </c:pt>
                <c:pt idx="2068">
                  <c:v>-0.46957210368054192</c:v>
                </c:pt>
                <c:pt idx="2069">
                  <c:v>-0.46935939327133025</c:v>
                </c:pt>
              </c:numCache>
            </c:numRef>
          </c:val>
          <c:smooth val="0"/>
          <c:extLst>
            <c:ext xmlns:c16="http://schemas.microsoft.com/office/drawing/2014/chart" uri="{C3380CC4-5D6E-409C-BE32-E72D297353CC}">
              <c16:uniqueId val="{00000000-4BEE-4D16-939C-2D3D9FA7A88C}"/>
            </c:ext>
          </c:extLst>
        </c:ser>
        <c:dLbls>
          <c:showLegendKey val="0"/>
          <c:showVal val="0"/>
          <c:showCatName val="0"/>
          <c:showSerName val="0"/>
          <c:showPercent val="0"/>
          <c:showBubbleSize val="0"/>
        </c:dLbls>
        <c:smooth val="0"/>
        <c:axId val="346405631"/>
        <c:axId val="346406711"/>
      </c:lineChart>
      <c:dateAx>
        <c:axId val="346405631"/>
        <c:scaling>
          <c:orientation val="minMax"/>
        </c:scaling>
        <c:delete val="0"/>
        <c:axPos val="b"/>
        <c:numFmt formatCode="m/d/yyyy"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rgbClr val="000000"/>
                </a:solidFill>
                <a:latin typeface="Arial Narrow"/>
                <a:ea typeface="Arial Narrow"/>
                <a:cs typeface="Arial Narrow"/>
              </a:defRPr>
            </a:pPr>
            <a:endParaRPr lang="en-US"/>
          </a:p>
        </c:txPr>
        <c:crossAx val="346406711"/>
        <c:crosses val="autoZero"/>
        <c:auto val="1"/>
        <c:lblOffset val="100"/>
        <c:baseTimeUnit val="days"/>
      </c:dateAx>
      <c:valAx>
        <c:axId val="34640671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low"/>
        <c:spPr>
          <a:noFill/>
          <a:ln>
            <a:noFill/>
          </a:ln>
          <a:effectLst/>
        </c:spPr>
        <c:txPr>
          <a:bodyPr rot="-60000000" spcFirstLastPara="1" vertOverflow="ellipsis" vert="horz" wrap="square" anchor="ctr" anchorCtr="1"/>
          <a:lstStyle/>
          <a:p>
            <a:pPr>
              <a:defRPr sz="800" b="0" i="0" u="none" strike="noStrike" kern="1200" baseline="0">
                <a:solidFill>
                  <a:srgbClr val="000000"/>
                </a:solidFill>
                <a:latin typeface="Arial Narrow"/>
                <a:ea typeface="Arial Narrow"/>
                <a:cs typeface="Arial Narrow"/>
              </a:defRPr>
            </a:pPr>
            <a:endParaRPr lang="en-US"/>
          </a:p>
        </c:txPr>
        <c:crossAx val="346405631"/>
        <c:crosses val="autoZero"/>
        <c:crossBetween val="between"/>
      </c:valAx>
      <c:spPr>
        <a:noFill/>
        <a:ln w="25400">
          <a:noFill/>
        </a:ln>
        <a:effectLst/>
      </c:spPr>
    </c:plotArea>
    <c:plotVisOnly val="1"/>
    <c:dispBlanksAs val="gap"/>
    <c:showDLblsOverMax val="0"/>
  </c:chart>
  <c:spPr>
    <a:solidFill>
      <a:schemeClr val="bg1"/>
    </a:solidFill>
    <a:ln w="25400" cap="flat" cmpd="sng" algn="ctr">
      <a:noFill/>
      <a:round/>
    </a:ln>
    <a:effectLst/>
  </c:spPr>
  <c:txPr>
    <a:bodyPr/>
    <a:lstStyle/>
    <a:p>
      <a:pPr>
        <a:defRPr sz="800" b="0" i="0" u="none" strike="noStrike" baseline="0">
          <a:solidFill>
            <a:srgbClr val="000000"/>
          </a:solidFill>
          <a:latin typeface="Arial Narrow"/>
          <a:ea typeface="Arial Narrow"/>
          <a:cs typeface="Arial Narrow"/>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xMode val="edge"/>
          <c:yMode val="edge"/>
          <c:x val="1.1695906432748537E-2"/>
          <c:y val="2.839256181949373E-2"/>
          <c:w val="0.98830409356725146"/>
          <c:h val="0.9716074381805061"/>
        </c:manualLayout>
      </c:layout>
      <c:barChart>
        <c:barDir val="col"/>
        <c:grouping val="clustered"/>
        <c:varyColors val="0"/>
        <c:ser>
          <c:idx val="0"/>
          <c:order val="0"/>
          <c:spPr>
            <a:solidFill>
              <a:schemeClr val="accent1"/>
            </a:solidFill>
            <a:ln>
              <a:noFill/>
            </a:ln>
            <a:effectLst/>
          </c:spPr>
          <c:invertIfNegative val="0"/>
          <c:dPt>
            <c:idx val="5"/>
            <c:invertIfNegative val="0"/>
            <c:bubble3D val="0"/>
            <c:spPr>
              <a:solidFill>
                <a:srgbClr val="002060"/>
              </a:solidFill>
              <a:ln>
                <a:noFill/>
              </a:ln>
              <a:effectLst/>
            </c:spPr>
            <c:extLst>
              <c:ext xmlns:c16="http://schemas.microsoft.com/office/drawing/2014/chart" uri="{C3380CC4-5D6E-409C-BE32-E72D297353CC}">
                <c16:uniqueId val="{00000001-33CB-4E44-A16F-2147E45F7C17}"/>
              </c:ext>
            </c:extLst>
          </c:dPt>
          <c:dPt>
            <c:idx val="6"/>
            <c:invertIfNegative val="0"/>
            <c:bubble3D val="0"/>
            <c:spPr>
              <a:solidFill>
                <a:srgbClr val="002060"/>
              </a:solidFill>
              <a:ln>
                <a:noFill/>
              </a:ln>
              <a:effectLst/>
            </c:spPr>
            <c:extLst>
              <c:ext xmlns:c16="http://schemas.microsoft.com/office/drawing/2014/chart" uri="{C3380CC4-5D6E-409C-BE32-E72D297353CC}">
                <c16:uniqueId val="{00000003-33CB-4E44-A16F-2147E45F7C17}"/>
              </c:ext>
            </c:extLst>
          </c:dPt>
          <c:dPt>
            <c:idx val="7"/>
            <c:invertIfNegative val="0"/>
            <c:bubble3D val="0"/>
            <c:spPr>
              <a:solidFill>
                <a:srgbClr val="002060"/>
              </a:solidFill>
              <a:ln>
                <a:noFill/>
              </a:ln>
              <a:effectLst/>
            </c:spPr>
            <c:extLst>
              <c:ext xmlns:c16="http://schemas.microsoft.com/office/drawing/2014/chart" uri="{C3380CC4-5D6E-409C-BE32-E72D297353CC}">
                <c16:uniqueId val="{00000005-33CB-4E44-A16F-2147E45F7C17}"/>
              </c:ext>
            </c:extLst>
          </c:dPt>
          <c:dLbls>
            <c:spPr>
              <a:noFill/>
              <a:ln>
                <a:noFill/>
              </a:ln>
              <a:effectLst/>
            </c:spPr>
            <c:txPr>
              <a:bodyPr rot="-5400000" spcFirstLastPara="1" vertOverflow="ellipsis" wrap="square" lIns="38100" tIns="19050" rIns="38100" bIns="19050" anchor="ctr" anchorCtr="1">
                <a:spAutoFit/>
              </a:bodyPr>
              <a:lstStyle/>
              <a:p>
                <a:pPr>
                  <a:defRPr sz="1000" b="1" i="0" u="none" strike="noStrike" kern="1200" baseline="0">
                    <a:solidFill>
                      <a:schemeClr val="bg1"/>
                    </a:solidFill>
                    <a:latin typeface="Arial Narrow"/>
                    <a:ea typeface="Arial Narrow"/>
                    <a:cs typeface="Arial Narrow"/>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'2025 BO model'!$B$13:$I$13</c:f>
              <c:strCache>
                <c:ptCount val="8"/>
                <c:pt idx="0">
                  <c:v>2017</c:v>
                </c:pt>
                <c:pt idx="1">
                  <c:v>2018</c:v>
                </c:pt>
                <c:pt idx="2">
                  <c:v>2019</c:v>
                </c:pt>
                <c:pt idx="3">
                  <c:v>2022</c:v>
                </c:pt>
                <c:pt idx="4">
                  <c:v>2023</c:v>
                </c:pt>
                <c:pt idx="5">
                  <c:v>2024E</c:v>
                </c:pt>
                <c:pt idx="6">
                  <c:v>2025E</c:v>
                </c:pt>
                <c:pt idx="7">
                  <c:v>2026E</c:v>
                </c:pt>
              </c:strCache>
            </c:strRef>
          </c:cat>
          <c:val>
            <c:numRef>
              <c:f>'2025 BO model'!$B$18:$I$18</c:f>
              <c:numCache>
                <c:formatCode>"$"#,##0_);[Red]\("$"#,##0\)</c:formatCode>
                <c:ptCount val="8"/>
                <c:pt idx="0">
                  <c:v>11071</c:v>
                </c:pt>
                <c:pt idx="1">
                  <c:v>11893</c:v>
                </c:pt>
                <c:pt idx="2">
                  <c:v>11363</c:v>
                </c:pt>
                <c:pt idx="3">
                  <c:v>7367</c:v>
                </c:pt>
                <c:pt idx="4">
                  <c:v>8905</c:v>
                </c:pt>
                <c:pt idx="5">
                  <c:v>8751.8582659162439</c:v>
                </c:pt>
                <c:pt idx="6">
                  <c:v>9435</c:v>
                </c:pt>
                <c:pt idx="7">
                  <c:v>9747</c:v>
                </c:pt>
              </c:numCache>
            </c:numRef>
          </c:val>
          <c:extLst>
            <c:ext xmlns:c16="http://schemas.microsoft.com/office/drawing/2014/chart" uri="{C3380CC4-5D6E-409C-BE32-E72D297353CC}">
              <c16:uniqueId val="{00000006-33CB-4E44-A16F-2147E45F7C17}"/>
            </c:ext>
          </c:extLst>
        </c:ser>
        <c:dLbls>
          <c:showLegendKey val="0"/>
          <c:showVal val="0"/>
          <c:showCatName val="0"/>
          <c:showSerName val="0"/>
          <c:showPercent val="0"/>
          <c:showBubbleSize val="0"/>
        </c:dLbls>
        <c:gapWidth val="219"/>
        <c:overlap val="-27"/>
        <c:axId val="210423367"/>
        <c:axId val="210414007"/>
      </c:barChart>
      <c:catAx>
        <c:axId val="210423367"/>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rgbClr val="000000"/>
                </a:solidFill>
                <a:latin typeface="Arial Narrow"/>
                <a:ea typeface="Arial Narrow"/>
                <a:cs typeface="Arial Narrow"/>
              </a:defRPr>
            </a:pPr>
            <a:endParaRPr lang="en-US"/>
          </a:p>
        </c:txPr>
        <c:crossAx val="210414007"/>
        <c:crosses val="autoZero"/>
        <c:auto val="1"/>
        <c:lblAlgn val="ctr"/>
        <c:lblOffset val="100"/>
        <c:noMultiLvlLbl val="0"/>
      </c:catAx>
      <c:valAx>
        <c:axId val="210414007"/>
        <c:scaling>
          <c:orientation val="minMax"/>
        </c:scaling>
        <c:delete val="0"/>
        <c:axPos val="l"/>
        <c:majorGridlines>
          <c:spPr>
            <a:ln w="9525" cap="flat" cmpd="sng" algn="ctr">
              <a:solidFill>
                <a:schemeClr val="tx1">
                  <a:lumMod val="15000"/>
                  <a:lumOff val="85000"/>
                </a:schemeClr>
              </a:solidFill>
              <a:round/>
            </a:ln>
            <a:effectLst/>
          </c:spPr>
        </c:majorGridlines>
        <c:numFmt formatCode="&quot;$&quot;#,##0_);[Red]\(&quot;$&quot;#,##0\)" sourceLinked="1"/>
        <c:majorTickMark val="out"/>
        <c:minorTickMark val="none"/>
        <c:tickLblPos val="low"/>
        <c:spPr>
          <a:noFill/>
          <a:ln>
            <a:noFill/>
          </a:ln>
          <a:effectLst/>
        </c:spPr>
        <c:txPr>
          <a:bodyPr rot="-60000000" spcFirstLastPara="1" vertOverflow="ellipsis" vert="horz" wrap="square" anchor="ctr" anchorCtr="1"/>
          <a:lstStyle/>
          <a:p>
            <a:pPr>
              <a:defRPr sz="800" b="0" i="0" u="none" strike="noStrike" kern="1200" baseline="0">
                <a:solidFill>
                  <a:srgbClr val="000000"/>
                </a:solidFill>
                <a:latin typeface="Arial Narrow"/>
                <a:ea typeface="Arial Narrow"/>
                <a:cs typeface="Arial Narrow"/>
              </a:defRPr>
            </a:pPr>
            <a:endParaRPr lang="en-US"/>
          </a:p>
        </c:txPr>
        <c:crossAx val="210423367"/>
        <c:crosses val="autoZero"/>
        <c:crossBetween val="between"/>
      </c:valAx>
      <c:spPr>
        <a:noFill/>
        <a:ln w="25400">
          <a:noFill/>
        </a:ln>
        <a:effectLst/>
      </c:spPr>
    </c:plotArea>
    <c:plotVisOnly val="1"/>
    <c:dispBlanksAs val="gap"/>
    <c:showDLblsOverMax val="0"/>
  </c:chart>
  <c:spPr>
    <a:solidFill>
      <a:schemeClr val="bg1"/>
    </a:solidFill>
    <a:ln w="25400" cap="flat" cmpd="sng" algn="ctr">
      <a:noFill/>
      <a:round/>
    </a:ln>
    <a:effectLst/>
  </c:spPr>
  <c:txPr>
    <a:bodyPr/>
    <a:lstStyle/>
    <a:p>
      <a:pPr>
        <a:defRPr sz="800" b="0" i="0" u="none" strike="noStrike" baseline="0">
          <a:solidFill>
            <a:srgbClr val="000000"/>
          </a:solidFill>
          <a:latin typeface="Arial Narrow"/>
          <a:ea typeface="Arial Narrow"/>
          <a:cs typeface="Arial Narrow"/>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xMode val="edge"/>
          <c:yMode val="edge"/>
          <c:x val="1.1695906432748537E-2"/>
          <c:y val="2.839256181949373E-2"/>
          <c:w val="0.98830409356725146"/>
          <c:h val="0.9716074381805061"/>
        </c:manualLayout>
      </c:layout>
      <c:barChart>
        <c:barDir val="col"/>
        <c:grouping val="clustered"/>
        <c:varyColors val="0"/>
        <c:ser>
          <c:idx val="0"/>
          <c:order val="0"/>
          <c:spPr>
            <a:solidFill>
              <a:schemeClr val="accent1"/>
            </a:solidFill>
            <a:ln>
              <a:noFill/>
            </a:ln>
            <a:effectLst/>
          </c:spPr>
          <c:invertIfNegative val="0"/>
          <c:dPt>
            <c:idx val="5"/>
            <c:invertIfNegative val="0"/>
            <c:bubble3D val="0"/>
            <c:spPr>
              <a:solidFill>
                <a:srgbClr val="002060"/>
              </a:solidFill>
              <a:ln>
                <a:noFill/>
              </a:ln>
              <a:effectLst/>
            </c:spPr>
            <c:extLst>
              <c:ext xmlns:c16="http://schemas.microsoft.com/office/drawing/2014/chart" uri="{C3380CC4-5D6E-409C-BE32-E72D297353CC}">
                <c16:uniqueId val="{00000001-33CB-4E44-A16F-2147E45F7C17}"/>
              </c:ext>
            </c:extLst>
          </c:dPt>
          <c:dPt>
            <c:idx val="6"/>
            <c:invertIfNegative val="0"/>
            <c:bubble3D val="0"/>
            <c:spPr>
              <a:solidFill>
                <a:srgbClr val="002060"/>
              </a:solidFill>
              <a:ln>
                <a:noFill/>
              </a:ln>
              <a:effectLst/>
            </c:spPr>
            <c:extLst>
              <c:ext xmlns:c16="http://schemas.microsoft.com/office/drawing/2014/chart" uri="{C3380CC4-5D6E-409C-BE32-E72D297353CC}">
                <c16:uniqueId val="{00000003-33CB-4E44-A16F-2147E45F7C17}"/>
              </c:ext>
            </c:extLst>
          </c:dPt>
          <c:dPt>
            <c:idx val="7"/>
            <c:invertIfNegative val="0"/>
            <c:bubble3D val="0"/>
            <c:spPr>
              <a:solidFill>
                <a:srgbClr val="002060"/>
              </a:solidFill>
              <a:ln>
                <a:noFill/>
              </a:ln>
              <a:effectLst/>
            </c:spPr>
            <c:extLst>
              <c:ext xmlns:c16="http://schemas.microsoft.com/office/drawing/2014/chart" uri="{C3380CC4-5D6E-409C-BE32-E72D297353CC}">
                <c16:uniqueId val="{00000005-33CB-4E44-A16F-2147E45F7C17}"/>
              </c:ext>
            </c:extLst>
          </c:dPt>
          <c:dLbls>
            <c:spPr>
              <a:noFill/>
              <a:ln>
                <a:noFill/>
              </a:ln>
              <a:effectLst/>
            </c:spPr>
            <c:txPr>
              <a:bodyPr rot="-5400000" spcFirstLastPara="1" vertOverflow="ellipsis" wrap="square" lIns="38100" tIns="19050" rIns="38100" bIns="19050" anchor="ctr" anchorCtr="1">
                <a:spAutoFit/>
              </a:bodyPr>
              <a:lstStyle/>
              <a:p>
                <a:pPr>
                  <a:defRPr sz="1000" b="1" i="0" u="none" strike="noStrike" kern="1200" baseline="0">
                    <a:solidFill>
                      <a:schemeClr val="bg1"/>
                    </a:solidFill>
                    <a:latin typeface="Arial Narrow"/>
                    <a:ea typeface="Arial Narrow"/>
                    <a:cs typeface="Arial Narrow"/>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'2025 BO model'!$B$13:$I$13</c:f>
              <c:strCache>
                <c:ptCount val="8"/>
                <c:pt idx="0">
                  <c:v>2017</c:v>
                </c:pt>
                <c:pt idx="1">
                  <c:v>2018</c:v>
                </c:pt>
                <c:pt idx="2">
                  <c:v>2019</c:v>
                </c:pt>
                <c:pt idx="3">
                  <c:v>2022</c:v>
                </c:pt>
                <c:pt idx="4">
                  <c:v>2023</c:v>
                </c:pt>
                <c:pt idx="5">
                  <c:v>2024E</c:v>
                </c:pt>
                <c:pt idx="6">
                  <c:v>2025E</c:v>
                </c:pt>
                <c:pt idx="7">
                  <c:v>2026E</c:v>
                </c:pt>
              </c:strCache>
            </c:strRef>
          </c:cat>
          <c:val>
            <c:numRef>
              <c:f>'2025 BO model'!$B$18:$I$18</c:f>
              <c:numCache>
                <c:formatCode>"$"#,##0_);[Red]\("$"#,##0\)</c:formatCode>
                <c:ptCount val="8"/>
                <c:pt idx="0">
                  <c:v>11071</c:v>
                </c:pt>
                <c:pt idx="1">
                  <c:v>11893</c:v>
                </c:pt>
                <c:pt idx="2">
                  <c:v>11363</c:v>
                </c:pt>
                <c:pt idx="3">
                  <c:v>7367</c:v>
                </c:pt>
                <c:pt idx="4">
                  <c:v>8905</c:v>
                </c:pt>
                <c:pt idx="5">
                  <c:v>8751.8582659162439</c:v>
                </c:pt>
                <c:pt idx="6">
                  <c:v>9435</c:v>
                </c:pt>
                <c:pt idx="7">
                  <c:v>9747</c:v>
                </c:pt>
              </c:numCache>
            </c:numRef>
          </c:val>
          <c:extLst>
            <c:ext xmlns:c16="http://schemas.microsoft.com/office/drawing/2014/chart" uri="{C3380CC4-5D6E-409C-BE32-E72D297353CC}">
              <c16:uniqueId val="{00000006-33CB-4E44-A16F-2147E45F7C17}"/>
            </c:ext>
          </c:extLst>
        </c:ser>
        <c:dLbls>
          <c:showLegendKey val="0"/>
          <c:showVal val="0"/>
          <c:showCatName val="0"/>
          <c:showSerName val="0"/>
          <c:showPercent val="0"/>
          <c:showBubbleSize val="0"/>
        </c:dLbls>
        <c:gapWidth val="219"/>
        <c:overlap val="-27"/>
        <c:axId val="210423367"/>
        <c:axId val="210414007"/>
      </c:barChart>
      <c:catAx>
        <c:axId val="210423367"/>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rgbClr val="000000"/>
                </a:solidFill>
                <a:latin typeface="Arial Narrow"/>
                <a:ea typeface="Arial Narrow"/>
                <a:cs typeface="Arial Narrow"/>
              </a:defRPr>
            </a:pPr>
            <a:endParaRPr lang="en-US"/>
          </a:p>
        </c:txPr>
        <c:crossAx val="210414007"/>
        <c:crosses val="autoZero"/>
        <c:auto val="1"/>
        <c:lblAlgn val="ctr"/>
        <c:lblOffset val="100"/>
        <c:noMultiLvlLbl val="0"/>
      </c:catAx>
      <c:valAx>
        <c:axId val="210414007"/>
        <c:scaling>
          <c:orientation val="minMax"/>
        </c:scaling>
        <c:delete val="0"/>
        <c:axPos val="l"/>
        <c:majorGridlines>
          <c:spPr>
            <a:ln w="9525" cap="flat" cmpd="sng" algn="ctr">
              <a:solidFill>
                <a:schemeClr val="tx1">
                  <a:lumMod val="15000"/>
                  <a:lumOff val="85000"/>
                </a:schemeClr>
              </a:solidFill>
              <a:round/>
            </a:ln>
            <a:effectLst/>
          </c:spPr>
        </c:majorGridlines>
        <c:numFmt formatCode="&quot;$&quot;#,##0_);[Red]\(&quot;$&quot;#,##0\)" sourceLinked="1"/>
        <c:majorTickMark val="out"/>
        <c:minorTickMark val="none"/>
        <c:tickLblPos val="low"/>
        <c:spPr>
          <a:noFill/>
          <a:ln>
            <a:noFill/>
          </a:ln>
          <a:effectLst/>
        </c:spPr>
        <c:txPr>
          <a:bodyPr rot="-60000000" spcFirstLastPara="1" vertOverflow="ellipsis" vert="horz" wrap="square" anchor="ctr" anchorCtr="1"/>
          <a:lstStyle/>
          <a:p>
            <a:pPr>
              <a:defRPr sz="800" b="0" i="0" u="none" strike="noStrike" kern="1200" baseline="0">
                <a:solidFill>
                  <a:srgbClr val="000000"/>
                </a:solidFill>
                <a:latin typeface="Arial Narrow"/>
                <a:ea typeface="Arial Narrow"/>
                <a:cs typeface="Arial Narrow"/>
              </a:defRPr>
            </a:pPr>
            <a:endParaRPr lang="en-US"/>
          </a:p>
        </c:txPr>
        <c:crossAx val="210423367"/>
        <c:crosses val="autoZero"/>
        <c:crossBetween val="between"/>
      </c:valAx>
      <c:spPr>
        <a:noFill/>
        <a:ln w="25400">
          <a:noFill/>
        </a:ln>
        <a:effectLst/>
      </c:spPr>
    </c:plotArea>
    <c:plotVisOnly val="1"/>
    <c:dispBlanksAs val="gap"/>
    <c:showDLblsOverMax val="0"/>
  </c:chart>
  <c:spPr>
    <a:solidFill>
      <a:schemeClr val="bg1"/>
    </a:solidFill>
    <a:ln w="25400" cap="flat" cmpd="sng" algn="ctr">
      <a:noFill/>
      <a:round/>
    </a:ln>
    <a:effectLst/>
  </c:spPr>
  <c:txPr>
    <a:bodyPr/>
    <a:lstStyle/>
    <a:p>
      <a:pPr>
        <a:defRPr sz="800" b="0" i="0" u="none" strike="noStrike" baseline="0">
          <a:solidFill>
            <a:srgbClr val="000000"/>
          </a:solidFill>
          <a:latin typeface="Arial Narrow"/>
          <a:ea typeface="Arial Narrow"/>
          <a:cs typeface="Arial Narrow"/>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098800" cy="471488"/>
          </a:xfrm>
          <a:prstGeom prst="rect">
            <a:avLst/>
          </a:prstGeom>
          <a:noFill/>
          <a:ln w="6350">
            <a:noFill/>
            <a:miter lim="800000"/>
            <a:headEnd/>
            <a:tailEnd/>
          </a:ln>
          <a:effectLst/>
        </p:spPr>
        <p:txBody>
          <a:bodyPr vert="horz" wrap="square" lIns="47390" tIns="47390" rIns="47390" bIns="47390" numCol="1" anchor="t" anchorCtr="0" compatLnSpc="1">
            <a:prstTxWarp prst="textNoShape">
              <a:avLst/>
            </a:prstTxWarp>
          </a:bodyPr>
          <a:lstStyle>
            <a:lvl1pPr algn="l" defTabSz="947738">
              <a:spcBef>
                <a:spcPct val="0"/>
              </a:spcBef>
              <a:defRPr sz="1200">
                <a:latin typeface="Trebuchet MS" pitchFamily="34" charset="0"/>
                <a:ea typeface="+mn-ea"/>
              </a:defRPr>
            </a:lvl1pPr>
          </a:lstStyle>
          <a:p>
            <a:pPr>
              <a:defRPr/>
            </a:pPr>
            <a:endParaRPr lang="en-US"/>
          </a:p>
        </p:txBody>
      </p:sp>
      <p:sp>
        <p:nvSpPr>
          <p:cNvPr id="11267" name="Rectangle 3"/>
          <p:cNvSpPr>
            <a:spLocks noGrp="1" noChangeArrowheads="1"/>
          </p:cNvSpPr>
          <p:nvPr>
            <p:ph type="dt" sz="quarter" idx="1"/>
          </p:nvPr>
        </p:nvSpPr>
        <p:spPr bwMode="auto">
          <a:xfrm>
            <a:off x="4051300" y="0"/>
            <a:ext cx="3098800" cy="471488"/>
          </a:xfrm>
          <a:prstGeom prst="rect">
            <a:avLst/>
          </a:prstGeom>
          <a:noFill/>
          <a:ln w="6350">
            <a:noFill/>
            <a:miter lim="800000"/>
            <a:headEnd/>
            <a:tailEnd/>
          </a:ln>
          <a:effectLst/>
        </p:spPr>
        <p:txBody>
          <a:bodyPr vert="horz" wrap="square" lIns="47390" tIns="47390" rIns="47390" bIns="47390" numCol="1" anchor="t" anchorCtr="0" compatLnSpc="1">
            <a:prstTxWarp prst="textNoShape">
              <a:avLst/>
            </a:prstTxWarp>
          </a:bodyPr>
          <a:lstStyle>
            <a:lvl1pPr algn="r" defTabSz="947738">
              <a:spcBef>
                <a:spcPct val="0"/>
              </a:spcBef>
              <a:defRPr sz="1200">
                <a:latin typeface="Trebuchet MS" pitchFamily="34" charset="0"/>
                <a:ea typeface="+mn-ea"/>
              </a:defRPr>
            </a:lvl1pPr>
          </a:lstStyle>
          <a:p>
            <a:pPr>
              <a:defRPr/>
            </a:pPr>
            <a:endParaRPr lang="en-US"/>
          </a:p>
        </p:txBody>
      </p:sp>
      <p:sp>
        <p:nvSpPr>
          <p:cNvPr id="11268" name="Rectangle 4"/>
          <p:cNvSpPr>
            <a:spLocks noGrp="1" noChangeArrowheads="1"/>
          </p:cNvSpPr>
          <p:nvPr>
            <p:ph type="ftr" sz="quarter" idx="2"/>
          </p:nvPr>
        </p:nvSpPr>
        <p:spPr bwMode="auto">
          <a:xfrm>
            <a:off x="0" y="8964613"/>
            <a:ext cx="3098800" cy="471487"/>
          </a:xfrm>
          <a:prstGeom prst="rect">
            <a:avLst/>
          </a:prstGeom>
          <a:noFill/>
          <a:ln w="6350">
            <a:noFill/>
            <a:miter lim="800000"/>
            <a:headEnd/>
            <a:tailEnd/>
          </a:ln>
          <a:effectLst/>
        </p:spPr>
        <p:txBody>
          <a:bodyPr vert="horz" wrap="square" lIns="47390" tIns="47390" rIns="47390" bIns="47390" numCol="1" anchor="b" anchorCtr="0" compatLnSpc="1">
            <a:prstTxWarp prst="textNoShape">
              <a:avLst/>
            </a:prstTxWarp>
          </a:bodyPr>
          <a:lstStyle>
            <a:lvl1pPr algn="l" defTabSz="947738">
              <a:spcBef>
                <a:spcPct val="0"/>
              </a:spcBef>
              <a:defRPr sz="1200">
                <a:latin typeface="Trebuchet MS" pitchFamily="34" charset="0"/>
                <a:ea typeface="+mn-ea"/>
              </a:defRPr>
            </a:lvl1pPr>
          </a:lstStyle>
          <a:p>
            <a:pPr>
              <a:defRPr/>
            </a:pPr>
            <a:endParaRPr lang="en-US"/>
          </a:p>
        </p:txBody>
      </p:sp>
      <p:sp>
        <p:nvSpPr>
          <p:cNvPr id="11269" name="Rectangle 5"/>
          <p:cNvSpPr>
            <a:spLocks noGrp="1" noChangeArrowheads="1"/>
          </p:cNvSpPr>
          <p:nvPr>
            <p:ph type="sldNum" sz="quarter" idx="3"/>
          </p:nvPr>
        </p:nvSpPr>
        <p:spPr bwMode="auto">
          <a:xfrm>
            <a:off x="4051300" y="8964613"/>
            <a:ext cx="3098800" cy="471487"/>
          </a:xfrm>
          <a:prstGeom prst="rect">
            <a:avLst/>
          </a:prstGeom>
          <a:noFill/>
          <a:ln w="6350">
            <a:noFill/>
            <a:miter lim="800000"/>
            <a:headEnd/>
            <a:tailEnd/>
          </a:ln>
          <a:effectLst/>
        </p:spPr>
        <p:txBody>
          <a:bodyPr vert="horz" wrap="square" lIns="47390" tIns="47390" rIns="47390" bIns="47390" numCol="1" anchor="b" anchorCtr="0" compatLnSpc="1">
            <a:prstTxWarp prst="textNoShape">
              <a:avLst/>
            </a:prstTxWarp>
          </a:bodyPr>
          <a:lstStyle>
            <a:lvl1pPr algn="r" defTabSz="947738">
              <a:spcBef>
                <a:spcPct val="0"/>
              </a:spcBef>
              <a:defRPr sz="1200">
                <a:latin typeface="Trebuchet MS" pitchFamily="34" charset="0"/>
                <a:ea typeface="+mn-ea"/>
              </a:defRPr>
            </a:lvl1pPr>
          </a:lstStyle>
          <a:p>
            <a:pPr>
              <a:defRPr/>
            </a:pPr>
            <a:fld id="{EB07AB0F-CA34-4B55-8A4F-92997F0A3754}" type="slidenum">
              <a:rPr lang="en-US"/>
              <a:pPr>
                <a:defRPr/>
              </a:pPr>
              <a:t>‹#›</a:t>
            </a:fld>
            <a:endParaRPr lang="en-US"/>
          </a:p>
        </p:txBody>
      </p:sp>
    </p:spTree>
    <p:extLst>
      <p:ext uri="{BB962C8B-B14F-4D97-AF65-F5344CB8AC3E}">
        <p14:creationId xmlns:p14="http://schemas.microsoft.com/office/powerpoint/2010/main" val="22270572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4"/>
          <p:cNvSpPr>
            <a:spLocks noGrp="1" noRot="1" noChangeAspect="1" noChangeArrowheads="1" noTextEdit="1"/>
          </p:cNvSpPr>
          <p:nvPr>
            <p:ph type="sldImg" idx="2"/>
          </p:nvPr>
        </p:nvSpPr>
        <p:spPr bwMode="auto">
          <a:xfrm>
            <a:off x="1285875" y="708025"/>
            <a:ext cx="4579938" cy="3538538"/>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gray">
          <a:xfrm>
            <a:off x="954088" y="4481513"/>
            <a:ext cx="5241925" cy="4246562"/>
          </a:xfrm>
          <a:prstGeom prst="rect">
            <a:avLst/>
          </a:prstGeom>
          <a:noFill/>
          <a:ln w="6350">
            <a:noFill/>
            <a:miter lim="800000"/>
            <a:headEnd/>
            <a:tailEnd/>
          </a:ln>
          <a:effectLst/>
        </p:spPr>
        <p:txBody>
          <a:bodyPr vert="horz" wrap="square" lIns="0" tIns="0" rIns="0" bIns="0" numCol="1" anchor="t" anchorCtr="0" compatLnSpc="1">
            <a:prstTxWarp prst="textNoShape">
              <a:avLst/>
            </a:prstTxWarp>
          </a:bodyPr>
          <a:lstStyle/>
          <a:p>
            <a:pPr lvl="0"/>
            <a:r>
              <a:rPr lang="en-US" noProof="0"/>
              <a:t>Click to edit Master text styles</a:t>
            </a:r>
          </a:p>
          <a:p>
            <a:pPr lvl="1"/>
            <a:r>
              <a:rPr lang="en-US" noProof="0"/>
              <a:t>Bullet one</a:t>
            </a:r>
          </a:p>
          <a:p>
            <a:pPr lvl="2"/>
            <a:r>
              <a:rPr lang="en-US" noProof="0"/>
              <a:t>bullet two</a:t>
            </a:r>
          </a:p>
          <a:p>
            <a:pPr lvl="3"/>
            <a:r>
              <a:rPr lang="en-US" noProof="0"/>
              <a:t>bullet three</a:t>
            </a:r>
          </a:p>
          <a:p>
            <a:pPr lvl="4"/>
            <a:r>
              <a:rPr lang="en-US" noProof="0"/>
              <a:t>bullet four</a:t>
            </a:r>
          </a:p>
        </p:txBody>
      </p:sp>
    </p:spTree>
    <p:extLst>
      <p:ext uri="{BB962C8B-B14F-4D97-AF65-F5344CB8AC3E}">
        <p14:creationId xmlns:p14="http://schemas.microsoft.com/office/powerpoint/2010/main" val="161299785"/>
      </p:ext>
    </p:extLst>
  </p:cSld>
  <p:clrMap bg1="lt1" tx1="dk1" bg2="lt2" tx2="dk2" accent1="accent1" accent2="accent2" accent3="accent3" accent4="accent4" accent5="accent5" accent6="accent6" hlink="hlink" folHlink="folHlink"/>
  <p:notesStyle>
    <a:lvl1pPr algn="l" defTabSz="1019175" rtl="0" eaLnBrk="0" fontAlgn="base" hangingPunct="0">
      <a:lnSpc>
        <a:spcPts val="1500"/>
      </a:lnSpc>
      <a:spcBef>
        <a:spcPts val="700"/>
      </a:spcBef>
      <a:spcAft>
        <a:spcPct val="0"/>
      </a:spcAft>
      <a:buClr>
        <a:schemeClr val="bg2"/>
      </a:buClr>
      <a:buSzPct val="92000"/>
      <a:buFont typeface="Wingdings" pitchFamily="2" charset="2"/>
      <a:defRPr sz="1100" kern="1200">
        <a:solidFill>
          <a:schemeClr val="tx1"/>
        </a:solidFill>
        <a:latin typeface="Trebuchet MS" pitchFamily="34" charset="0"/>
        <a:ea typeface="+mn-ea"/>
        <a:cs typeface="+mn-cs"/>
      </a:defRPr>
    </a:lvl1pPr>
    <a:lvl2pPr marL="161925" indent="-160338" algn="l" defTabSz="1019175" rtl="0" eaLnBrk="0" fontAlgn="base" hangingPunct="0">
      <a:lnSpc>
        <a:spcPts val="1500"/>
      </a:lnSpc>
      <a:spcBef>
        <a:spcPts val="1500"/>
      </a:spcBef>
      <a:spcAft>
        <a:spcPct val="0"/>
      </a:spcAft>
      <a:buClr>
        <a:schemeClr val="bg2"/>
      </a:buClr>
      <a:buSzPct val="92000"/>
      <a:buFont typeface="Wingdings" pitchFamily="2" charset="2"/>
      <a:buChar char="n"/>
      <a:defRPr sz="1100" kern="1200">
        <a:solidFill>
          <a:schemeClr val="tx1"/>
        </a:solidFill>
        <a:latin typeface="Trebuchet MS" pitchFamily="34" charset="0"/>
        <a:ea typeface="+mn-ea"/>
        <a:cs typeface="+mn-cs"/>
      </a:defRPr>
    </a:lvl2pPr>
    <a:lvl3pPr marL="328613" indent="-165100" algn="l" defTabSz="1019175" rtl="0" eaLnBrk="0" fontAlgn="base" hangingPunct="0">
      <a:lnSpc>
        <a:spcPts val="1500"/>
      </a:lnSpc>
      <a:spcBef>
        <a:spcPts val="700"/>
      </a:spcBef>
      <a:spcAft>
        <a:spcPct val="0"/>
      </a:spcAft>
      <a:buClr>
        <a:srgbClr val="7D7D7D"/>
      </a:buClr>
      <a:buSzPct val="92000"/>
      <a:buFont typeface="Wingdings" pitchFamily="2" charset="2"/>
      <a:buChar char="n"/>
      <a:defRPr sz="1100" kern="1200">
        <a:solidFill>
          <a:schemeClr val="tx1"/>
        </a:solidFill>
        <a:latin typeface="Trebuchet MS" pitchFamily="34" charset="0"/>
        <a:ea typeface="+mn-ea"/>
        <a:cs typeface="+mn-cs"/>
      </a:defRPr>
    </a:lvl3pPr>
    <a:lvl4pPr marL="488950" indent="-158750" algn="l" defTabSz="1019175" rtl="0" eaLnBrk="0" fontAlgn="base" hangingPunct="0">
      <a:lnSpc>
        <a:spcPts val="1500"/>
      </a:lnSpc>
      <a:spcBef>
        <a:spcPts val="500"/>
      </a:spcBef>
      <a:spcAft>
        <a:spcPct val="0"/>
      </a:spcAft>
      <a:buClr>
        <a:schemeClr val="bg2"/>
      </a:buClr>
      <a:buSzPct val="92000"/>
      <a:buChar char="—"/>
      <a:defRPr sz="1100" kern="1200">
        <a:solidFill>
          <a:schemeClr val="tx1"/>
        </a:solidFill>
        <a:latin typeface="Trebuchet MS" pitchFamily="34" charset="0"/>
        <a:ea typeface="+mn-ea"/>
        <a:cs typeface="+mn-cs"/>
      </a:defRPr>
    </a:lvl4pPr>
    <a:lvl5pPr marL="657225" indent="-166688" algn="l" defTabSz="1019175" rtl="0" eaLnBrk="0" fontAlgn="base" hangingPunct="0">
      <a:lnSpc>
        <a:spcPts val="1500"/>
      </a:lnSpc>
      <a:spcBef>
        <a:spcPts val="500"/>
      </a:spcBef>
      <a:spcAft>
        <a:spcPct val="0"/>
      </a:spcAft>
      <a:buClr>
        <a:srgbClr val="7D7D7D"/>
      </a:buClr>
      <a:buSzPct val="92000"/>
      <a:buChar char="—"/>
      <a:defRPr sz="1100" kern="1200">
        <a:solidFill>
          <a:schemeClr val="tx1"/>
        </a:solidFill>
        <a:latin typeface="Trebuchet MS"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ln/>
        </p:spPr>
      </p:sp>
      <p:sp>
        <p:nvSpPr>
          <p:cNvPr id="13315" name="Rectangle 3"/>
          <p:cNvSpPr>
            <a:spLocks noGrp="1" noChangeArrowheads="1"/>
          </p:cNvSpPr>
          <p:nvPr>
            <p:ph type="body" idx="1"/>
          </p:nvPr>
        </p:nvSpPr>
        <p:spPr>
          <a:noFill/>
          <a:ln w="9525"/>
        </p:spPr>
        <p:txBody>
          <a:bodyPr/>
          <a:lstStyle/>
          <a:p>
            <a:pPr eaLnBrk="1" hangingPunct="1"/>
            <a:endParaRPr lang="en-US" dirty="0"/>
          </a:p>
        </p:txBody>
      </p:sp>
    </p:spTree>
    <p:extLst>
      <p:ext uri="{BB962C8B-B14F-4D97-AF65-F5344CB8AC3E}">
        <p14:creationId xmlns:p14="http://schemas.microsoft.com/office/powerpoint/2010/main" val="4174378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a:noFill/>
          <a:ln w="9525"/>
        </p:spPr>
        <p:txBody>
          <a:bodyPr/>
          <a:lstStyle/>
          <a:p>
            <a:pPr eaLnBrk="1" hangingPunct="1"/>
            <a:endParaRPr lang="en-US"/>
          </a:p>
        </p:txBody>
      </p:sp>
    </p:spTree>
    <p:extLst>
      <p:ext uri="{BB962C8B-B14F-4D97-AF65-F5344CB8AC3E}">
        <p14:creationId xmlns:p14="http://schemas.microsoft.com/office/powerpoint/2010/main" val="4099033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ChangeArrowheads="1" noTextEdit="1"/>
          </p:cNvSpPr>
          <p:nvPr>
            <p:ph type="sldImg"/>
          </p:nvPr>
        </p:nvSpPr>
        <p:spPr>
          <a:ln/>
        </p:spPr>
      </p:sp>
      <p:sp>
        <p:nvSpPr>
          <p:cNvPr id="15363" name="Rectangle 3"/>
          <p:cNvSpPr>
            <a:spLocks noGrp="1" noChangeArrowheads="1"/>
          </p:cNvSpPr>
          <p:nvPr>
            <p:ph type="body" idx="1"/>
          </p:nvPr>
        </p:nvSpPr>
        <p:spPr>
          <a:noFill/>
          <a:ln w="9525"/>
        </p:spPr>
        <p:txBody>
          <a:bodyPr/>
          <a:lstStyle/>
          <a:p>
            <a:pPr eaLnBrk="1" hangingPunct="1"/>
            <a:endParaRPr lang="en-US" dirty="0"/>
          </a:p>
        </p:txBody>
      </p:sp>
    </p:spTree>
    <p:extLst>
      <p:ext uri="{BB962C8B-B14F-4D97-AF65-F5344CB8AC3E}">
        <p14:creationId xmlns:p14="http://schemas.microsoft.com/office/powerpoint/2010/main" val="3984779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ChangeArrowheads="1" noTextEdit="1"/>
          </p:cNvSpPr>
          <p:nvPr>
            <p:ph type="sldImg"/>
          </p:nvPr>
        </p:nvSpPr>
        <p:spPr>
          <a:ln/>
        </p:spPr>
      </p:sp>
      <p:sp>
        <p:nvSpPr>
          <p:cNvPr id="15363" name="Rectangle 3"/>
          <p:cNvSpPr>
            <a:spLocks noGrp="1" noChangeArrowheads="1"/>
          </p:cNvSpPr>
          <p:nvPr>
            <p:ph type="body" idx="1"/>
          </p:nvPr>
        </p:nvSpPr>
        <p:spPr>
          <a:noFill/>
          <a:ln w="9525"/>
        </p:spPr>
        <p:txBody>
          <a:bodyPr/>
          <a:lstStyle/>
          <a:p>
            <a:pPr eaLnBrk="1" hangingPunct="1"/>
            <a:endParaRPr lang="en-US" dirty="0"/>
          </a:p>
        </p:txBody>
      </p:sp>
    </p:spTree>
    <p:extLst>
      <p:ext uri="{BB962C8B-B14F-4D97-AF65-F5344CB8AC3E}">
        <p14:creationId xmlns:p14="http://schemas.microsoft.com/office/powerpoint/2010/main" val="108698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44020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36523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86325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66919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kern="0" dirty="0">
              <a:solidFill>
                <a:schemeClr val="tx1"/>
              </a:solidFill>
            </a:endParaRPr>
          </a:p>
          <a:p>
            <a:endParaRPr lang="en-US" dirty="0"/>
          </a:p>
        </p:txBody>
      </p:sp>
    </p:spTree>
    <p:extLst>
      <p:ext uri="{BB962C8B-B14F-4D97-AF65-F5344CB8AC3E}">
        <p14:creationId xmlns:p14="http://schemas.microsoft.com/office/powerpoint/2010/main" val="16676106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00595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83690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MAGNA: US 1H23 ex-cyclical was +2.9%; Q3 was +7%</a:t>
            </a:r>
          </a:p>
        </p:txBody>
      </p:sp>
    </p:spTree>
    <p:extLst>
      <p:ext uri="{BB962C8B-B14F-4D97-AF65-F5344CB8AC3E}">
        <p14:creationId xmlns:p14="http://schemas.microsoft.com/office/powerpoint/2010/main" val="1725789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IPG missed in 2017. Performance in 2018 5.5% organic was well ahead of initial 2-3%. </a:t>
            </a:r>
          </a:p>
        </p:txBody>
      </p:sp>
    </p:spTree>
    <p:extLst>
      <p:ext uri="{BB962C8B-B14F-4D97-AF65-F5344CB8AC3E}">
        <p14:creationId xmlns:p14="http://schemas.microsoft.com/office/powerpoint/2010/main" val="2091146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IPG missed in 2017. Performance in 2018 5.5% organic was well ahead of initial 2-3%. </a:t>
            </a:r>
          </a:p>
        </p:txBody>
      </p:sp>
    </p:spTree>
    <p:extLst>
      <p:ext uri="{BB962C8B-B14F-4D97-AF65-F5344CB8AC3E}">
        <p14:creationId xmlns:p14="http://schemas.microsoft.com/office/powerpoint/2010/main" val="3012894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Taylor swift was a comp issue for LYV in 2023; not 2024. Olivia Rodrigo tour sold in Q3’23. </a:t>
            </a:r>
          </a:p>
        </p:txBody>
      </p:sp>
    </p:spTree>
    <p:extLst>
      <p:ext uri="{BB962C8B-B14F-4D97-AF65-F5344CB8AC3E}">
        <p14:creationId xmlns:p14="http://schemas.microsoft.com/office/powerpoint/2010/main" val="8288407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221549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93311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648552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665465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825607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682363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213732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0498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a:r>
              <a:rPr lang="en-US" kern="0" dirty="0"/>
              <a:t>OOH continues to gain share, increasing digital/programmatic inventory is driving growth, benefitting from ‘</a:t>
            </a:r>
            <a:r>
              <a:rPr lang="en-US" kern="0" dirty="0" err="1"/>
              <a:t>unskippable</a:t>
            </a:r>
            <a:r>
              <a:rPr lang="en-US" kern="0" dirty="0"/>
              <a:t>’ nature. Cheap on </a:t>
            </a:r>
            <a:r>
              <a:rPr lang="en-US" kern="0" dirty="0" err="1"/>
              <a:t>cpm</a:t>
            </a:r>
            <a:r>
              <a:rPr lang="en-US" kern="0" dirty="0"/>
              <a:t> basis</a:t>
            </a:r>
          </a:p>
        </p:txBody>
      </p:sp>
    </p:spTree>
    <p:extLst>
      <p:ext uri="{BB962C8B-B14F-4D97-AF65-F5344CB8AC3E}">
        <p14:creationId xmlns:p14="http://schemas.microsoft.com/office/powerpoint/2010/main" val="23889487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7518051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18" Type="http://schemas.openxmlformats.org/officeDocument/2006/relationships/image" Target="../media/image5.emf"/><Relationship Id="rId3" Type="http://schemas.openxmlformats.org/officeDocument/2006/relationships/tags" Target="../tags/tag9.xml"/><Relationship Id="rId21" Type="http://schemas.openxmlformats.org/officeDocument/2006/relationships/image" Target="../media/image8.emf"/><Relationship Id="rId7" Type="http://schemas.openxmlformats.org/officeDocument/2006/relationships/tags" Target="../tags/tag13.xml"/><Relationship Id="rId12" Type="http://schemas.openxmlformats.org/officeDocument/2006/relationships/tags" Target="../tags/tag18.xml"/><Relationship Id="rId17" Type="http://schemas.openxmlformats.org/officeDocument/2006/relationships/image" Target="../media/image4.emf"/><Relationship Id="rId2" Type="http://schemas.openxmlformats.org/officeDocument/2006/relationships/tags" Target="../tags/tag8.xml"/><Relationship Id="rId16" Type="http://schemas.openxmlformats.org/officeDocument/2006/relationships/image" Target="../media/image3.emf"/><Relationship Id="rId20" Type="http://schemas.openxmlformats.org/officeDocument/2006/relationships/image" Target="../media/image7.emf"/><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24" Type="http://schemas.openxmlformats.org/officeDocument/2006/relationships/image" Target="../media/image10.emf"/><Relationship Id="rId5" Type="http://schemas.openxmlformats.org/officeDocument/2006/relationships/tags" Target="../tags/tag11.xml"/><Relationship Id="rId15" Type="http://schemas.openxmlformats.org/officeDocument/2006/relationships/slideMaster" Target="../slideMasters/slideMaster1.xml"/><Relationship Id="rId23" Type="http://schemas.openxmlformats.org/officeDocument/2006/relationships/image" Target="../media/image2.emf"/><Relationship Id="rId10" Type="http://schemas.openxmlformats.org/officeDocument/2006/relationships/tags" Target="../tags/tag16.xml"/><Relationship Id="rId19" Type="http://schemas.openxmlformats.org/officeDocument/2006/relationships/image" Target="../media/image6.emf"/><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tags" Target="../tags/tag20.xml"/><Relationship Id="rId22" Type="http://schemas.openxmlformats.org/officeDocument/2006/relationships/image" Target="../media/image9.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image" Target="../media/image5.emf"/><Relationship Id="rId3" Type="http://schemas.openxmlformats.org/officeDocument/2006/relationships/tags" Target="../tags/tag27.xml"/><Relationship Id="rId21" Type="http://schemas.openxmlformats.org/officeDocument/2006/relationships/image" Target="../media/image8.emf"/><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image" Target="../media/image4.emf"/><Relationship Id="rId2" Type="http://schemas.openxmlformats.org/officeDocument/2006/relationships/tags" Target="../tags/tag26.xml"/><Relationship Id="rId16" Type="http://schemas.openxmlformats.org/officeDocument/2006/relationships/image" Target="../media/image3.emf"/><Relationship Id="rId20" Type="http://schemas.openxmlformats.org/officeDocument/2006/relationships/image" Target="../media/image7.emf"/><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24" Type="http://schemas.openxmlformats.org/officeDocument/2006/relationships/image" Target="../media/image10.emf"/><Relationship Id="rId5" Type="http://schemas.openxmlformats.org/officeDocument/2006/relationships/tags" Target="../tags/tag29.xml"/><Relationship Id="rId15" Type="http://schemas.openxmlformats.org/officeDocument/2006/relationships/slideMaster" Target="../slideMasters/slideMaster2.xml"/><Relationship Id="rId23" Type="http://schemas.openxmlformats.org/officeDocument/2006/relationships/image" Target="../media/image2.emf"/><Relationship Id="rId10" Type="http://schemas.openxmlformats.org/officeDocument/2006/relationships/tags" Target="../tags/tag34.xml"/><Relationship Id="rId19" Type="http://schemas.openxmlformats.org/officeDocument/2006/relationships/image" Target="../media/image6.emf"/><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 Id="rId22" Type="http://schemas.openxmlformats.org/officeDocument/2006/relationships/image" Target="../media/image9.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40" hidden="1"/>
          <p:cNvPicPr>
            <a:picLocks noChangeAspect="1" noChangeArrowheads="1"/>
          </p:cNvPicPr>
          <p:nvPr>
            <p:custDataLst>
              <p:tags r:id="rId1"/>
            </p:custDataLst>
          </p:nvPr>
        </p:nvPicPr>
        <p:blipFill>
          <a:blip r:embed="rId16" cstate="print"/>
          <a:srcRect/>
          <a:stretch>
            <a:fillRect/>
          </a:stretch>
        </p:blipFill>
        <p:spPr bwMode="blackGray">
          <a:xfrm>
            <a:off x="-3795713" y="4497388"/>
            <a:ext cx="1238250" cy="263525"/>
          </a:xfrm>
          <a:prstGeom prst="rect">
            <a:avLst/>
          </a:prstGeom>
          <a:noFill/>
          <a:ln w="9525">
            <a:noFill/>
            <a:miter lim="800000"/>
            <a:headEnd/>
            <a:tailEnd/>
          </a:ln>
        </p:spPr>
      </p:pic>
      <p:pic>
        <p:nvPicPr>
          <p:cNvPr id="5" name="Picture 341" hidden="1"/>
          <p:cNvPicPr>
            <a:picLocks noChangeAspect="1" noChangeArrowheads="1"/>
          </p:cNvPicPr>
          <p:nvPr>
            <p:custDataLst>
              <p:tags r:id="rId2"/>
            </p:custDataLst>
          </p:nvPr>
        </p:nvPicPr>
        <p:blipFill>
          <a:blip r:embed="rId17" cstate="print"/>
          <a:srcRect/>
          <a:stretch>
            <a:fillRect/>
          </a:stretch>
        </p:blipFill>
        <p:spPr bwMode="blackGray">
          <a:xfrm>
            <a:off x="-3805238" y="4776788"/>
            <a:ext cx="1243013" cy="404812"/>
          </a:xfrm>
          <a:prstGeom prst="rect">
            <a:avLst/>
          </a:prstGeom>
          <a:noFill/>
          <a:ln w="9525">
            <a:noFill/>
            <a:miter lim="800000"/>
            <a:headEnd/>
            <a:tailEnd/>
          </a:ln>
        </p:spPr>
      </p:pic>
      <p:pic>
        <p:nvPicPr>
          <p:cNvPr id="6" name="Picture 342" hidden="1"/>
          <p:cNvPicPr>
            <a:picLocks noChangeAspect="1" noChangeArrowheads="1"/>
          </p:cNvPicPr>
          <p:nvPr>
            <p:custDataLst>
              <p:tags r:id="rId3"/>
            </p:custDataLst>
          </p:nvPr>
        </p:nvPicPr>
        <p:blipFill>
          <a:blip r:embed="rId18" cstate="print"/>
          <a:srcRect/>
          <a:stretch>
            <a:fillRect/>
          </a:stretch>
        </p:blipFill>
        <p:spPr bwMode="blackGray">
          <a:xfrm>
            <a:off x="-3802063" y="5181600"/>
            <a:ext cx="1239838" cy="600075"/>
          </a:xfrm>
          <a:prstGeom prst="rect">
            <a:avLst/>
          </a:prstGeom>
          <a:noFill/>
          <a:ln w="9525">
            <a:noFill/>
            <a:miter lim="800000"/>
            <a:headEnd/>
            <a:tailEnd/>
          </a:ln>
        </p:spPr>
      </p:pic>
      <p:pic>
        <p:nvPicPr>
          <p:cNvPr id="7" name="Picture 343" hidden="1"/>
          <p:cNvPicPr>
            <a:picLocks noChangeAspect="1" noChangeArrowheads="1"/>
          </p:cNvPicPr>
          <p:nvPr>
            <p:custDataLst>
              <p:tags r:id="rId4"/>
            </p:custDataLst>
          </p:nvPr>
        </p:nvPicPr>
        <p:blipFill>
          <a:blip r:embed="rId19" cstate="print"/>
          <a:srcRect/>
          <a:stretch>
            <a:fillRect/>
          </a:stretch>
        </p:blipFill>
        <p:spPr bwMode="blackGray">
          <a:xfrm>
            <a:off x="-3592513" y="5838825"/>
            <a:ext cx="1030288" cy="201613"/>
          </a:xfrm>
          <a:prstGeom prst="rect">
            <a:avLst/>
          </a:prstGeom>
          <a:noFill/>
          <a:ln w="9525">
            <a:noFill/>
            <a:miter lim="800000"/>
            <a:headEnd/>
            <a:tailEnd/>
          </a:ln>
        </p:spPr>
      </p:pic>
      <p:pic>
        <p:nvPicPr>
          <p:cNvPr id="8" name="Picture 344" hidden="1"/>
          <p:cNvPicPr>
            <a:picLocks noChangeAspect="1" noChangeArrowheads="1"/>
          </p:cNvPicPr>
          <p:nvPr>
            <p:custDataLst>
              <p:tags r:id="rId5"/>
            </p:custDataLst>
          </p:nvPr>
        </p:nvPicPr>
        <p:blipFill>
          <a:blip r:embed="rId20" cstate="print"/>
          <a:srcRect/>
          <a:stretch>
            <a:fillRect/>
          </a:stretch>
        </p:blipFill>
        <p:spPr bwMode="blackGray">
          <a:xfrm>
            <a:off x="-5562600" y="6219825"/>
            <a:ext cx="3000375" cy="207963"/>
          </a:xfrm>
          <a:prstGeom prst="rect">
            <a:avLst/>
          </a:prstGeom>
          <a:noFill/>
          <a:ln w="9525">
            <a:noFill/>
            <a:miter lim="800000"/>
            <a:headEnd/>
            <a:tailEnd/>
          </a:ln>
        </p:spPr>
      </p:pic>
      <p:pic>
        <p:nvPicPr>
          <p:cNvPr id="9" name="Picture 345" hidden="1"/>
          <p:cNvPicPr>
            <a:picLocks noChangeAspect="1" noChangeArrowheads="1"/>
          </p:cNvPicPr>
          <p:nvPr>
            <p:custDataLst>
              <p:tags r:id="rId6"/>
            </p:custDataLst>
          </p:nvPr>
        </p:nvPicPr>
        <p:blipFill>
          <a:blip r:embed="rId21" cstate="print"/>
          <a:srcRect/>
          <a:stretch>
            <a:fillRect/>
          </a:stretch>
        </p:blipFill>
        <p:spPr bwMode="blackGray">
          <a:xfrm>
            <a:off x="-3806825" y="6548438"/>
            <a:ext cx="1244600" cy="461962"/>
          </a:xfrm>
          <a:prstGeom prst="rect">
            <a:avLst/>
          </a:prstGeom>
          <a:noFill/>
          <a:ln w="9525">
            <a:noFill/>
            <a:miter lim="800000"/>
            <a:headEnd/>
            <a:tailEnd/>
          </a:ln>
        </p:spPr>
      </p:pic>
      <p:pic>
        <p:nvPicPr>
          <p:cNvPr id="10" name="Picture 346" hidden="1"/>
          <p:cNvPicPr>
            <a:picLocks noChangeAspect="1" noChangeArrowheads="1"/>
          </p:cNvPicPr>
          <p:nvPr>
            <p:custDataLst>
              <p:tags r:id="rId7"/>
            </p:custDataLst>
          </p:nvPr>
        </p:nvPicPr>
        <p:blipFill>
          <a:blip r:embed="rId22" cstate="print"/>
          <a:srcRect/>
          <a:stretch>
            <a:fillRect/>
          </a:stretch>
        </p:blipFill>
        <p:spPr bwMode="blackGray">
          <a:xfrm>
            <a:off x="-3975100" y="7113588"/>
            <a:ext cx="1412875" cy="477837"/>
          </a:xfrm>
          <a:prstGeom prst="rect">
            <a:avLst/>
          </a:prstGeom>
          <a:noFill/>
          <a:ln w="9525">
            <a:noFill/>
            <a:miter lim="800000"/>
            <a:headEnd/>
            <a:tailEnd/>
          </a:ln>
        </p:spPr>
      </p:pic>
      <p:pic>
        <p:nvPicPr>
          <p:cNvPr id="11" name="Picture 347"/>
          <p:cNvPicPr>
            <a:picLocks noChangeAspect="1" noChangeArrowheads="1"/>
          </p:cNvPicPr>
          <p:nvPr>
            <p:custDataLst>
              <p:tags r:id="rId8"/>
            </p:custDataLst>
          </p:nvPr>
        </p:nvPicPr>
        <p:blipFill>
          <a:blip r:embed="rId23" cstate="print"/>
          <a:srcRect/>
          <a:stretch>
            <a:fillRect/>
          </a:stretch>
        </p:blipFill>
        <p:spPr bwMode="auto">
          <a:xfrm>
            <a:off x="8437563" y="7218363"/>
            <a:ext cx="871537" cy="188912"/>
          </a:xfrm>
          <a:prstGeom prst="rect">
            <a:avLst/>
          </a:prstGeom>
          <a:noFill/>
          <a:ln w="9525">
            <a:noFill/>
            <a:miter lim="800000"/>
            <a:headEnd/>
            <a:tailEnd/>
          </a:ln>
        </p:spPr>
      </p:pic>
      <p:pic>
        <p:nvPicPr>
          <p:cNvPr id="12" name="Picture 368" hidden="1"/>
          <p:cNvPicPr>
            <a:picLocks noChangeAspect="1" noChangeArrowheads="1"/>
          </p:cNvPicPr>
          <p:nvPr>
            <p:custDataLst>
              <p:tags r:id="rId9"/>
            </p:custDataLst>
          </p:nvPr>
        </p:nvPicPr>
        <p:blipFill>
          <a:blip r:embed="rId24" cstate="print"/>
          <a:srcRect/>
          <a:stretch>
            <a:fillRect/>
          </a:stretch>
        </p:blipFill>
        <p:spPr bwMode="auto">
          <a:xfrm>
            <a:off x="-4343400" y="4081463"/>
            <a:ext cx="1785937" cy="249237"/>
          </a:xfrm>
          <a:prstGeom prst="rect">
            <a:avLst/>
          </a:prstGeom>
          <a:noFill/>
          <a:ln w="9525">
            <a:noFill/>
            <a:miter lim="800000"/>
            <a:headEnd/>
            <a:tailEnd/>
          </a:ln>
        </p:spPr>
      </p:pic>
      <p:sp>
        <p:nvSpPr>
          <p:cNvPr id="13" name="Text Box 391"/>
          <p:cNvSpPr txBox="1">
            <a:spLocks noChangeArrowheads="1"/>
          </p:cNvSpPr>
          <p:nvPr>
            <p:custDataLst>
              <p:tags r:id="rId10"/>
            </p:custDataLst>
          </p:nvPr>
        </p:nvSpPr>
        <p:spPr bwMode="auto">
          <a:xfrm>
            <a:off x="758825" y="530225"/>
            <a:ext cx="8229600" cy="612775"/>
          </a:xfrm>
          <a:prstGeom prst="rect">
            <a:avLst/>
          </a:prstGeom>
          <a:noFill/>
          <a:ln w="9525">
            <a:noFill/>
            <a:miter lim="800000"/>
            <a:headEnd/>
            <a:tailEnd/>
          </a:ln>
          <a:effectLst/>
        </p:spPr>
        <p:txBody>
          <a:bodyPr lIns="0" tIns="0" rIns="0" bIns="0" anchor="b"/>
          <a:lstStyle/>
          <a:p>
            <a:pPr algn="l">
              <a:lnSpc>
                <a:spcPts val="2800"/>
              </a:lnSpc>
              <a:spcBef>
                <a:spcPct val="0"/>
              </a:spcBef>
              <a:defRPr/>
            </a:pPr>
            <a:r>
              <a:rPr lang="en-US" sz="2200">
                <a:solidFill>
                  <a:schemeClr val="tx2"/>
                </a:solidFill>
                <a:ea typeface="LF_Kai"/>
              </a:rPr>
              <a:t>Agenda</a:t>
            </a:r>
          </a:p>
        </p:txBody>
      </p:sp>
      <p:sp>
        <p:nvSpPr>
          <p:cNvPr id="14" name="Text Box 392"/>
          <p:cNvSpPr txBox="1">
            <a:spLocks noChangeArrowheads="1"/>
          </p:cNvSpPr>
          <p:nvPr>
            <p:custDataLst>
              <p:tags r:id="rId11"/>
            </p:custDataLst>
          </p:nvPr>
        </p:nvSpPr>
        <p:spPr bwMode="auto">
          <a:xfrm>
            <a:off x="7626350" y="1554163"/>
            <a:ext cx="420688" cy="155575"/>
          </a:xfrm>
          <a:prstGeom prst="rect">
            <a:avLst/>
          </a:prstGeom>
          <a:noFill/>
          <a:ln w="9525">
            <a:noFill/>
            <a:miter lim="800000"/>
            <a:headEnd/>
            <a:tailEnd/>
          </a:ln>
          <a:effectLst/>
        </p:spPr>
        <p:txBody>
          <a:bodyPr wrap="none" lIns="0" tIns="0" rIns="0" bIns="0" anchor="ctr"/>
          <a:lstStyle/>
          <a:p>
            <a:pPr algn="r">
              <a:spcBef>
                <a:spcPct val="0"/>
              </a:spcBef>
              <a:defRPr/>
            </a:pPr>
            <a:r>
              <a:rPr lang="en-US">
                <a:ea typeface="LF_Kai"/>
              </a:rPr>
              <a:t>Page</a:t>
            </a:r>
          </a:p>
        </p:txBody>
      </p:sp>
      <p:sp>
        <p:nvSpPr>
          <p:cNvPr id="15" name="Text Box 393"/>
          <p:cNvSpPr txBox="1">
            <a:spLocks noChangeArrowheads="1"/>
          </p:cNvSpPr>
          <p:nvPr>
            <p:custDataLst>
              <p:tags r:id="rId12"/>
            </p:custDataLst>
          </p:nvPr>
        </p:nvSpPr>
        <p:spPr bwMode="auto">
          <a:xfrm>
            <a:off x="914400" y="7288213"/>
            <a:ext cx="1828800" cy="119062"/>
          </a:xfrm>
          <a:prstGeom prst="rect">
            <a:avLst/>
          </a:prstGeom>
          <a:noFill/>
          <a:ln w="9525">
            <a:noFill/>
            <a:miter lim="800000"/>
            <a:headEnd/>
            <a:tailEnd/>
          </a:ln>
          <a:effectLst/>
        </p:spPr>
        <p:txBody>
          <a:bodyPr wrap="none" lIns="0" tIns="0" rIns="0" bIns="0" anchor="b"/>
          <a:lstStyle/>
          <a:p>
            <a:pPr algn="l">
              <a:lnSpc>
                <a:spcPts val="900"/>
              </a:lnSpc>
              <a:spcBef>
                <a:spcPct val="0"/>
              </a:spcBef>
              <a:defRPr/>
            </a:pPr>
            <a:endParaRPr lang="en-US">
              <a:ea typeface="+mn-ea"/>
            </a:endParaRPr>
          </a:p>
        </p:txBody>
      </p:sp>
      <p:sp>
        <p:nvSpPr>
          <p:cNvPr id="16" name="Line 395"/>
          <p:cNvSpPr>
            <a:spLocks noChangeShapeType="1"/>
          </p:cNvSpPr>
          <p:nvPr>
            <p:custDataLst>
              <p:tags r:id="rId13"/>
            </p:custDataLst>
          </p:nvPr>
        </p:nvSpPr>
        <p:spPr bwMode="gray">
          <a:xfrm>
            <a:off x="768350" y="1316038"/>
            <a:ext cx="0" cy="6089650"/>
          </a:xfrm>
          <a:prstGeom prst="line">
            <a:avLst/>
          </a:prstGeom>
          <a:noFill/>
          <a:ln w="4445">
            <a:solidFill>
              <a:srgbClr val="6D6E71"/>
            </a:solidFill>
            <a:round/>
            <a:headEnd/>
            <a:tailEnd/>
          </a:ln>
          <a:effectLst/>
        </p:spPr>
        <p:txBody>
          <a:bodyPr wrap="none" lIns="45720" rIns="45720" anchor="ctr"/>
          <a:lstStyle/>
          <a:p>
            <a:pPr>
              <a:defRPr/>
            </a:pPr>
            <a:endParaRPr lang="en-US">
              <a:ea typeface="+mn-ea"/>
            </a:endParaRPr>
          </a:p>
        </p:txBody>
      </p:sp>
      <p:sp>
        <p:nvSpPr>
          <p:cNvPr id="17" name="Text Box 396"/>
          <p:cNvSpPr txBox="1">
            <a:spLocks noChangeArrowheads="1"/>
          </p:cNvSpPr>
          <p:nvPr>
            <p:custDataLst>
              <p:tags r:id="rId14"/>
            </p:custDataLst>
          </p:nvPr>
        </p:nvSpPr>
        <p:spPr bwMode="gray">
          <a:xfrm>
            <a:off x="5175250" y="7251700"/>
            <a:ext cx="155575" cy="155575"/>
          </a:xfrm>
          <a:prstGeom prst="rect">
            <a:avLst/>
          </a:prstGeom>
          <a:noFill/>
          <a:ln w="9525">
            <a:noFill/>
            <a:miter lim="800000"/>
            <a:headEnd/>
            <a:tailEnd/>
          </a:ln>
          <a:effectLst/>
        </p:spPr>
        <p:txBody>
          <a:bodyPr wrap="none" lIns="0" tIns="0" rIns="0" bIns="0" anchor="ctr"/>
          <a:lstStyle/>
          <a:p>
            <a:pPr>
              <a:spcBef>
                <a:spcPct val="0"/>
              </a:spcBef>
              <a:defRPr/>
            </a:pPr>
            <a:fld id="{B47C4C6E-5EDB-40B4-A699-9FC7B62010FD}" type="slidenum">
              <a:rPr lang="en-US" sz="1000" b="1">
                <a:solidFill>
                  <a:srgbClr val="6D6E71"/>
                </a:solidFill>
                <a:ea typeface="LF_Kai"/>
              </a:rPr>
              <a:pPr>
                <a:spcBef>
                  <a:spcPct val="0"/>
                </a:spcBef>
                <a:defRPr/>
              </a:pPr>
              <a:t>‹#›</a:t>
            </a:fld>
            <a:endParaRPr lang="en-US" sz="1000" b="1">
              <a:solidFill>
                <a:srgbClr val="6D6E71"/>
              </a:solidFill>
              <a:ea typeface="LF_Kai"/>
            </a:endParaRPr>
          </a:p>
        </p:txBody>
      </p:sp>
      <p:sp>
        <p:nvSpPr>
          <p:cNvPr id="22534" name="Rectangle 6"/>
          <p:cNvSpPr>
            <a:spLocks noGrp="1" noChangeArrowheads="1"/>
          </p:cNvSpPr>
          <p:nvPr>
            <p:ph type="ctrTitle"/>
          </p:nvPr>
        </p:nvSpPr>
        <p:spPr bwMode="gray">
          <a:xfrm>
            <a:off x="2586038" y="1827213"/>
            <a:ext cx="5110162" cy="228600"/>
          </a:xfrm>
          <a:solidFill>
            <a:schemeClr val="bg2"/>
          </a:solidFill>
        </p:spPr>
        <p:txBody>
          <a:bodyPr lIns="228574" rIns="2057160" anchor="ctr"/>
          <a:lstStyle>
            <a:lvl1pPr marL="9525" defTabSz="1135063">
              <a:lnSpc>
                <a:spcPts val="1500"/>
              </a:lnSpc>
              <a:defRPr sz="1500" b="1">
                <a:solidFill>
                  <a:schemeClr val="bg1"/>
                </a:solidFill>
              </a:defRPr>
            </a:lvl1pPr>
          </a:lstStyle>
          <a:p>
            <a:r>
              <a:rPr lang="en-US"/>
              <a:t>Click to edit Master title style</a:t>
            </a:r>
          </a:p>
        </p:txBody>
      </p:sp>
      <p:sp>
        <p:nvSpPr>
          <p:cNvPr id="22535" name="Rectangle 7"/>
          <p:cNvSpPr>
            <a:spLocks noGrp="1" noChangeArrowheads="1"/>
          </p:cNvSpPr>
          <p:nvPr>
            <p:ph type="subTitle" idx="1"/>
          </p:nvPr>
        </p:nvSpPr>
        <p:spPr>
          <a:xfrm>
            <a:off x="2586038" y="2101850"/>
            <a:ext cx="5110162" cy="244475"/>
          </a:xfrm>
        </p:spPr>
        <p:txBody>
          <a:bodyPr lIns="228574" tIns="0" rIns="91429" bIns="0">
            <a:spAutoFit/>
          </a:bodyPr>
          <a:lstStyle>
            <a:lvl1pPr>
              <a:lnSpc>
                <a:spcPct val="115000"/>
              </a:lnSpc>
              <a:spcBef>
                <a:spcPct val="0"/>
              </a:spcBef>
              <a:buClrTx/>
              <a:buSzTx/>
              <a:buFontTx/>
              <a:buNone/>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5338" y="4994275"/>
            <a:ext cx="8548687" cy="1544638"/>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5338" y="3294063"/>
            <a:ext cx="8548687" cy="170021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4438" y="1524000"/>
            <a:ext cx="3963987"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30825" y="1524000"/>
            <a:ext cx="3963988"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3238" y="311150"/>
            <a:ext cx="9051925" cy="1295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3238" y="1739900"/>
            <a:ext cx="4443412" cy="7254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3238" y="2465388"/>
            <a:ext cx="4443412" cy="44783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10163" y="1739900"/>
            <a:ext cx="4445000" cy="7254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0163" y="2465388"/>
            <a:ext cx="4445000" cy="44783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238" y="309563"/>
            <a:ext cx="3308350" cy="1317625"/>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932238" y="309563"/>
            <a:ext cx="5622925" cy="66341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3238" y="1627188"/>
            <a:ext cx="3308350" cy="531653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1675" y="5440363"/>
            <a:ext cx="6035675" cy="642937"/>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971675" y="693738"/>
            <a:ext cx="6035675" cy="4664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71675" y="6083300"/>
            <a:ext cx="6035675" cy="9112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61213" y="528638"/>
            <a:ext cx="2133600" cy="57959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7238" y="528638"/>
            <a:ext cx="6251575" cy="5795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4" hidden="1"/>
          <p:cNvPicPr>
            <a:picLocks noChangeAspect="1" noChangeArrowheads="1"/>
          </p:cNvPicPr>
          <p:nvPr>
            <p:custDataLst>
              <p:tags r:id="rId1"/>
            </p:custDataLst>
          </p:nvPr>
        </p:nvPicPr>
        <p:blipFill>
          <a:blip r:embed="rId16" cstate="print"/>
          <a:srcRect/>
          <a:stretch>
            <a:fillRect/>
          </a:stretch>
        </p:blipFill>
        <p:spPr bwMode="blackGray">
          <a:xfrm>
            <a:off x="-3795713" y="4497388"/>
            <a:ext cx="1238250" cy="263525"/>
          </a:xfrm>
          <a:prstGeom prst="rect">
            <a:avLst/>
          </a:prstGeom>
          <a:noFill/>
          <a:ln w="9525">
            <a:noFill/>
            <a:miter lim="800000"/>
            <a:headEnd/>
            <a:tailEnd/>
          </a:ln>
        </p:spPr>
      </p:pic>
      <p:pic>
        <p:nvPicPr>
          <p:cNvPr id="5" name="Picture 5" hidden="1"/>
          <p:cNvPicPr>
            <a:picLocks noChangeAspect="1" noChangeArrowheads="1"/>
          </p:cNvPicPr>
          <p:nvPr>
            <p:custDataLst>
              <p:tags r:id="rId2"/>
            </p:custDataLst>
          </p:nvPr>
        </p:nvPicPr>
        <p:blipFill>
          <a:blip r:embed="rId17" cstate="print"/>
          <a:srcRect/>
          <a:stretch>
            <a:fillRect/>
          </a:stretch>
        </p:blipFill>
        <p:spPr bwMode="blackGray">
          <a:xfrm>
            <a:off x="-3805238" y="4776788"/>
            <a:ext cx="1243013" cy="404812"/>
          </a:xfrm>
          <a:prstGeom prst="rect">
            <a:avLst/>
          </a:prstGeom>
          <a:noFill/>
          <a:ln w="9525">
            <a:noFill/>
            <a:miter lim="800000"/>
            <a:headEnd/>
            <a:tailEnd/>
          </a:ln>
        </p:spPr>
      </p:pic>
      <p:pic>
        <p:nvPicPr>
          <p:cNvPr id="6" name="Picture 6" hidden="1"/>
          <p:cNvPicPr>
            <a:picLocks noChangeAspect="1" noChangeArrowheads="1"/>
          </p:cNvPicPr>
          <p:nvPr>
            <p:custDataLst>
              <p:tags r:id="rId3"/>
            </p:custDataLst>
          </p:nvPr>
        </p:nvPicPr>
        <p:blipFill>
          <a:blip r:embed="rId18" cstate="print"/>
          <a:srcRect/>
          <a:stretch>
            <a:fillRect/>
          </a:stretch>
        </p:blipFill>
        <p:spPr bwMode="blackGray">
          <a:xfrm>
            <a:off x="-3802063" y="5181600"/>
            <a:ext cx="1239838" cy="600075"/>
          </a:xfrm>
          <a:prstGeom prst="rect">
            <a:avLst/>
          </a:prstGeom>
          <a:noFill/>
          <a:ln w="9525">
            <a:noFill/>
            <a:miter lim="800000"/>
            <a:headEnd/>
            <a:tailEnd/>
          </a:ln>
        </p:spPr>
      </p:pic>
      <p:pic>
        <p:nvPicPr>
          <p:cNvPr id="7" name="Picture 7" hidden="1"/>
          <p:cNvPicPr>
            <a:picLocks noChangeAspect="1" noChangeArrowheads="1"/>
          </p:cNvPicPr>
          <p:nvPr>
            <p:custDataLst>
              <p:tags r:id="rId4"/>
            </p:custDataLst>
          </p:nvPr>
        </p:nvPicPr>
        <p:blipFill>
          <a:blip r:embed="rId19" cstate="print"/>
          <a:srcRect/>
          <a:stretch>
            <a:fillRect/>
          </a:stretch>
        </p:blipFill>
        <p:spPr bwMode="blackGray">
          <a:xfrm>
            <a:off x="-3592513" y="5838825"/>
            <a:ext cx="1030288" cy="201613"/>
          </a:xfrm>
          <a:prstGeom prst="rect">
            <a:avLst/>
          </a:prstGeom>
          <a:noFill/>
          <a:ln w="9525">
            <a:noFill/>
            <a:miter lim="800000"/>
            <a:headEnd/>
            <a:tailEnd/>
          </a:ln>
        </p:spPr>
      </p:pic>
      <p:pic>
        <p:nvPicPr>
          <p:cNvPr id="8" name="Picture 8" hidden="1"/>
          <p:cNvPicPr>
            <a:picLocks noChangeAspect="1" noChangeArrowheads="1"/>
          </p:cNvPicPr>
          <p:nvPr>
            <p:custDataLst>
              <p:tags r:id="rId5"/>
            </p:custDataLst>
          </p:nvPr>
        </p:nvPicPr>
        <p:blipFill>
          <a:blip r:embed="rId20" cstate="print"/>
          <a:srcRect/>
          <a:stretch>
            <a:fillRect/>
          </a:stretch>
        </p:blipFill>
        <p:spPr bwMode="blackGray">
          <a:xfrm>
            <a:off x="-5562600" y="6219825"/>
            <a:ext cx="3000375" cy="207963"/>
          </a:xfrm>
          <a:prstGeom prst="rect">
            <a:avLst/>
          </a:prstGeom>
          <a:noFill/>
          <a:ln w="9525">
            <a:noFill/>
            <a:miter lim="800000"/>
            <a:headEnd/>
            <a:tailEnd/>
          </a:ln>
        </p:spPr>
      </p:pic>
      <p:pic>
        <p:nvPicPr>
          <p:cNvPr id="9" name="Picture 9" hidden="1"/>
          <p:cNvPicPr>
            <a:picLocks noChangeAspect="1" noChangeArrowheads="1"/>
          </p:cNvPicPr>
          <p:nvPr>
            <p:custDataLst>
              <p:tags r:id="rId6"/>
            </p:custDataLst>
          </p:nvPr>
        </p:nvPicPr>
        <p:blipFill>
          <a:blip r:embed="rId21" cstate="print"/>
          <a:srcRect/>
          <a:stretch>
            <a:fillRect/>
          </a:stretch>
        </p:blipFill>
        <p:spPr bwMode="blackGray">
          <a:xfrm>
            <a:off x="-3806825" y="6548438"/>
            <a:ext cx="1244600" cy="461962"/>
          </a:xfrm>
          <a:prstGeom prst="rect">
            <a:avLst/>
          </a:prstGeom>
          <a:noFill/>
          <a:ln w="9525">
            <a:noFill/>
            <a:miter lim="800000"/>
            <a:headEnd/>
            <a:tailEnd/>
          </a:ln>
        </p:spPr>
      </p:pic>
      <p:pic>
        <p:nvPicPr>
          <p:cNvPr id="10" name="Picture 10" hidden="1"/>
          <p:cNvPicPr>
            <a:picLocks noChangeAspect="1" noChangeArrowheads="1"/>
          </p:cNvPicPr>
          <p:nvPr>
            <p:custDataLst>
              <p:tags r:id="rId7"/>
            </p:custDataLst>
          </p:nvPr>
        </p:nvPicPr>
        <p:blipFill>
          <a:blip r:embed="rId22" cstate="print"/>
          <a:srcRect/>
          <a:stretch>
            <a:fillRect/>
          </a:stretch>
        </p:blipFill>
        <p:spPr bwMode="blackGray">
          <a:xfrm>
            <a:off x="-3975100" y="7113588"/>
            <a:ext cx="1412875" cy="477837"/>
          </a:xfrm>
          <a:prstGeom prst="rect">
            <a:avLst/>
          </a:prstGeom>
          <a:noFill/>
          <a:ln w="9525">
            <a:noFill/>
            <a:miter lim="800000"/>
            <a:headEnd/>
            <a:tailEnd/>
          </a:ln>
        </p:spPr>
      </p:pic>
      <p:pic>
        <p:nvPicPr>
          <p:cNvPr id="11" name="Picture 11"/>
          <p:cNvPicPr>
            <a:picLocks noChangeAspect="1" noChangeArrowheads="1"/>
          </p:cNvPicPr>
          <p:nvPr>
            <p:custDataLst>
              <p:tags r:id="rId8"/>
            </p:custDataLst>
          </p:nvPr>
        </p:nvPicPr>
        <p:blipFill>
          <a:blip r:embed="rId23" cstate="print"/>
          <a:srcRect/>
          <a:stretch>
            <a:fillRect/>
          </a:stretch>
        </p:blipFill>
        <p:spPr bwMode="auto">
          <a:xfrm>
            <a:off x="8437563" y="7218363"/>
            <a:ext cx="871537" cy="188912"/>
          </a:xfrm>
          <a:prstGeom prst="rect">
            <a:avLst/>
          </a:prstGeom>
          <a:noFill/>
          <a:ln w="9525">
            <a:noFill/>
            <a:miter lim="800000"/>
            <a:headEnd/>
            <a:tailEnd/>
          </a:ln>
        </p:spPr>
      </p:pic>
      <p:pic>
        <p:nvPicPr>
          <p:cNvPr id="12" name="Picture 12" hidden="1"/>
          <p:cNvPicPr>
            <a:picLocks noChangeAspect="1" noChangeArrowheads="1"/>
          </p:cNvPicPr>
          <p:nvPr>
            <p:custDataLst>
              <p:tags r:id="rId9"/>
            </p:custDataLst>
          </p:nvPr>
        </p:nvPicPr>
        <p:blipFill>
          <a:blip r:embed="rId24" cstate="print"/>
          <a:srcRect/>
          <a:stretch>
            <a:fillRect/>
          </a:stretch>
        </p:blipFill>
        <p:spPr bwMode="auto">
          <a:xfrm>
            <a:off x="-4343400" y="4081463"/>
            <a:ext cx="1785937" cy="249237"/>
          </a:xfrm>
          <a:prstGeom prst="rect">
            <a:avLst/>
          </a:prstGeom>
          <a:noFill/>
          <a:ln w="9525">
            <a:noFill/>
            <a:miter lim="800000"/>
            <a:headEnd/>
            <a:tailEnd/>
          </a:ln>
        </p:spPr>
      </p:pic>
      <p:sp>
        <p:nvSpPr>
          <p:cNvPr id="13" name="Text Box 13"/>
          <p:cNvSpPr txBox="1">
            <a:spLocks noChangeArrowheads="1"/>
          </p:cNvSpPr>
          <p:nvPr>
            <p:custDataLst>
              <p:tags r:id="rId10"/>
            </p:custDataLst>
          </p:nvPr>
        </p:nvSpPr>
        <p:spPr bwMode="auto">
          <a:xfrm>
            <a:off x="758825" y="530225"/>
            <a:ext cx="8229600" cy="612775"/>
          </a:xfrm>
          <a:prstGeom prst="rect">
            <a:avLst/>
          </a:prstGeom>
          <a:noFill/>
          <a:ln w="9525">
            <a:noFill/>
            <a:miter lim="800000"/>
            <a:headEnd/>
            <a:tailEnd/>
          </a:ln>
          <a:effectLst/>
        </p:spPr>
        <p:txBody>
          <a:bodyPr lIns="0" tIns="0" rIns="0" bIns="0" anchor="b"/>
          <a:lstStyle/>
          <a:p>
            <a:pPr algn="l">
              <a:lnSpc>
                <a:spcPts val="2800"/>
              </a:lnSpc>
              <a:spcBef>
                <a:spcPct val="0"/>
              </a:spcBef>
              <a:defRPr/>
            </a:pPr>
            <a:r>
              <a:rPr lang="en-US" sz="2200" dirty="0">
                <a:solidFill>
                  <a:schemeClr val="tx2"/>
                </a:solidFill>
                <a:ea typeface="LF_Kai"/>
              </a:rPr>
              <a:t>Agenda</a:t>
            </a:r>
          </a:p>
        </p:txBody>
      </p:sp>
      <p:sp>
        <p:nvSpPr>
          <p:cNvPr id="14" name="Text Box 14"/>
          <p:cNvSpPr txBox="1">
            <a:spLocks noChangeArrowheads="1"/>
          </p:cNvSpPr>
          <p:nvPr>
            <p:custDataLst>
              <p:tags r:id="rId11"/>
            </p:custDataLst>
          </p:nvPr>
        </p:nvSpPr>
        <p:spPr bwMode="auto">
          <a:xfrm>
            <a:off x="7626350" y="1554163"/>
            <a:ext cx="420688" cy="155575"/>
          </a:xfrm>
          <a:prstGeom prst="rect">
            <a:avLst/>
          </a:prstGeom>
          <a:noFill/>
          <a:ln w="9525">
            <a:noFill/>
            <a:miter lim="800000"/>
            <a:headEnd/>
            <a:tailEnd/>
          </a:ln>
          <a:effectLst/>
        </p:spPr>
        <p:txBody>
          <a:bodyPr wrap="none" lIns="0" tIns="0" rIns="0" bIns="0" anchor="ctr"/>
          <a:lstStyle/>
          <a:p>
            <a:pPr algn="r">
              <a:spcBef>
                <a:spcPct val="0"/>
              </a:spcBef>
              <a:defRPr/>
            </a:pPr>
            <a:r>
              <a:rPr lang="en-US">
                <a:ea typeface="LF_Kai"/>
              </a:rPr>
              <a:t>Page</a:t>
            </a:r>
          </a:p>
        </p:txBody>
      </p:sp>
      <p:sp>
        <p:nvSpPr>
          <p:cNvPr id="15" name="Text Box 15"/>
          <p:cNvSpPr txBox="1">
            <a:spLocks noChangeArrowheads="1"/>
          </p:cNvSpPr>
          <p:nvPr>
            <p:custDataLst>
              <p:tags r:id="rId12"/>
            </p:custDataLst>
          </p:nvPr>
        </p:nvSpPr>
        <p:spPr bwMode="auto">
          <a:xfrm>
            <a:off x="914400" y="7288213"/>
            <a:ext cx="1828800" cy="119062"/>
          </a:xfrm>
          <a:prstGeom prst="rect">
            <a:avLst/>
          </a:prstGeom>
          <a:noFill/>
          <a:ln w="9525">
            <a:noFill/>
            <a:miter lim="800000"/>
            <a:headEnd/>
            <a:tailEnd/>
          </a:ln>
          <a:effectLst/>
        </p:spPr>
        <p:txBody>
          <a:bodyPr wrap="none" lIns="0" tIns="0" rIns="0" bIns="0" anchor="b"/>
          <a:lstStyle/>
          <a:p>
            <a:pPr algn="l">
              <a:lnSpc>
                <a:spcPts val="900"/>
              </a:lnSpc>
              <a:spcBef>
                <a:spcPct val="0"/>
              </a:spcBef>
              <a:defRPr/>
            </a:pPr>
            <a:endParaRPr lang="en-US">
              <a:ea typeface="+mn-ea"/>
            </a:endParaRPr>
          </a:p>
        </p:txBody>
      </p:sp>
      <p:sp>
        <p:nvSpPr>
          <p:cNvPr id="16" name="Line 17"/>
          <p:cNvSpPr>
            <a:spLocks noChangeShapeType="1"/>
          </p:cNvSpPr>
          <p:nvPr>
            <p:custDataLst>
              <p:tags r:id="rId13"/>
            </p:custDataLst>
          </p:nvPr>
        </p:nvSpPr>
        <p:spPr bwMode="gray">
          <a:xfrm>
            <a:off x="768350" y="1316038"/>
            <a:ext cx="0" cy="6089650"/>
          </a:xfrm>
          <a:prstGeom prst="line">
            <a:avLst/>
          </a:prstGeom>
          <a:noFill/>
          <a:ln w="4445">
            <a:solidFill>
              <a:srgbClr val="6D6E71"/>
            </a:solidFill>
            <a:round/>
            <a:headEnd/>
            <a:tailEnd/>
          </a:ln>
          <a:effectLst/>
        </p:spPr>
        <p:txBody>
          <a:bodyPr wrap="none" lIns="45720" rIns="45720" anchor="ctr"/>
          <a:lstStyle/>
          <a:p>
            <a:pPr>
              <a:defRPr/>
            </a:pPr>
            <a:endParaRPr lang="en-US">
              <a:ea typeface="+mn-ea"/>
            </a:endParaRPr>
          </a:p>
        </p:txBody>
      </p:sp>
      <p:sp>
        <p:nvSpPr>
          <p:cNvPr id="17" name="Text Box 18"/>
          <p:cNvSpPr txBox="1">
            <a:spLocks noChangeArrowheads="1"/>
          </p:cNvSpPr>
          <p:nvPr>
            <p:custDataLst>
              <p:tags r:id="rId14"/>
            </p:custDataLst>
          </p:nvPr>
        </p:nvSpPr>
        <p:spPr bwMode="gray">
          <a:xfrm>
            <a:off x="5175250" y="7251700"/>
            <a:ext cx="155575" cy="155575"/>
          </a:xfrm>
          <a:prstGeom prst="rect">
            <a:avLst/>
          </a:prstGeom>
          <a:noFill/>
          <a:ln w="9525">
            <a:noFill/>
            <a:miter lim="800000"/>
            <a:headEnd/>
            <a:tailEnd/>
          </a:ln>
          <a:effectLst/>
        </p:spPr>
        <p:txBody>
          <a:bodyPr wrap="none" lIns="0" tIns="0" rIns="0" bIns="0" anchor="ctr"/>
          <a:lstStyle/>
          <a:p>
            <a:pPr>
              <a:spcBef>
                <a:spcPct val="0"/>
              </a:spcBef>
              <a:defRPr/>
            </a:pPr>
            <a:fld id="{595B678E-CC39-4CA0-AC5A-01D6C1F9740D}" type="slidenum">
              <a:rPr lang="en-US" sz="1000" b="1">
                <a:solidFill>
                  <a:srgbClr val="6D6E71"/>
                </a:solidFill>
                <a:ea typeface="LF_Kai"/>
              </a:rPr>
              <a:pPr>
                <a:spcBef>
                  <a:spcPct val="0"/>
                </a:spcBef>
                <a:defRPr/>
              </a:pPr>
              <a:t>‹#›</a:t>
            </a:fld>
            <a:endParaRPr lang="en-US" sz="1000" b="1">
              <a:solidFill>
                <a:srgbClr val="6D6E71"/>
              </a:solidFill>
              <a:ea typeface="LF_Kai"/>
            </a:endParaRPr>
          </a:p>
        </p:txBody>
      </p:sp>
      <p:sp>
        <p:nvSpPr>
          <p:cNvPr id="51202" name="Rectangle 2"/>
          <p:cNvSpPr>
            <a:spLocks noGrp="1" noChangeArrowheads="1"/>
          </p:cNvSpPr>
          <p:nvPr>
            <p:ph type="ctrTitle"/>
          </p:nvPr>
        </p:nvSpPr>
        <p:spPr bwMode="gray">
          <a:xfrm>
            <a:off x="2586038" y="1827213"/>
            <a:ext cx="5110162" cy="228600"/>
          </a:xfrm>
          <a:solidFill>
            <a:schemeClr val="bg2"/>
          </a:solidFill>
        </p:spPr>
        <p:txBody>
          <a:bodyPr lIns="228574" rIns="2057160" anchor="ctr"/>
          <a:lstStyle>
            <a:lvl1pPr marL="9525" defTabSz="1135063">
              <a:lnSpc>
                <a:spcPts val="1500"/>
              </a:lnSpc>
              <a:defRPr sz="1500" b="1">
                <a:solidFill>
                  <a:schemeClr val="bg1"/>
                </a:solidFill>
              </a:defRPr>
            </a:lvl1pPr>
          </a:lstStyle>
          <a:p>
            <a:r>
              <a:rPr lang="en-US"/>
              <a:t>Click to edit Master title style</a:t>
            </a:r>
          </a:p>
        </p:txBody>
      </p:sp>
      <p:sp>
        <p:nvSpPr>
          <p:cNvPr id="51203" name="Rectangle 3"/>
          <p:cNvSpPr>
            <a:spLocks noGrp="1" noChangeArrowheads="1"/>
          </p:cNvSpPr>
          <p:nvPr>
            <p:ph type="subTitle" idx="1"/>
          </p:nvPr>
        </p:nvSpPr>
        <p:spPr>
          <a:xfrm>
            <a:off x="2586038" y="2101850"/>
            <a:ext cx="5110162" cy="157163"/>
          </a:xfrm>
        </p:spPr>
        <p:txBody>
          <a:bodyPr lIns="228574" tIns="0" rIns="91429" bIns="0">
            <a:spAutoFit/>
          </a:bodyPr>
          <a:lstStyle>
            <a:lvl1pPr>
              <a:lnSpc>
                <a:spcPct val="115000"/>
              </a:lnSpc>
              <a:spcBef>
                <a:spcPct val="0"/>
              </a:spcBef>
              <a:buClrTx/>
              <a:buSzTx/>
              <a:buFontTx/>
              <a:buNone/>
              <a:defRPr/>
            </a:lvl1pPr>
          </a:lstStyle>
          <a:p>
            <a:r>
              <a:rPr lang="en-US"/>
              <a:t>Click to edit Master subtitle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5338" y="4994275"/>
            <a:ext cx="8548687" cy="1544638"/>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5338" y="3294063"/>
            <a:ext cx="8548687" cy="170021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4438" y="1524000"/>
            <a:ext cx="3963987"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30825" y="1524000"/>
            <a:ext cx="3963988"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3238" y="311150"/>
            <a:ext cx="9051925" cy="1295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3238" y="1739900"/>
            <a:ext cx="4443412" cy="7254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3238" y="2465388"/>
            <a:ext cx="4443412" cy="44783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10163" y="1739900"/>
            <a:ext cx="4445000" cy="7254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0163" y="2465388"/>
            <a:ext cx="4445000" cy="44783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238" y="309563"/>
            <a:ext cx="3308350" cy="1317625"/>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932238" y="309563"/>
            <a:ext cx="5622925" cy="66341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3238" y="1627188"/>
            <a:ext cx="3308350" cy="531653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1675" y="5440363"/>
            <a:ext cx="6035675" cy="642937"/>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971675" y="693738"/>
            <a:ext cx="6035675" cy="4664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71675" y="6083300"/>
            <a:ext cx="6035675" cy="9112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61213" y="528638"/>
            <a:ext cx="2133600" cy="57959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7238" y="528638"/>
            <a:ext cx="6251575" cy="5795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7238" y="528638"/>
            <a:ext cx="8226425" cy="612775"/>
          </a:xfrm>
        </p:spPr>
        <p:txBody>
          <a:bodyPr/>
          <a:lstStyle/>
          <a:p>
            <a:r>
              <a:rPr lang="en-US"/>
              <a:t>Click to edit Master title style</a:t>
            </a:r>
          </a:p>
        </p:txBody>
      </p:sp>
      <p:sp>
        <p:nvSpPr>
          <p:cNvPr id="3" name="Text Placeholder 2"/>
          <p:cNvSpPr>
            <a:spLocks noGrp="1"/>
          </p:cNvSpPr>
          <p:nvPr>
            <p:ph type="body" sz="half" idx="1"/>
          </p:nvPr>
        </p:nvSpPr>
        <p:spPr>
          <a:xfrm>
            <a:off x="1214438" y="1524000"/>
            <a:ext cx="3963987"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30825" y="1524000"/>
            <a:ext cx="3963988"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package" Target="../embeddings/Microsoft_Word_Document.docx"/><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image" Target="../media/image1.w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18" Type="http://schemas.openxmlformats.org/officeDocument/2006/relationships/package" Target="../embeddings/Microsoft_Word_Document1.docx"/><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ags" Target="../tags/tag24.xml"/><Relationship Id="rId2" Type="http://schemas.openxmlformats.org/officeDocument/2006/relationships/slideLayout" Target="../slideLayouts/slideLayout13.xml"/><Relationship Id="rId16" Type="http://schemas.openxmlformats.org/officeDocument/2006/relationships/tags" Target="../tags/tag23.xml"/><Relationship Id="rId20" Type="http://schemas.openxmlformats.org/officeDocument/2006/relationships/image" Target="../media/image2.emf"/><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2.xml"/><Relationship Id="rId10" Type="http://schemas.openxmlformats.org/officeDocument/2006/relationships/slideLayout" Target="../slideLayouts/slideLayout21.xml"/><Relationship Id="rId19" Type="http://schemas.openxmlformats.org/officeDocument/2006/relationships/image" Target="../media/image1.wmf"/><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title"/>
          </p:nvPr>
        </p:nvSpPr>
        <p:spPr bwMode="auto">
          <a:xfrm>
            <a:off x="757238" y="528638"/>
            <a:ext cx="8226425" cy="6127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US"/>
              <a:t>Click to edit Master title style</a:t>
            </a:r>
          </a:p>
        </p:txBody>
      </p:sp>
      <p:sp>
        <p:nvSpPr>
          <p:cNvPr id="1029" name="Rectangle 5"/>
          <p:cNvSpPr>
            <a:spLocks noGrp="1" noChangeArrowheads="1"/>
          </p:cNvSpPr>
          <p:nvPr>
            <p:ph type="body" idx="1"/>
          </p:nvPr>
        </p:nvSpPr>
        <p:spPr bwMode="gray">
          <a:xfrm>
            <a:off x="1214438" y="1524000"/>
            <a:ext cx="8080375" cy="48006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p>
            <a:pPr lvl="0"/>
            <a:r>
              <a:rPr lang="en-US"/>
              <a:t>Body Text</a:t>
            </a:r>
          </a:p>
          <a:p>
            <a:pPr lvl="1"/>
            <a:r>
              <a:rPr lang="en-US"/>
              <a:t>Bullet one</a:t>
            </a:r>
          </a:p>
          <a:p>
            <a:pPr lvl="2"/>
            <a:r>
              <a:rPr lang="en-US"/>
              <a:t>Bullet two</a:t>
            </a:r>
          </a:p>
          <a:p>
            <a:pPr lvl="3"/>
            <a:r>
              <a:rPr lang="en-US"/>
              <a:t>Bullet three</a:t>
            </a:r>
          </a:p>
          <a:p>
            <a:pPr lvl="4"/>
            <a:r>
              <a:rPr lang="en-US"/>
              <a:t>Bullet four</a:t>
            </a:r>
          </a:p>
        </p:txBody>
      </p:sp>
      <p:graphicFrame>
        <p:nvGraphicFramePr>
          <p:cNvPr id="1026" name="JPM_07_TABLE" hidden="1"/>
          <p:cNvGraphicFramePr>
            <a:graphicFrameLocks noChangeAspect="1"/>
          </p:cNvGraphicFramePr>
          <p:nvPr>
            <p:custDataLst>
              <p:tags r:id="rId13"/>
            </p:custDataLst>
          </p:nvPr>
        </p:nvGraphicFramePr>
        <p:xfrm>
          <a:off x="3175" y="-2058988"/>
          <a:ext cx="4267200" cy="1827213"/>
        </p:xfrm>
        <a:graphic>
          <a:graphicData uri="http://schemas.openxmlformats.org/presentationml/2006/ole">
            <mc:AlternateContent xmlns:mc="http://schemas.openxmlformats.org/markup-compatibility/2006">
              <mc:Choice xmlns:v="urn:schemas-microsoft-com:vml" Requires="v">
                <p:oleObj name="Document" r:id="rId18" imgW="4167554" imgH="1907931" progId="Word.Document.12">
                  <p:embed/>
                </p:oleObj>
              </mc:Choice>
              <mc:Fallback>
                <p:oleObj name="Document" r:id="rId18" imgW="4167554" imgH="1907931" progId="Word.Document.12">
                  <p:embed/>
                  <p:pic>
                    <p:nvPicPr>
                      <p:cNvPr id="1026" name="JPM_07_TABLE" hidden="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175" y="-2058988"/>
                        <a:ext cx="4267200" cy="1827213"/>
                      </a:xfrm>
                      <a:prstGeom prst="rect">
                        <a:avLst/>
                      </a:prstGeom>
                      <a:solidFill>
                        <a:schemeClr val="bg1"/>
                      </a:solidFill>
                    </p:spPr>
                  </p:pic>
                </p:oleObj>
              </mc:Fallback>
            </mc:AlternateContent>
          </a:graphicData>
        </a:graphic>
      </p:graphicFrame>
      <p:pic>
        <p:nvPicPr>
          <p:cNvPr id="1030" name="Picture 200"/>
          <p:cNvPicPr>
            <a:picLocks noChangeAspect="1" noChangeArrowheads="1"/>
          </p:cNvPicPr>
          <p:nvPr>
            <p:custDataLst>
              <p:tags r:id="rId14"/>
            </p:custDataLst>
          </p:nvPr>
        </p:nvPicPr>
        <p:blipFill>
          <a:blip r:embed="rId20" cstate="print"/>
          <a:srcRect/>
          <a:stretch>
            <a:fillRect/>
          </a:stretch>
        </p:blipFill>
        <p:spPr bwMode="auto">
          <a:xfrm>
            <a:off x="8437563" y="7218363"/>
            <a:ext cx="871537" cy="188912"/>
          </a:xfrm>
          <a:prstGeom prst="rect">
            <a:avLst/>
          </a:prstGeom>
          <a:noFill/>
          <a:ln w="9525">
            <a:noFill/>
            <a:miter lim="800000"/>
            <a:headEnd/>
            <a:tailEnd/>
          </a:ln>
        </p:spPr>
      </p:pic>
      <p:sp>
        <p:nvSpPr>
          <p:cNvPr id="21729" name="Text Box 225"/>
          <p:cNvSpPr txBox="1">
            <a:spLocks noChangeArrowheads="1"/>
          </p:cNvSpPr>
          <p:nvPr>
            <p:custDataLst>
              <p:tags r:id="rId15"/>
            </p:custDataLst>
          </p:nvPr>
        </p:nvSpPr>
        <p:spPr bwMode="auto">
          <a:xfrm>
            <a:off x="914400" y="7288213"/>
            <a:ext cx="1828800" cy="119062"/>
          </a:xfrm>
          <a:prstGeom prst="rect">
            <a:avLst/>
          </a:prstGeom>
          <a:noFill/>
          <a:ln w="9525">
            <a:noFill/>
            <a:miter lim="800000"/>
            <a:headEnd/>
            <a:tailEnd/>
          </a:ln>
          <a:effectLst/>
        </p:spPr>
        <p:txBody>
          <a:bodyPr wrap="none" lIns="0" tIns="0" rIns="0" bIns="0" anchor="b"/>
          <a:lstStyle/>
          <a:p>
            <a:pPr algn="l">
              <a:lnSpc>
                <a:spcPts val="900"/>
              </a:lnSpc>
              <a:spcBef>
                <a:spcPct val="0"/>
              </a:spcBef>
              <a:defRPr/>
            </a:pPr>
            <a:endParaRPr lang="en-US">
              <a:ea typeface="+mn-ea"/>
            </a:endParaRPr>
          </a:p>
        </p:txBody>
      </p:sp>
      <p:sp>
        <p:nvSpPr>
          <p:cNvPr id="21731" name="Line 227"/>
          <p:cNvSpPr>
            <a:spLocks noChangeShapeType="1"/>
          </p:cNvSpPr>
          <p:nvPr>
            <p:custDataLst>
              <p:tags r:id="rId16"/>
            </p:custDataLst>
          </p:nvPr>
        </p:nvSpPr>
        <p:spPr bwMode="gray">
          <a:xfrm>
            <a:off x="768350" y="1316038"/>
            <a:ext cx="0" cy="6089650"/>
          </a:xfrm>
          <a:prstGeom prst="line">
            <a:avLst/>
          </a:prstGeom>
          <a:noFill/>
          <a:ln w="4445">
            <a:solidFill>
              <a:srgbClr val="6D6E71"/>
            </a:solidFill>
            <a:round/>
            <a:headEnd/>
            <a:tailEnd/>
          </a:ln>
          <a:effectLst/>
        </p:spPr>
        <p:txBody>
          <a:bodyPr wrap="none" lIns="45720" rIns="45720" anchor="ctr"/>
          <a:lstStyle/>
          <a:p>
            <a:pPr>
              <a:defRPr/>
            </a:pPr>
            <a:endParaRPr lang="en-US">
              <a:ea typeface="+mn-ea"/>
            </a:endParaRPr>
          </a:p>
        </p:txBody>
      </p:sp>
      <p:sp>
        <p:nvSpPr>
          <p:cNvPr id="21732" name="Text Box 228"/>
          <p:cNvSpPr txBox="1">
            <a:spLocks noChangeArrowheads="1"/>
          </p:cNvSpPr>
          <p:nvPr>
            <p:custDataLst>
              <p:tags r:id="rId17"/>
            </p:custDataLst>
          </p:nvPr>
        </p:nvSpPr>
        <p:spPr bwMode="gray">
          <a:xfrm>
            <a:off x="5175250" y="7251700"/>
            <a:ext cx="155575" cy="155575"/>
          </a:xfrm>
          <a:prstGeom prst="rect">
            <a:avLst/>
          </a:prstGeom>
          <a:noFill/>
          <a:ln w="9525">
            <a:noFill/>
            <a:miter lim="800000"/>
            <a:headEnd/>
            <a:tailEnd/>
          </a:ln>
          <a:effectLst/>
        </p:spPr>
        <p:txBody>
          <a:bodyPr wrap="none" lIns="0" tIns="0" rIns="0" bIns="0" anchor="ctr"/>
          <a:lstStyle/>
          <a:p>
            <a:pPr>
              <a:spcBef>
                <a:spcPct val="0"/>
              </a:spcBef>
              <a:defRPr/>
            </a:pPr>
            <a:fld id="{6636BC2D-E145-4480-B37F-AF495F47757D}" type="slidenum">
              <a:rPr lang="en-US" sz="1000" b="1">
                <a:solidFill>
                  <a:srgbClr val="6D6E71"/>
                </a:solidFill>
                <a:ea typeface="LF_Kai"/>
              </a:rPr>
              <a:pPr>
                <a:spcBef>
                  <a:spcPct val="0"/>
                </a:spcBef>
                <a:defRPr/>
              </a:pPr>
              <a:t>‹#›</a:t>
            </a:fld>
            <a:endParaRPr lang="en-US" sz="1000" b="1">
              <a:solidFill>
                <a:srgbClr val="6D6E71"/>
              </a:solidFill>
              <a:ea typeface="LF_Kai"/>
            </a:endParaRPr>
          </a:p>
        </p:txBody>
      </p:sp>
    </p:spTree>
  </p:cSld>
  <p:clrMap bg1="lt1" tx1="dk1" bg2="lt2" tx2="dk2" accent1="accent1" accent2="accent2" accent3="accent3" accent4="accent4" accent5="accent5" accent6="accent6" hlink="hlink" folHlink="folHlink"/>
  <p:sldLayoutIdLst>
    <p:sldLayoutId id="2147484323" r:id="rId1"/>
    <p:sldLayoutId id="2147484302" r:id="rId2"/>
    <p:sldLayoutId id="2147484303" r:id="rId3"/>
    <p:sldLayoutId id="2147484304" r:id="rId4"/>
    <p:sldLayoutId id="2147484305" r:id="rId5"/>
    <p:sldLayoutId id="2147484306" r:id="rId6"/>
    <p:sldLayoutId id="2147484307" r:id="rId7"/>
    <p:sldLayoutId id="2147484308" r:id="rId8"/>
    <p:sldLayoutId id="2147484309" r:id="rId9"/>
    <p:sldLayoutId id="2147484310" r:id="rId10"/>
    <p:sldLayoutId id="2147484311" r:id="rId11"/>
  </p:sldLayoutIdLst>
  <p:txStyles>
    <p:titleStyle>
      <a:lvl1pPr algn="l" defTabSz="1019175" rtl="0" eaLnBrk="0" fontAlgn="base" hangingPunct="0">
        <a:lnSpc>
          <a:spcPts val="2788"/>
        </a:lnSpc>
        <a:spcBef>
          <a:spcPct val="0"/>
        </a:spcBef>
        <a:spcAft>
          <a:spcPct val="0"/>
        </a:spcAft>
        <a:defRPr sz="2200">
          <a:solidFill>
            <a:schemeClr val="tx2"/>
          </a:solidFill>
          <a:latin typeface="+mj-lt"/>
          <a:ea typeface="+mj-ea"/>
          <a:cs typeface="+mj-cs"/>
        </a:defRPr>
      </a:lvl1pPr>
      <a:lvl2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2pPr>
      <a:lvl3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3pPr>
      <a:lvl4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4pPr>
      <a:lvl5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5pPr>
      <a:lvl6pPr marL="4572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6pPr>
      <a:lvl7pPr marL="9144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7pPr>
      <a:lvl8pPr marL="13716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8pPr>
      <a:lvl9pPr marL="18288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9pPr>
    </p:titleStyle>
    <p:body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bwMode="auto">
          <a:xfrm>
            <a:off x="757238" y="528638"/>
            <a:ext cx="8226425" cy="6127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US"/>
              <a:t>Disclosures</a:t>
            </a:r>
          </a:p>
        </p:txBody>
      </p:sp>
      <p:sp>
        <p:nvSpPr>
          <p:cNvPr id="2053" name="Rectangle 3"/>
          <p:cNvSpPr>
            <a:spLocks noGrp="1" noChangeArrowheads="1"/>
          </p:cNvSpPr>
          <p:nvPr>
            <p:ph type="body" idx="1"/>
          </p:nvPr>
        </p:nvSpPr>
        <p:spPr bwMode="gray">
          <a:xfrm>
            <a:off x="1214438" y="1524000"/>
            <a:ext cx="8080375" cy="48006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p>
            <a:pPr lvl="0"/>
            <a:r>
              <a:rPr lang="en-US"/>
              <a:t>Body Text</a:t>
            </a:r>
          </a:p>
          <a:p>
            <a:pPr lvl="1"/>
            <a:r>
              <a:rPr lang="en-US"/>
              <a:t>Bullet one</a:t>
            </a:r>
          </a:p>
        </p:txBody>
      </p:sp>
      <p:graphicFrame>
        <p:nvGraphicFramePr>
          <p:cNvPr id="2050" name="JPM_07_TABLE" hidden="1"/>
          <p:cNvGraphicFramePr>
            <a:graphicFrameLocks noChangeAspect="1"/>
          </p:cNvGraphicFramePr>
          <p:nvPr>
            <p:custDataLst>
              <p:tags r:id="rId14"/>
            </p:custDataLst>
          </p:nvPr>
        </p:nvGraphicFramePr>
        <p:xfrm>
          <a:off x="3175" y="-2058988"/>
          <a:ext cx="4267200" cy="1827213"/>
        </p:xfrm>
        <a:graphic>
          <a:graphicData uri="http://schemas.openxmlformats.org/presentationml/2006/ole">
            <mc:AlternateContent xmlns:mc="http://schemas.openxmlformats.org/markup-compatibility/2006">
              <mc:Choice xmlns:v="urn:schemas-microsoft-com:vml" Requires="v">
                <p:oleObj name="Document" r:id="rId18" imgW="4167554" imgH="1907931" progId="Word.Document.12">
                  <p:embed/>
                </p:oleObj>
              </mc:Choice>
              <mc:Fallback>
                <p:oleObj name="Document" r:id="rId18" imgW="4167554" imgH="1907931" progId="Word.Document.12">
                  <p:embed/>
                  <p:pic>
                    <p:nvPicPr>
                      <p:cNvPr id="2050" name="JPM_07_TABLE" hidden="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175" y="-2058988"/>
                        <a:ext cx="4267200" cy="1827213"/>
                      </a:xfrm>
                      <a:prstGeom prst="rect">
                        <a:avLst/>
                      </a:prstGeom>
                      <a:solidFill>
                        <a:schemeClr val="bg1"/>
                      </a:solidFill>
                    </p:spPr>
                  </p:pic>
                </p:oleObj>
              </mc:Fallback>
            </mc:AlternateContent>
          </a:graphicData>
        </a:graphic>
      </p:graphicFrame>
      <p:pic>
        <p:nvPicPr>
          <p:cNvPr id="2054" name="Picture 5"/>
          <p:cNvPicPr>
            <a:picLocks noChangeAspect="1" noChangeArrowheads="1"/>
          </p:cNvPicPr>
          <p:nvPr>
            <p:custDataLst>
              <p:tags r:id="rId15"/>
            </p:custDataLst>
          </p:nvPr>
        </p:nvPicPr>
        <p:blipFill>
          <a:blip r:embed="rId20" cstate="print"/>
          <a:srcRect/>
          <a:stretch>
            <a:fillRect/>
          </a:stretch>
        </p:blipFill>
        <p:spPr bwMode="auto">
          <a:xfrm>
            <a:off x="8437563" y="7218363"/>
            <a:ext cx="871537" cy="188912"/>
          </a:xfrm>
          <a:prstGeom prst="rect">
            <a:avLst/>
          </a:prstGeom>
          <a:noFill/>
          <a:ln w="9525">
            <a:noFill/>
            <a:miter lim="800000"/>
            <a:headEnd/>
            <a:tailEnd/>
          </a:ln>
        </p:spPr>
      </p:pic>
      <p:sp>
        <p:nvSpPr>
          <p:cNvPr id="50182" name="Text Box 6"/>
          <p:cNvSpPr txBox="1">
            <a:spLocks noChangeArrowheads="1"/>
          </p:cNvSpPr>
          <p:nvPr>
            <p:custDataLst>
              <p:tags r:id="rId16"/>
            </p:custDataLst>
          </p:nvPr>
        </p:nvSpPr>
        <p:spPr bwMode="auto">
          <a:xfrm>
            <a:off x="914400" y="7288213"/>
            <a:ext cx="1828800" cy="119062"/>
          </a:xfrm>
          <a:prstGeom prst="rect">
            <a:avLst/>
          </a:prstGeom>
          <a:noFill/>
          <a:ln w="9525">
            <a:noFill/>
            <a:miter lim="800000"/>
            <a:headEnd/>
            <a:tailEnd/>
          </a:ln>
          <a:effectLst/>
        </p:spPr>
        <p:txBody>
          <a:bodyPr wrap="none" lIns="0" tIns="0" rIns="0" bIns="0" anchor="b"/>
          <a:lstStyle/>
          <a:p>
            <a:pPr algn="l">
              <a:lnSpc>
                <a:spcPts val="900"/>
              </a:lnSpc>
              <a:spcBef>
                <a:spcPct val="0"/>
              </a:spcBef>
              <a:defRPr/>
            </a:pPr>
            <a:endParaRPr lang="en-US">
              <a:ea typeface="+mn-ea"/>
            </a:endParaRPr>
          </a:p>
        </p:txBody>
      </p:sp>
      <p:sp>
        <p:nvSpPr>
          <p:cNvPr id="50184" name="Line 8"/>
          <p:cNvSpPr>
            <a:spLocks noChangeShapeType="1"/>
          </p:cNvSpPr>
          <p:nvPr>
            <p:custDataLst>
              <p:tags r:id="rId17"/>
            </p:custDataLst>
          </p:nvPr>
        </p:nvSpPr>
        <p:spPr bwMode="gray">
          <a:xfrm>
            <a:off x="768350" y="1316038"/>
            <a:ext cx="0" cy="6089650"/>
          </a:xfrm>
          <a:prstGeom prst="line">
            <a:avLst/>
          </a:prstGeom>
          <a:noFill/>
          <a:ln w="4445">
            <a:solidFill>
              <a:srgbClr val="6D6E71"/>
            </a:solidFill>
            <a:round/>
            <a:headEnd/>
            <a:tailEnd/>
          </a:ln>
          <a:effectLst/>
        </p:spPr>
        <p:txBody>
          <a:bodyPr wrap="none" lIns="45720" rIns="45720" anchor="ctr"/>
          <a:lstStyle/>
          <a:p>
            <a:pPr>
              <a:defRPr/>
            </a:pPr>
            <a:endParaRPr lang="en-US">
              <a:ea typeface="+mn-ea"/>
            </a:endParaRPr>
          </a:p>
        </p:txBody>
      </p:sp>
    </p:spTree>
  </p:cSld>
  <p:clrMap bg1="lt1" tx1="dk1" bg2="lt2" tx2="dk2" accent1="accent1" accent2="accent2" accent3="accent3" accent4="accent4" accent5="accent5" accent6="accent6" hlink="hlink" folHlink="folHlink"/>
  <p:sldLayoutIdLst>
    <p:sldLayoutId id="2147484324" r:id="rId1"/>
    <p:sldLayoutId id="2147484312" r:id="rId2"/>
    <p:sldLayoutId id="2147484313" r:id="rId3"/>
    <p:sldLayoutId id="2147484314" r:id="rId4"/>
    <p:sldLayoutId id="2147484315" r:id="rId5"/>
    <p:sldLayoutId id="2147484316" r:id="rId6"/>
    <p:sldLayoutId id="2147484317" r:id="rId7"/>
    <p:sldLayoutId id="2147484318" r:id="rId8"/>
    <p:sldLayoutId id="2147484319" r:id="rId9"/>
    <p:sldLayoutId id="2147484320" r:id="rId10"/>
    <p:sldLayoutId id="2147484321" r:id="rId11"/>
    <p:sldLayoutId id="2147484322" r:id="rId12"/>
  </p:sldLayoutIdLst>
  <p:txStyles>
    <p:titleStyle>
      <a:lvl1pPr algn="l" defTabSz="1019175" rtl="0" eaLnBrk="0" fontAlgn="base" hangingPunct="0">
        <a:lnSpc>
          <a:spcPts val="2788"/>
        </a:lnSpc>
        <a:spcBef>
          <a:spcPct val="0"/>
        </a:spcBef>
        <a:spcAft>
          <a:spcPct val="0"/>
        </a:spcAft>
        <a:defRPr sz="2200">
          <a:solidFill>
            <a:schemeClr val="tx2"/>
          </a:solidFill>
          <a:latin typeface="+mj-lt"/>
          <a:ea typeface="+mj-ea"/>
          <a:cs typeface="+mj-cs"/>
        </a:defRPr>
      </a:lvl1pPr>
      <a:lvl2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2pPr>
      <a:lvl3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3pPr>
      <a:lvl4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4pPr>
      <a:lvl5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5pPr>
      <a:lvl6pPr marL="4572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6pPr>
      <a:lvl7pPr marL="9144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7pPr>
      <a:lvl8pPr marL="13716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8pPr>
      <a:lvl9pPr marL="18288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9pPr>
    </p:titleStyle>
    <p:body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9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9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alexia.quadrani@jpmorgan.com" TargetMode="External"/><Relationship Id="rId13" Type="http://schemas.openxmlformats.org/officeDocument/2006/relationships/hyperlink" Target="mailto:Nicole.goldin@jpmchase.com" TargetMode="External"/><Relationship Id="rId3" Type="http://schemas.openxmlformats.org/officeDocument/2006/relationships/tags" Target="../tags/tag41.xml"/><Relationship Id="rId7" Type="http://schemas.openxmlformats.org/officeDocument/2006/relationships/image" Target="../media/image3.emf"/><Relationship Id="rId12" Type="http://schemas.openxmlformats.org/officeDocument/2006/relationships/hyperlink" Target="mailto:Douglas.Wardlaw@jpmchase.com" TargetMode="Externa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notesSlide" Target="../notesSlides/notesSlide1.xml"/><Relationship Id="rId11" Type="http://schemas.openxmlformats.org/officeDocument/2006/relationships/image" Target="../media/image11.jpeg"/><Relationship Id="rId5" Type="http://schemas.openxmlformats.org/officeDocument/2006/relationships/slideLayout" Target="../slideLayouts/slideLayout1.xml"/><Relationship Id="rId10" Type="http://schemas.openxmlformats.org/officeDocument/2006/relationships/hyperlink" Target="http://www.jpmm.com/Research/Multimedia" TargetMode="External"/><Relationship Id="rId4" Type="http://schemas.openxmlformats.org/officeDocument/2006/relationships/tags" Target="../tags/tag42.xml"/><Relationship Id="rId9" Type="http://schemas.openxmlformats.org/officeDocument/2006/relationships/hyperlink" Target="https://www.netroadshow.com/events/login?show=f56fa483&amp;confId=73280" TargetMode="External"/></Relationships>
</file>

<file path=ppt/slides/_rels/slide2.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tags" Target="../tags/tag4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image" Target="../media/image1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2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jpmSubtitle"/>
          <p:cNvSpPr>
            <a:spLocks noChangeArrowheads="1"/>
          </p:cNvSpPr>
          <p:nvPr>
            <p:custDataLst>
              <p:tags r:id="rId2"/>
            </p:custDataLst>
          </p:nvPr>
        </p:nvSpPr>
        <p:spPr bwMode="auto">
          <a:xfrm>
            <a:off x="758825" y="3813175"/>
            <a:ext cx="6099175" cy="457200"/>
          </a:xfrm>
          <a:prstGeom prst="rect">
            <a:avLst/>
          </a:prstGeom>
          <a:noFill/>
          <a:ln w="9525">
            <a:noFill/>
            <a:miter lim="800000"/>
            <a:headEnd/>
            <a:tailEnd/>
          </a:ln>
        </p:spPr>
        <p:txBody>
          <a:bodyPr lIns="228600" tIns="0" rIns="0" bIns="0"/>
          <a:lstStyle/>
          <a:p>
            <a:pPr algn="l">
              <a:lnSpc>
                <a:spcPct val="110000"/>
              </a:lnSpc>
              <a:spcBef>
                <a:spcPct val="0"/>
              </a:spcBef>
            </a:pPr>
            <a:r>
              <a:rPr lang="en-US" b="1">
                <a:solidFill>
                  <a:schemeClr val="bg2"/>
                </a:solidFill>
                <a:latin typeface="Trebuchet MS" pitchFamily="34" charset="0"/>
              </a:rPr>
              <a:t>  </a:t>
            </a:r>
          </a:p>
        </p:txBody>
      </p:sp>
      <p:pic>
        <p:nvPicPr>
          <p:cNvPr id="5123" name="Picture 20"/>
          <p:cNvPicPr>
            <a:picLocks noChangeAspect="1" noChangeArrowheads="1"/>
          </p:cNvPicPr>
          <p:nvPr>
            <p:custDataLst>
              <p:tags r:id="rId3"/>
            </p:custDataLst>
          </p:nvPr>
        </p:nvPicPr>
        <p:blipFill>
          <a:blip r:embed="rId7" cstate="print"/>
          <a:srcRect/>
          <a:stretch>
            <a:fillRect/>
          </a:stretch>
        </p:blipFill>
        <p:spPr bwMode="auto">
          <a:xfrm>
            <a:off x="981075" y="381000"/>
            <a:ext cx="1825625" cy="388938"/>
          </a:xfrm>
          <a:prstGeom prst="rect">
            <a:avLst/>
          </a:prstGeom>
          <a:noFill/>
          <a:ln w="9525">
            <a:noFill/>
            <a:miter lim="800000"/>
            <a:headEnd/>
            <a:tailEnd/>
          </a:ln>
        </p:spPr>
      </p:pic>
      <p:sp>
        <p:nvSpPr>
          <p:cNvPr id="5124" name="Text Box 22"/>
          <p:cNvSpPr txBox="1">
            <a:spLocks noChangeArrowheads="1"/>
          </p:cNvSpPr>
          <p:nvPr/>
        </p:nvSpPr>
        <p:spPr bwMode="auto">
          <a:xfrm>
            <a:off x="952500" y="1694858"/>
            <a:ext cx="8458200" cy="877163"/>
          </a:xfrm>
          <a:prstGeom prst="rect">
            <a:avLst/>
          </a:prstGeom>
          <a:noFill/>
          <a:ln w="9525" algn="ctr">
            <a:noFill/>
            <a:miter lim="800000"/>
            <a:headEnd/>
            <a:tailEnd/>
          </a:ln>
        </p:spPr>
        <p:txBody>
          <a:bodyPr lIns="45720" rIns="45720">
            <a:spAutoFit/>
          </a:bodyPr>
          <a:lstStyle/>
          <a:p>
            <a:pPr algn="l"/>
            <a:r>
              <a:rPr lang="en-US" sz="2400" b="1" dirty="0">
                <a:solidFill>
                  <a:srgbClr val="4E8ABE"/>
                </a:solidFill>
              </a:rPr>
              <a:t>Media, Entertainment, and Advertising</a:t>
            </a:r>
          </a:p>
          <a:p>
            <a:pPr algn="l"/>
            <a:r>
              <a:rPr lang="en-US" sz="1800" dirty="0"/>
              <a:t>Coming Soon to Media and Entertainment Stocks: 2025 Outlook</a:t>
            </a:r>
          </a:p>
        </p:txBody>
      </p:sp>
      <p:sp>
        <p:nvSpPr>
          <p:cNvPr id="5125" name="Line 23"/>
          <p:cNvSpPr>
            <a:spLocks noChangeShapeType="1"/>
          </p:cNvSpPr>
          <p:nvPr/>
        </p:nvSpPr>
        <p:spPr bwMode="auto">
          <a:xfrm>
            <a:off x="981075" y="838200"/>
            <a:ext cx="8315325" cy="0"/>
          </a:xfrm>
          <a:prstGeom prst="line">
            <a:avLst/>
          </a:prstGeom>
          <a:noFill/>
          <a:ln w="9525">
            <a:solidFill>
              <a:srgbClr val="503126"/>
            </a:solidFill>
            <a:round/>
            <a:headEnd/>
            <a:tailEnd/>
          </a:ln>
        </p:spPr>
        <p:txBody>
          <a:bodyPr wrap="none" lIns="45720" rIns="45720" anchor="ctr"/>
          <a:lstStyle/>
          <a:p>
            <a:endParaRPr lang="en-US"/>
          </a:p>
        </p:txBody>
      </p:sp>
      <p:sp>
        <p:nvSpPr>
          <p:cNvPr id="5126" name="Text Box 24"/>
          <p:cNvSpPr txBox="1">
            <a:spLocks noChangeArrowheads="1"/>
          </p:cNvSpPr>
          <p:nvPr/>
        </p:nvSpPr>
        <p:spPr bwMode="auto">
          <a:xfrm>
            <a:off x="981074" y="5073650"/>
            <a:ext cx="3057526" cy="1089337"/>
          </a:xfrm>
          <a:prstGeom prst="rect">
            <a:avLst/>
          </a:prstGeom>
          <a:noFill/>
          <a:ln w="9525" algn="ctr">
            <a:noFill/>
            <a:miter lim="800000"/>
            <a:headEnd/>
            <a:tailEnd/>
          </a:ln>
        </p:spPr>
        <p:txBody>
          <a:bodyPr wrap="square" lIns="45720" rIns="45720">
            <a:spAutoFit/>
          </a:bodyPr>
          <a:lstStyle/>
          <a:p>
            <a:pPr algn="l"/>
            <a:r>
              <a:rPr lang="en-US" sz="1200" b="1" dirty="0">
                <a:solidFill>
                  <a:srgbClr val="4E8ABE"/>
                </a:solidFill>
              </a:rPr>
              <a:t>Media, Entertainment, and Advertising</a:t>
            </a:r>
          </a:p>
          <a:p>
            <a:pPr algn="l">
              <a:lnSpc>
                <a:spcPct val="120000"/>
              </a:lnSpc>
              <a:spcBef>
                <a:spcPct val="0"/>
              </a:spcBef>
            </a:pPr>
            <a:r>
              <a:rPr lang="en-US" sz="1200" b="1" dirty="0"/>
              <a:t>David Karnovsky </a:t>
            </a:r>
            <a:r>
              <a:rPr lang="en-US" sz="1200" baseline="30000" dirty="0"/>
              <a:t>AC</a:t>
            </a:r>
          </a:p>
          <a:p>
            <a:pPr algn="l">
              <a:lnSpc>
                <a:spcPct val="120000"/>
              </a:lnSpc>
              <a:spcBef>
                <a:spcPct val="0"/>
              </a:spcBef>
            </a:pPr>
            <a:r>
              <a:rPr lang="en-US" dirty="0"/>
              <a:t>(212) 622-1206</a:t>
            </a:r>
          </a:p>
          <a:p>
            <a:pPr algn="l">
              <a:lnSpc>
                <a:spcPct val="120000"/>
              </a:lnSpc>
              <a:spcBef>
                <a:spcPct val="0"/>
              </a:spcBef>
            </a:pPr>
            <a:r>
              <a:rPr lang="en-US" dirty="0">
                <a:hlinkClick r:id="rId8"/>
              </a:rPr>
              <a:t>david.karnovsky@jpmorgan.com</a:t>
            </a:r>
            <a:endParaRPr lang="en-US" dirty="0"/>
          </a:p>
          <a:p>
            <a:pPr algn="l">
              <a:lnSpc>
                <a:spcPct val="120000"/>
              </a:lnSpc>
              <a:spcBef>
                <a:spcPct val="0"/>
              </a:spcBef>
            </a:pPr>
            <a:r>
              <a:rPr lang="en-US" dirty="0"/>
              <a:t>J.P. Morgan Securities LLC</a:t>
            </a:r>
          </a:p>
        </p:txBody>
      </p:sp>
      <p:sp>
        <p:nvSpPr>
          <p:cNvPr id="5127" name="Text Box 25"/>
          <p:cNvSpPr txBox="1">
            <a:spLocks noChangeArrowheads="1"/>
          </p:cNvSpPr>
          <p:nvPr/>
        </p:nvSpPr>
        <p:spPr bwMode="auto">
          <a:xfrm>
            <a:off x="952500" y="6553200"/>
            <a:ext cx="8458200" cy="701675"/>
          </a:xfrm>
          <a:prstGeom prst="rect">
            <a:avLst/>
          </a:prstGeom>
          <a:noFill/>
          <a:ln w="9525" algn="ctr">
            <a:noFill/>
            <a:miter lim="800000"/>
            <a:headEnd/>
            <a:tailEnd/>
          </a:ln>
        </p:spPr>
        <p:txBody>
          <a:bodyPr lIns="45720" rIns="45720">
            <a:spAutoFit/>
          </a:bodyPr>
          <a:lstStyle/>
          <a:p>
            <a:pPr algn="l"/>
            <a:r>
              <a:rPr lang="en-US" sz="1000" b="1" dirty="0"/>
              <a:t>See the end pages of this presentation for analyst certification and important disclosures, including non-US analyst disclosures.</a:t>
            </a:r>
            <a:r>
              <a:rPr lang="en-US" sz="1000" dirty="0"/>
              <a:t> </a:t>
            </a:r>
            <a:br>
              <a:rPr lang="en-US" sz="1000" dirty="0"/>
            </a:br>
            <a:r>
              <a:rPr lang="en-US" sz="1000" dirty="0"/>
              <a:t>J.P. Morgan does and seeks to do business with companies covered in its research reports. As a result, investors should be aware that the firm may have a conflict of interest that could affect the objectivity of this report. Investors should consider this report as only a single factor in making their investment decision. </a:t>
            </a:r>
          </a:p>
        </p:txBody>
      </p:sp>
      <p:sp>
        <p:nvSpPr>
          <p:cNvPr id="5129" name="Text Box 27"/>
          <p:cNvSpPr txBox="1">
            <a:spLocks noChangeArrowheads="1"/>
          </p:cNvSpPr>
          <p:nvPr/>
        </p:nvSpPr>
        <p:spPr bwMode="auto">
          <a:xfrm>
            <a:off x="952500" y="2874456"/>
            <a:ext cx="8315325" cy="1877437"/>
          </a:xfrm>
          <a:prstGeom prst="rect">
            <a:avLst/>
          </a:prstGeom>
          <a:noFill/>
          <a:ln w="9525" algn="ctr">
            <a:noFill/>
            <a:miter lim="800000"/>
            <a:headEnd/>
            <a:tailEnd/>
          </a:ln>
        </p:spPr>
        <p:txBody>
          <a:bodyPr wrap="square" lIns="45720" rIns="45720">
            <a:spAutoFit/>
          </a:bodyPr>
          <a:lstStyle/>
          <a:p>
            <a:pPr algn="l">
              <a:spcBef>
                <a:spcPct val="0"/>
              </a:spcBef>
              <a:buFont typeface="Wingdings" pitchFamily="2" charset="2"/>
              <a:buNone/>
            </a:pPr>
            <a:r>
              <a:rPr lang="en-US" sz="1200" b="1" dirty="0">
                <a:solidFill>
                  <a:srgbClr val="4E8ABE"/>
                </a:solidFill>
              </a:rPr>
              <a:t>Conference Call Details</a:t>
            </a:r>
          </a:p>
          <a:p>
            <a:pPr algn="l">
              <a:spcBef>
                <a:spcPct val="0"/>
              </a:spcBef>
              <a:buFont typeface="Wingdings" pitchFamily="2" charset="2"/>
              <a:buNone/>
            </a:pPr>
            <a:r>
              <a:rPr lang="en-US" b="1" dirty="0"/>
              <a:t>Thursday, December 12</a:t>
            </a:r>
            <a:r>
              <a:rPr lang="en-US" dirty="0"/>
              <a:t> </a:t>
            </a:r>
            <a:r>
              <a:rPr lang="en-US" b="1" dirty="0"/>
              <a:t>@ 11:00am ET / 16:00 UK</a:t>
            </a:r>
            <a:r>
              <a:rPr lang="en-US" dirty="0"/>
              <a:t> </a:t>
            </a:r>
          </a:p>
          <a:p>
            <a:pPr marL="0" marR="0" algn="l">
              <a:spcBef>
                <a:spcPts val="0"/>
              </a:spcBef>
              <a:spcAft>
                <a:spcPts val="0"/>
              </a:spcAft>
            </a:pPr>
            <a:endParaRPr lang="en-US" b="1" dirty="0">
              <a:solidFill>
                <a:srgbClr val="1F1F1F"/>
              </a:solidFill>
              <a:effectLst/>
              <a:latin typeface="+mj-lt"/>
              <a:ea typeface="Calibri" panose="020F0502020204030204" pitchFamily="34" charset="0"/>
            </a:endParaRPr>
          </a:p>
          <a:p>
            <a:pPr marL="0" marR="0" algn="l">
              <a:spcBef>
                <a:spcPts val="0"/>
              </a:spcBef>
              <a:spcAft>
                <a:spcPts val="0"/>
              </a:spcAft>
            </a:pPr>
            <a:r>
              <a:rPr lang="en-US" b="1" dirty="0">
                <a:solidFill>
                  <a:srgbClr val="1F1F1F"/>
                </a:solidFill>
                <a:effectLst/>
                <a:latin typeface="+mj-lt"/>
                <a:ea typeface="Calibri" panose="020F0502020204030204" pitchFamily="34" charset="0"/>
              </a:rPr>
              <a:t>Pre-registration Required:</a:t>
            </a:r>
            <a:r>
              <a:rPr lang="en-US" b="1" dirty="0">
                <a:solidFill>
                  <a:srgbClr val="000000"/>
                </a:solidFill>
                <a:effectLst/>
                <a:latin typeface="+mj-lt"/>
                <a:ea typeface="Calibri" panose="020F0502020204030204" pitchFamily="34" charset="0"/>
              </a:rPr>
              <a:t> </a:t>
            </a:r>
            <a:r>
              <a:rPr lang="en-US" dirty="0">
                <a:solidFill>
                  <a:srgbClr val="222222"/>
                </a:solidFill>
                <a:effectLst/>
                <a:latin typeface="+mj-lt"/>
                <a:ea typeface="Calibri" panose="020F0502020204030204" pitchFamily="34" charset="0"/>
              </a:rPr>
              <a:t>Please register your attendance</a:t>
            </a:r>
            <a:r>
              <a:rPr lang="en-US" b="1" dirty="0">
                <a:solidFill>
                  <a:srgbClr val="222222"/>
                </a:solidFill>
                <a:effectLst/>
                <a:latin typeface="+mj-lt"/>
                <a:ea typeface="Calibri" panose="020F0502020204030204" pitchFamily="34" charset="0"/>
              </a:rPr>
              <a:t> </a:t>
            </a:r>
            <a:r>
              <a:rPr lang="en-US" b="1" u="sng" dirty="0">
                <a:solidFill>
                  <a:srgbClr val="5B9BD5"/>
                </a:solidFill>
                <a:effectLst/>
                <a:latin typeface="+mj-lt"/>
                <a:ea typeface="Calibri" panose="020F0502020204030204" pitchFamily="34" charset="0"/>
                <a:hlinkClick r:id="rId9"/>
              </a:rPr>
              <a:t>here</a:t>
            </a:r>
            <a:r>
              <a:rPr lang="en-US" b="1" dirty="0">
                <a:solidFill>
                  <a:srgbClr val="5B9BD5"/>
                </a:solidFill>
                <a:effectLst/>
                <a:latin typeface="+mj-lt"/>
                <a:ea typeface="Calibri" panose="020F0502020204030204" pitchFamily="34" charset="0"/>
              </a:rPr>
              <a:t> </a:t>
            </a:r>
            <a:endParaRPr lang="en-US" dirty="0">
              <a:effectLst/>
              <a:latin typeface="+mj-lt"/>
              <a:ea typeface="Calibri" panose="020F0502020204030204" pitchFamily="34" charset="0"/>
            </a:endParaRPr>
          </a:p>
          <a:p>
            <a:pPr marL="0" marR="0" algn="l">
              <a:lnSpc>
                <a:spcPts val="1200"/>
              </a:lnSpc>
              <a:spcBef>
                <a:spcPts val="0"/>
              </a:spcBef>
              <a:spcAft>
                <a:spcPts val="0"/>
              </a:spcAft>
            </a:pPr>
            <a:r>
              <a:rPr lang="en-US" dirty="0">
                <a:solidFill>
                  <a:srgbClr val="000000"/>
                </a:solidFill>
                <a:effectLst/>
                <a:latin typeface="+mj-lt"/>
                <a:ea typeface="Calibri" panose="020F0502020204030204" pitchFamily="34" charset="0"/>
              </a:rPr>
              <a:t> </a:t>
            </a:r>
            <a:endParaRPr lang="en-US" dirty="0">
              <a:effectLst/>
              <a:latin typeface="+mj-lt"/>
              <a:ea typeface="Calibri" panose="020F0502020204030204" pitchFamily="34" charset="0"/>
            </a:endParaRPr>
          </a:p>
          <a:p>
            <a:pPr marL="0" marR="0" algn="l">
              <a:lnSpc>
                <a:spcPts val="1200"/>
              </a:lnSpc>
              <a:spcBef>
                <a:spcPts val="0"/>
              </a:spcBef>
              <a:spcAft>
                <a:spcPts val="0"/>
              </a:spcAft>
            </a:pPr>
            <a:r>
              <a:rPr lang="en-US" b="1" dirty="0">
                <a:solidFill>
                  <a:srgbClr val="000000"/>
                </a:solidFill>
                <a:effectLst/>
                <a:latin typeface="+mj-lt"/>
                <a:ea typeface="Calibri" panose="020F0502020204030204" pitchFamily="34" charset="0"/>
              </a:rPr>
              <a:t>Replay</a:t>
            </a:r>
            <a:r>
              <a:rPr lang="en-US" b="1" dirty="0">
                <a:solidFill>
                  <a:srgbClr val="1F1F1F"/>
                </a:solidFill>
                <a:effectLst/>
                <a:latin typeface="+mj-lt"/>
                <a:ea typeface="Calibri" panose="020F0502020204030204" pitchFamily="34" charset="0"/>
              </a:rPr>
              <a:t>:</a:t>
            </a:r>
            <a:r>
              <a:rPr lang="en-US" b="1" dirty="0">
                <a:solidFill>
                  <a:srgbClr val="000000"/>
                </a:solidFill>
                <a:latin typeface="+mj-lt"/>
                <a:ea typeface="Calibri" panose="020F0502020204030204" pitchFamily="34" charset="0"/>
              </a:rPr>
              <a:t> </a:t>
            </a:r>
            <a:r>
              <a:rPr lang="en-US" u="sng" dirty="0">
                <a:solidFill>
                  <a:srgbClr val="0563C1"/>
                </a:solidFill>
                <a:effectLst/>
                <a:latin typeface="+mj-lt"/>
                <a:ea typeface="Calibri" panose="020F0502020204030204" pitchFamily="34" charset="0"/>
                <a:hlinkClick r:id="rId9"/>
              </a:rPr>
              <a:t>https://www.netroadshow.com/events/login?show=f56fa483&amp;confId=73280</a:t>
            </a:r>
            <a:endParaRPr lang="en-US" dirty="0">
              <a:effectLst/>
              <a:latin typeface="+mj-lt"/>
              <a:ea typeface="Calibri" panose="020F0502020204030204" pitchFamily="34" charset="0"/>
            </a:endParaRPr>
          </a:p>
          <a:p>
            <a:pPr marL="0" marR="0" algn="l">
              <a:lnSpc>
                <a:spcPts val="1200"/>
              </a:lnSpc>
              <a:spcBef>
                <a:spcPts val="0"/>
              </a:spcBef>
              <a:spcAft>
                <a:spcPts val="0"/>
              </a:spcAft>
            </a:pPr>
            <a:r>
              <a:rPr lang="en-US" dirty="0">
                <a:solidFill>
                  <a:srgbClr val="000000"/>
                </a:solidFill>
                <a:effectLst/>
                <a:latin typeface="+mj-lt"/>
                <a:ea typeface="Calibri" panose="020F0502020204030204" pitchFamily="34" charset="0"/>
              </a:rPr>
              <a:t>Available approximately 2-3 hours after the call ends.   Go to the Replay tab to access.</a:t>
            </a:r>
            <a:endParaRPr lang="en-US" dirty="0">
              <a:effectLst/>
              <a:latin typeface="+mj-lt"/>
              <a:ea typeface="Calibri" panose="020F0502020204030204" pitchFamily="34" charset="0"/>
            </a:endParaRPr>
          </a:p>
          <a:p>
            <a:pPr marL="0" marR="0" algn="l">
              <a:lnSpc>
                <a:spcPts val="1200"/>
              </a:lnSpc>
              <a:spcBef>
                <a:spcPts val="0"/>
              </a:spcBef>
              <a:spcAft>
                <a:spcPts val="0"/>
              </a:spcAft>
            </a:pPr>
            <a:r>
              <a:rPr lang="en-US" b="1" dirty="0">
                <a:solidFill>
                  <a:srgbClr val="222222"/>
                </a:solidFill>
                <a:effectLst/>
                <a:latin typeface="+mj-lt"/>
                <a:ea typeface="Calibri" panose="020F0502020204030204" pitchFamily="34" charset="0"/>
              </a:rPr>
              <a:t> </a:t>
            </a:r>
            <a:r>
              <a:rPr lang="en-US" b="1" dirty="0">
                <a:solidFill>
                  <a:srgbClr val="000000"/>
                </a:solidFill>
                <a:effectLst/>
                <a:latin typeface="+mj-lt"/>
                <a:ea typeface="Calibri" panose="020F0502020204030204" pitchFamily="34" charset="0"/>
              </a:rPr>
              <a:t> </a:t>
            </a:r>
            <a:endParaRPr lang="en-US" dirty="0">
              <a:effectLst/>
              <a:latin typeface="+mj-lt"/>
              <a:ea typeface="Calibri" panose="020F0502020204030204" pitchFamily="34" charset="0"/>
            </a:endParaRPr>
          </a:p>
          <a:p>
            <a:pPr marL="0" marR="0" algn="l">
              <a:lnSpc>
                <a:spcPts val="1200"/>
              </a:lnSpc>
              <a:spcBef>
                <a:spcPts val="0"/>
              </a:spcBef>
              <a:spcAft>
                <a:spcPts val="0"/>
              </a:spcAft>
            </a:pPr>
            <a:r>
              <a:rPr lang="en-US" b="1" dirty="0">
                <a:solidFill>
                  <a:srgbClr val="000000"/>
                </a:solidFill>
                <a:effectLst/>
                <a:latin typeface="+mj-lt"/>
                <a:ea typeface="Calibri" panose="020F0502020204030204" pitchFamily="34" charset="0"/>
              </a:rPr>
              <a:t>Audio Podcast: </a:t>
            </a:r>
            <a:r>
              <a:rPr lang="en-US" u="sng" dirty="0">
                <a:solidFill>
                  <a:srgbClr val="0563C1"/>
                </a:solidFill>
                <a:effectLst/>
                <a:latin typeface="+mj-lt"/>
                <a:ea typeface="Calibri" panose="020F0502020204030204" pitchFamily="34" charset="0"/>
                <a:hlinkClick r:id="rId10"/>
              </a:rPr>
              <a:t>Click here</a:t>
            </a:r>
            <a:r>
              <a:rPr lang="en-US" b="1" dirty="0">
                <a:solidFill>
                  <a:srgbClr val="5B9BD5"/>
                </a:solidFill>
                <a:effectLst/>
                <a:latin typeface="+mj-lt"/>
                <a:ea typeface="Calibri" panose="020F0502020204030204" pitchFamily="34" charset="0"/>
              </a:rPr>
              <a:t> </a:t>
            </a:r>
            <a:r>
              <a:rPr lang="en-US" b="1" dirty="0">
                <a:solidFill>
                  <a:srgbClr val="000000"/>
                </a:solidFill>
                <a:effectLst/>
                <a:latin typeface="+mj-lt"/>
                <a:ea typeface="Calibri" panose="020F0502020204030204" pitchFamily="34" charset="0"/>
              </a:rPr>
              <a:t>to find on J.P. Morgan Markets </a:t>
            </a:r>
            <a:endParaRPr lang="en-US" dirty="0">
              <a:effectLst/>
              <a:latin typeface="+mj-lt"/>
              <a:ea typeface="Calibri" panose="020F0502020204030204" pitchFamily="34" charset="0"/>
            </a:endParaRPr>
          </a:p>
          <a:p>
            <a:pPr marL="0" marR="0" algn="l">
              <a:lnSpc>
                <a:spcPts val="1200"/>
              </a:lnSpc>
              <a:spcBef>
                <a:spcPts val="0"/>
              </a:spcBef>
              <a:spcAft>
                <a:spcPts val="0"/>
              </a:spcAft>
            </a:pPr>
            <a:r>
              <a:rPr lang="en-US" dirty="0">
                <a:solidFill>
                  <a:srgbClr val="000000"/>
                </a:solidFill>
                <a:effectLst/>
                <a:latin typeface="+mj-lt"/>
                <a:ea typeface="Calibri" panose="020F0502020204030204" pitchFamily="34" charset="0"/>
              </a:rPr>
              <a:t>Available within 24hrs after the call ends.  </a:t>
            </a:r>
            <a:endParaRPr lang="en-US" dirty="0">
              <a:effectLst/>
              <a:latin typeface="+mj-lt"/>
              <a:ea typeface="Calibri" panose="020F0502020204030204" pitchFamily="34" charset="0"/>
            </a:endParaRPr>
          </a:p>
          <a:p>
            <a:pPr algn="l">
              <a:spcBef>
                <a:spcPct val="0"/>
              </a:spcBef>
              <a:buFont typeface="Wingdings" pitchFamily="2" charset="2"/>
              <a:buNone/>
            </a:pPr>
            <a:endParaRPr lang="en-US" dirty="0"/>
          </a:p>
        </p:txBody>
      </p:sp>
      <p:pic>
        <p:nvPicPr>
          <p:cNvPr id="5130" name="Picture 30"/>
          <p:cNvPicPr>
            <a:picLocks noChangeAspect="1" noChangeArrowheads="1"/>
          </p:cNvPicPr>
          <p:nvPr/>
        </p:nvPicPr>
        <p:blipFill>
          <a:blip r:embed="rId11" cstate="print"/>
          <a:srcRect t="9476" b="4996"/>
          <a:stretch>
            <a:fillRect/>
          </a:stretch>
        </p:blipFill>
        <p:spPr bwMode="auto">
          <a:xfrm>
            <a:off x="0" y="0"/>
            <a:ext cx="758825" cy="7772400"/>
          </a:xfrm>
          <a:prstGeom prst="rect">
            <a:avLst/>
          </a:prstGeom>
          <a:noFill/>
          <a:ln w="9525">
            <a:noFill/>
            <a:miter lim="800000"/>
            <a:headEnd/>
            <a:tailEnd/>
          </a:ln>
        </p:spPr>
      </p:pic>
      <p:sp>
        <p:nvSpPr>
          <p:cNvPr id="5131" name="jpmDate"/>
          <p:cNvSpPr txBox="1">
            <a:spLocks noChangeArrowheads="1"/>
          </p:cNvSpPr>
          <p:nvPr>
            <p:custDataLst>
              <p:tags r:id="rId4"/>
            </p:custDataLst>
          </p:nvPr>
        </p:nvSpPr>
        <p:spPr bwMode="auto">
          <a:xfrm>
            <a:off x="6556375" y="228600"/>
            <a:ext cx="2743200" cy="457200"/>
          </a:xfrm>
          <a:prstGeom prst="rect">
            <a:avLst/>
          </a:prstGeom>
          <a:noFill/>
          <a:ln w="9525">
            <a:noFill/>
            <a:miter lim="800000"/>
            <a:headEnd/>
            <a:tailEnd/>
          </a:ln>
        </p:spPr>
        <p:txBody>
          <a:bodyPr wrap="none" lIns="0" tIns="0" rIns="0" bIns="0" anchor="b"/>
          <a:lstStyle/>
          <a:p>
            <a:pPr algn="r">
              <a:lnSpc>
                <a:spcPts val="1500"/>
              </a:lnSpc>
              <a:spcBef>
                <a:spcPct val="0"/>
              </a:spcBef>
            </a:pPr>
            <a:r>
              <a:rPr lang="en-US" b="1" dirty="0">
                <a:solidFill>
                  <a:srgbClr val="4E8ABE"/>
                </a:solidFill>
              </a:rPr>
              <a:t>North America Equity Research</a:t>
            </a:r>
          </a:p>
          <a:p>
            <a:pPr algn="r">
              <a:lnSpc>
                <a:spcPts val="1500"/>
              </a:lnSpc>
              <a:spcBef>
                <a:spcPct val="0"/>
              </a:spcBef>
            </a:pPr>
            <a:r>
              <a:rPr lang="en-US" dirty="0"/>
              <a:t>December 2024</a:t>
            </a:r>
            <a:endParaRPr lang="en-US" noProof="1"/>
          </a:p>
        </p:txBody>
      </p:sp>
      <p:sp>
        <p:nvSpPr>
          <p:cNvPr id="11" name="Text Box 24">
            <a:extLst>
              <a:ext uri="{FF2B5EF4-FFF2-40B4-BE49-F238E27FC236}">
                <a16:creationId xmlns:a16="http://schemas.microsoft.com/office/drawing/2014/main" id="{DFA4C362-B7CA-4F04-A7D0-46487FEE085B}"/>
              </a:ext>
            </a:extLst>
          </p:cNvPr>
          <p:cNvSpPr txBox="1">
            <a:spLocks noChangeArrowheads="1"/>
          </p:cNvSpPr>
          <p:nvPr/>
        </p:nvSpPr>
        <p:spPr bwMode="auto">
          <a:xfrm>
            <a:off x="3995737" y="5267549"/>
            <a:ext cx="2286000" cy="904671"/>
          </a:xfrm>
          <a:prstGeom prst="rect">
            <a:avLst/>
          </a:prstGeom>
          <a:noFill/>
          <a:ln w="9525" algn="ctr">
            <a:noFill/>
            <a:miter lim="800000"/>
            <a:headEnd/>
            <a:tailEnd/>
          </a:ln>
        </p:spPr>
        <p:txBody>
          <a:bodyPr wrap="square" lIns="45720" rIns="45720">
            <a:spAutoFit/>
          </a:bodyPr>
          <a:lstStyle/>
          <a:p>
            <a:pPr algn="l">
              <a:lnSpc>
                <a:spcPct val="120000"/>
              </a:lnSpc>
              <a:spcBef>
                <a:spcPct val="0"/>
              </a:spcBef>
            </a:pPr>
            <a:r>
              <a:rPr lang="en-US" sz="1200" b="1" dirty="0"/>
              <a:t>Douglas Wardlaw </a:t>
            </a:r>
            <a:endParaRPr lang="en-US" sz="1200" baseline="30000" dirty="0"/>
          </a:p>
          <a:p>
            <a:pPr algn="l">
              <a:lnSpc>
                <a:spcPct val="120000"/>
              </a:lnSpc>
              <a:spcBef>
                <a:spcPct val="0"/>
              </a:spcBef>
            </a:pPr>
            <a:r>
              <a:rPr lang="en-US" dirty="0"/>
              <a:t>(212) 622-4885</a:t>
            </a:r>
          </a:p>
          <a:p>
            <a:pPr algn="l">
              <a:lnSpc>
                <a:spcPct val="120000"/>
              </a:lnSpc>
              <a:spcBef>
                <a:spcPct val="0"/>
              </a:spcBef>
            </a:pPr>
            <a:r>
              <a:rPr lang="en-US" dirty="0">
                <a:hlinkClick r:id="rId12"/>
              </a:rPr>
              <a:t>douglas.wardlaw@jpmchase.com</a:t>
            </a:r>
            <a:endParaRPr lang="en-US" dirty="0"/>
          </a:p>
          <a:p>
            <a:pPr algn="l">
              <a:lnSpc>
                <a:spcPct val="120000"/>
              </a:lnSpc>
              <a:spcBef>
                <a:spcPct val="0"/>
              </a:spcBef>
            </a:pPr>
            <a:endParaRPr lang="en-US" dirty="0"/>
          </a:p>
        </p:txBody>
      </p:sp>
      <p:sp>
        <p:nvSpPr>
          <p:cNvPr id="2" name="Text Box 24">
            <a:extLst>
              <a:ext uri="{FF2B5EF4-FFF2-40B4-BE49-F238E27FC236}">
                <a16:creationId xmlns:a16="http://schemas.microsoft.com/office/drawing/2014/main" id="{73BAF263-BED4-707C-177E-7D38F4C0F5FE}"/>
              </a:ext>
            </a:extLst>
          </p:cNvPr>
          <p:cNvSpPr txBox="1">
            <a:spLocks noChangeArrowheads="1"/>
          </p:cNvSpPr>
          <p:nvPr/>
        </p:nvSpPr>
        <p:spPr bwMode="auto">
          <a:xfrm>
            <a:off x="6584950" y="5267549"/>
            <a:ext cx="3057526" cy="701539"/>
          </a:xfrm>
          <a:prstGeom prst="rect">
            <a:avLst/>
          </a:prstGeom>
          <a:noFill/>
          <a:ln w="9525" algn="ctr">
            <a:noFill/>
            <a:miter lim="800000"/>
            <a:headEnd/>
            <a:tailEnd/>
          </a:ln>
        </p:spPr>
        <p:txBody>
          <a:bodyPr wrap="square" lIns="45720" rIns="45720">
            <a:spAutoFit/>
          </a:bodyPr>
          <a:lstStyle/>
          <a:p>
            <a:pPr algn="l">
              <a:lnSpc>
                <a:spcPct val="120000"/>
              </a:lnSpc>
              <a:spcBef>
                <a:spcPct val="0"/>
              </a:spcBef>
            </a:pPr>
            <a:r>
              <a:rPr lang="en-US" sz="1200" b="1" dirty="0"/>
              <a:t>Kiscada Hastings</a:t>
            </a:r>
            <a:endParaRPr lang="en-US" sz="1200" baseline="30000" dirty="0"/>
          </a:p>
          <a:p>
            <a:pPr algn="l">
              <a:lnSpc>
                <a:spcPct val="120000"/>
              </a:lnSpc>
              <a:spcBef>
                <a:spcPct val="0"/>
              </a:spcBef>
            </a:pPr>
            <a:r>
              <a:rPr lang="en-US" dirty="0"/>
              <a:t>(212) 622-0226</a:t>
            </a:r>
          </a:p>
          <a:p>
            <a:pPr algn="l">
              <a:lnSpc>
                <a:spcPct val="120000"/>
              </a:lnSpc>
              <a:spcBef>
                <a:spcPct val="0"/>
              </a:spcBef>
            </a:pPr>
            <a:r>
              <a:rPr lang="en-US" dirty="0">
                <a:hlinkClick r:id="rId13"/>
              </a:rPr>
              <a:t>kiscada.hastings@jpmchase.com</a:t>
            </a:r>
            <a:endParaRPr lang="en-US" dirty="0"/>
          </a:p>
        </p:txBody>
      </p:sp>
    </p:spTree>
    <p:custDataLst>
      <p:tags r:id="rId1"/>
    </p:custData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4"/>
          <p:cNvSpPr>
            <a:spLocks noGrp="1" noChangeArrowheads="1"/>
          </p:cNvSpPr>
          <p:nvPr>
            <p:ph type="ctrTitle"/>
            <p:custDataLst>
              <p:tags r:id="rId2"/>
            </p:custDataLst>
          </p:nvPr>
        </p:nvSpPr>
        <p:spPr>
          <a:xfrm>
            <a:off x="2130425" y="1828800"/>
            <a:ext cx="5943600" cy="301625"/>
          </a:xfrm>
        </p:spPr>
        <p:txBody>
          <a:bodyPr lIns="91440" tIns="45720" rIns="320040" bIns="45720" anchor="t"/>
          <a:lstStyle/>
          <a:p>
            <a:pPr>
              <a:lnSpc>
                <a:spcPct val="100000"/>
              </a:lnSpc>
            </a:pPr>
            <a:r>
              <a:rPr lang="en-US" sz="1400" dirty="0">
                <a:solidFill>
                  <a:schemeClr val="tx1"/>
                </a:solidFill>
                <a:highlight>
                  <a:srgbClr val="FFFFFF"/>
                </a:highlight>
              </a:rPr>
              <a:t>J.P. Morgan 2025 Media, Entertainment, and Advertising Outlook </a:t>
            </a:r>
          </a:p>
        </p:txBody>
      </p:sp>
      <p:sp>
        <p:nvSpPr>
          <p:cNvPr id="6147" name="Rectangle 15"/>
          <p:cNvSpPr>
            <a:spLocks noGrp="1" noChangeArrowheads="1"/>
          </p:cNvSpPr>
          <p:nvPr>
            <p:ph type="subTitle" idx="1"/>
            <p:custDataLst>
              <p:tags r:id="rId3"/>
            </p:custDataLst>
          </p:nvPr>
        </p:nvSpPr>
        <p:spPr bwMode="auto">
          <a:xfrm>
            <a:off x="2130424" y="2130425"/>
            <a:ext cx="6937376" cy="4050789"/>
          </a:xfrm>
        </p:spPr>
        <p:txBody>
          <a:bodyPr lIns="91440" rIns="0"/>
          <a:lstStyle/>
          <a:p>
            <a:pPr marL="228600" indent="-228600">
              <a:buClr>
                <a:srgbClr val="7397BC"/>
              </a:buClr>
              <a:buSzPct val="92000"/>
              <a:buFont typeface="Wingdings" pitchFamily="2" charset="2"/>
              <a:buChar char=""/>
              <a:tabLst>
                <a:tab pos="5810250" algn="r"/>
              </a:tabLst>
            </a:pPr>
            <a:r>
              <a:rPr lang="en-US" dirty="0"/>
              <a:t>2024: In Review</a:t>
            </a:r>
          </a:p>
          <a:p>
            <a:pPr marL="228600" indent="-228600">
              <a:buClr>
                <a:srgbClr val="7397BC"/>
              </a:buClr>
              <a:buSzPct val="92000"/>
              <a:buFont typeface="Wingdings" pitchFamily="2" charset="2"/>
              <a:buChar char=""/>
              <a:tabLst>
                <a:tab pos="5810250" algn="r"/>
              </a:tabLst>
            </a:pPr>
            <a:r>
              <a:rPr lang="en-US" dirty="0"/>
              <a:t>Looking Ahead into 2025</a:t>
            </a:r>
          </a:p>
          <a:p>
            <a:pPr marL="228600" indent="-228600">
              <a:buClr>
                <a:srgbClr val="7397BC"/>
              </a:buClr>
              <a:buSzPct val="92000"/>
              <a:buFont typeface="Wingdings" pitchFamily="2" charset="2"/>
              <a:buChar char=""/>
              <a:tabLst>
                <a:tab pos="5810250" algn="r"/>
              </a:tabLst>
            </a:pPr>
            <a:r>
              <a:rPr lang="en-US" dirty="0"/>
              <a:t>Sectors and Stocks</a:t>
            </a:r>
          </a:p>
          <a:p>
            <a:pPr marL="309563" lvl="2" indent="-228600">
              <a:buFont typeface="Wingdings" pitchFamily="2" charset="2"/>
              <a:buChar char=""/>
              <a:tabLst>
                <a:tab pos="5810250" algn="r"/>
              </a:tabLst>
            </a:pPr>
            <a:r>
              <a:rPr lang="en-US" dirty="0"/>
              <a:t>Media (DIS, WBD, PARA, FOXA, LGF/A)</a:t>
            </a:r>
          </a:p>
          <a:p>
            <a:pPr marL="309563" lvl="2" indent="-228600">
              <a:buFont typeface="Wingdings" pitchFamily="2" charset="2"/>
              <a:buChar char=""/>
              <a:tabLst>
                <a:tab pos="5810250" algn="r"/>
              </a:tabLst>
            </a:pPr>
            <a:r>
              <a:rPr lang="en-US" dirty="0"/>
              <a:t>Broadcast and Cable (SBGI, TGNA, AMCX)</a:t>
            </a:r>
          </a:p>
          <a:p>
            <a:pPr marL="309563" lvl="2" indent="-228600">
              <a:buFont typeface="Wingdings" pitchFamily="2" charset="2"/>
              <a:buChar char=""/>
              <a:tabLst>
                <a:tab pos="5810250" algn="r"/>
              </a:tabLst>
            </a:pPr>
            <a:r>
              <a:rPr lang="en-US" dirty="0"/>
              <a:t>Ad Agencies (IPG, OMC)</a:t>
            </a:r>
          </a:p>
          <a:p>
            <a:pPr marL="309563" lvl="2" indent="-228600">
              <a:buFont typeface="Wingdings" pitchFamily="2" charset="2"/>
              <a:buChar char=""/>
              <a:tabLst>
                <a:tab pos="5810250" algn="r"/>
              </a:tabLst>
            </a:pPr>
            <a:r>
              <a:rPr lang="en-US" dirty="0"/>
              <a:t>Live Entertainment (LYV, MSGE, SPHR)</a:t>
            </a:r>
          </a:p>
          <a:p>
            <a:pPr marL="309563" lvl="2" indent="-228600">
              <a:buFont typeface="Wingdings" pitchFamily="2" charset="2"/>
              <a:buChar char=""/>
              <a:tabLst>
                <a:tab pos="5810250" algn="r"/>
              </a:tabLst>
            </a:pPr>
            <a:r>
              <a:rPr lang="en-US" dirty="0"/>
              <a:t>Sports (TKO, FWONK, MSGS) </a:t>
            </a:r>
          </a:p>
          <a:p>
            <a:pPr marL="309563" lvl="2" indent="-228600">
              <a:buFont typeface="Wingdings" pitchFamily="2" charset="2"/>
              <a:buChar char=""/>
              <a:tabLst>
                <a:tab pos="5810250" algn="r"/>
              </a:tabLst>
            </a:pPr>
            <a:r>
              <a:rPr lang="en-US" dirty="0"/>
              <a:t>Film Exhibition (CNK, IMAX)</a:t>
            </a:r>
          </a:p>
          <a:p>
            <a:pPr marL="309563" lvl="2" indent="-228600">
              <a:buFont typeface="Wingdings" pitchFamily="2" charset="2"/>
              <a:buChar char=""/>
              <a:tabLst>
                <a:tab pos="5810250" algn="r"/>
              </a:tabLst>
            </a:pPr>
            <a:r>
              <a:rPr lang="en-US" dirty="0"/>
              <a:t>News and Information (NYT, NWSA)</a:t>
            </a:r>
          </a:p>
          <a:p>
            <a:pPr marL="309563" lvl="2" indent="-228600">
              <a:buFont typeface="Wingdings" pitchFamily="2" charset="2"/>
              <a:buChar char=""/>
              <a:tabLst>
                <a:tab pos="5810250" algn="r"/>
              </a:tabLst>
            </a:pPr>
            <a:r>
              <a:rPr lang="en-US" dirty="0"/>
              <a:t>Music (WMG)</a:t>
            </a:r>
          </a:p>
          <a:p>
            <a:pPr marL="309563" lvl="2" indent="-228600">
              <a:buFont typeface="Wingdings" pitchFamily="2" charset="2"/>
              <a:buChar char=""/>
              <a:tabLst>
                <a:tab pos="5810250" algn="r"/>
              </a:tabLst>
            </a:pPr>
            <a:r>
              <a:rPr lang="en-US" dirty="0"/>
              <a:t>Outdoor Advertising (OUT, CCO, LAMR)</a:t>
            </a:r>
          </a:p>
          <a:p>
            <a:pPr marL="309563" lvl="2" indent="-228600">
              <a:buFont typeface="Wingdings" pitchFamily="2" charset="2"/>
              <a:buChar char=""/>
              <a:tabLst>
                <a:tab pos="5810250" algn="r"/>
              </a:tabLst>
            </a:pPr>
            <a:endParaRPr lang="en-US" dirty="0"/>
          </a:p>
          <a:p>
            <a:pPr marL="309563" lvl="2" indent="-228600">
              <a:buFont typeface="Wingdings" pitchFamily="2" charset="2"/>
              <a:buChar char=""/>
              <a:tabLst>
                <a:tab pos="5810250" algn="r"/>
              </a:tabLst>
            </a:pPr>
            <a:endParaRPr lang="en-US" dirty="0"/>
          </a:p>
          <a:p>
            <a:pPr marL="228600" indent="-228600">
              <a:buClr>
                <a:srgbClr val="7397BC"/>
              </a:buClr>
              <a:buSzPct val="92000"/>
              <a:buFont typeface="Wingdings" pitchFamily="2" charset="2"/>
              <a:buChar char=""/>
              <a:tabLst>
                <a:tab pos="5810250" algn="r"/>
              </a:tabLst>
            </a:pPr>
            <a:endParaRPr lang="en-US" dirty="0"/>
          </a:p>
        </p:txBody>
      </p:sp>
      <p:sp>
        <p:nvSpPr>
          <p:cNvPr id="6149" name="Text Box 17"/>
          <p:cNvSpPr txBox="1">
            <a:spLocks noChangeArrowheads="1"/>
          </p:cNvSpPr>
          <p:nvPr>
            <p:custDataLst>
              <p:tags r:id="rId4"/>
            </p:custDataLst>
          </p:nvPr>
        </p:nvSpPr>
        <p:spPr bwMode="auto">
          <a:xfrm rot="-5400000">
            <a:off x="-2129631" y="4507706"/>
            <a:ext cx="5532438" cy="136525"/>
          </a:xfrm>
          <a:prstGeom prst="rect">
            <a:avLst/>
          </a:prstGeom>
          <a:noFill/>
          <a:ln w="9525">
            <a:noFill/>
            <a:miter lim="800000"/>
            <a:headEnd/>
            <a:tailEnd/>
          </a:ln>
        </p:spPr>
        <p:txBody>
          <a:bodyPr vert="eaVert" wrap="none" lIns="0" tIns="0" rIns="0" bIns="0" anchor="b"/>
          <a:lstStyle/>
          <a:p>
            <a:pPr algn="l">
              <a:lnSpc>
                <a:spcPts val="1200"/>
              </a:lnSpc>
              <a:spcBef>
                <a:spcPct val="0"/>
              </a:spcBef>
            </a:pPr>
            <a:endParaRPr lang="en-US"/>
          </a:p>
        </p:txBody>
      </p:sp>
      <p:sp>
        <p:nvSpPr>
          <p:cNvPr id="2" name="Rectangle 1"/>
          <p:cNvSpPr/>
          <p:nvPr/>
        </p:nvSpPr>
        <p:spPr bwMode="auto">
          <a:xfrm>
            <a:off x="7467600" y="1143000"/>
            <a:ext cx="914400" cy="666749"/>
          </a:xfrm>
          <a:prstGeom prst="rect">
            <a:avLst/>
          </a:prstGeom>
          <a:solidFill>
            <a:schemeClr val="bg1"/>
          </a:solidFill>
          <a:ln w="9525" cap="flat" cmpd="sng" algn="ctr">
            <a:noFill/>
            <a:prstDash val="solid"/>
            <a:round/>
            <a:headEnd type="none" w="med" len="med"/>
            <a:tailEnd type="none" w="med" len="med"/>
          </a:ln>
          <a:effectLst/>
        </p:spPr>
        <p:txBody>
          <a:bodyPr vert="horz" wrap="none" lIns="45720" tIns="45720" rIns="4572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100" b="0" i="0" u="none" strike="noStrike" cap="none" normalizeH="0" baseline="0">
              <a:ln>
                <a:noFill/>
              </a:ln>
              <a:solidFill>
                <a:schemeClr val="tx1"/>
              </a:solidFill>
              <a:effectLst/>
              <a:latin typeface="Arial" charset="0"/>
            </a:endParaRPr>
          </a:p>
        </p:txBody>
      </p:sp>
    </p:spTree>
    <p:custDataLst>
      <p:tags r:id="rId1"/>
    </p:custData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solidFill>
                  <a:srgbClr val="000000"/>
                </a:solidFill>
              </a:rPr>
              <a:t>2024 Year in Review</a:t>
            </a:r>
            <a:endParaRPr lang="en-US" dirty="0"/>
          </a:p>
        </p:txBody>
      </p:sp>
      <p:sp>
        <p:nvSpPr>
          <p:cNvPr id="7171" name="Rectangle 3"/>
          <p:cNvSpPr>
            <a:spLocks noGrp="1" noChangeArrowheads="1"/>
          </p:cNvSpPr>
          <p:nvPr>
            <p:ph type="body" idx="1"/>
          </p:nvPr>
        </p:nvSpPr>
        <p:spPr>
          <a:xfrm>
            <a:off x="757237" y="1304964"/>
            <a:ext cx="5110159" cy="6238836"/>
          </a:xfrm>
        </p:spPr>
        <p:txBody>
          <a:bodyPr/>
          <a:lstStyle/>
          <a:p>
            <a:pPr lvl="1"/>
            <a:r>
              <a:rPr lang="en-US" dirty="0">
                <a:solidFill>
                  <a:schemeClr val="tx1"/>
                </a:solidFill>
              </a:rPr>
              <a:t>Hard to find unifying themes across our subsectors</a:t>
            </a:r>
          </a:p>
          <a:p>
            <a:pPr lvl="2"/>
            <a:r>
              <a:rPr lang="en-US" dirty="0">
                <a:solidFill>
                  <a:schemeClr val="tx1"/>
                </a:solidFill>
              </a:rPr>
              <a:t>Entertainment and Exhibition stocks lead, while Outdoor keeps pace and Media, Advertising and Publishing lag</a:t>
            </a:r>
          </a:p>
          <a:p>
            <a:pPr lvl="2"/>
            <a:r>
              <a:rPr lang="en-US" dirty="0">
                <a:solidFill>
                  <a:schemeClr val="tx1"/>
                </a:solidFill>
              </a:rPr>
              <a:t>De-regulation stories get year-end boost</a:t>
            </a:r>
          </a:p>
          <a:p>
            <a:pPr lvl="1"/>
            <a:r>
              <a:rPr lang="en-US" dirty="0">
                <a:solidFill>
                  <a:schemeClr val="tx1"/>
                </a:solidFill>
                <a:highlight>
                  <a:srgbClr val="FFFFFF"/>
                </a:highlight>
              </a:rPr>
              <a:t>Thematic review by sector: </a:t>
            </a:r>
          </a:p>
          <a:p>
            <a:pPr lvl="2"/>
            <a:r>
              <a:rPr lang="en-US" u="sng" dirty="0">
                <a:solidFill>
                  <a:schemeClr val="tx1"/>
                </a:solidFill>
                <a:highlight>
                  <a:srgbClr val="FFFFFF"/>
                </a:highlight>
              </a:rPr>
              <a:t>Media</a:t>
            </a:r>
            <a:r>
              <a:rPr lang="en-US" dirty="0">
                <a:solidFill>
                  <a:schemeClr val="tx1"/>
                </a:solidFill>
                <a:highlight>
                  <a:srgbClr val="FFFFFF"/>
                </a:highlight>
              </a:rPr>
              <a:t>: PayTV remains challenged, but sports and news better positioned; content licensing weak out of the strikes; DTC moves toward profits </a:t>
            </a:r>
          </a:p>
          <a:p>
            <a:pPr lvl="2"/>
            <a:r>
              <a:rPr lang="en-US" u="sng" dirty="0">
                <a:solidFill>
                  <a:schemeClr val="tx1"/>
                </a:solidFill>
              </a:rPr>
              <a:t>Ad Agencies</a:t>
            </a:r>
            <a:r>
              <a:rPr lang="en-US" dirty="0">
                <a:solidFill>
                  <a:schemeClr val="tx1"/>
                </a:solidFill>
              </a:rPr>
              <a:t>: industry organic accelerates in 2024; Gen-AI weighs on sentiment; OMC/IPG merger</a:t>
            </a:r>
          </a:p>
          <a:p>
            <a:pPr lvl="2"/>
            <a:r>
              <a:rPr lang="en-US" u="sng" dirty="0">
                <a:solidFill>
                  <a:schemeClr val="tx1"/>
                </a:solidFill>
              </a:rPr>
              <a:t>Live Entertainment</a:t>
            </a:r>
            <a:r>
              <a:rPr lang="en-US" dirty="0">
                <a:solidFill>
                  <a:schemeClr val="tx1"/>
                </a:solidFill>
              </a:rPr>
              <a:t>: strong year on top of post-pandemic boom = sustainability concerns largely put to rest</a:t>
            </a:r>
          </a:p>
          <a:p>
            <a:pPr lvl="2"/>
            <a:r>
              <a:rPr lang="en-US" u="sng" dirty="0">
                <a:solidFill>
                  <a:schemeClr val="tx1"/>
                </a:solidFill>
                <a:highlight>
                  <a:srgbClr val="FFFFFF"/>
                </a:highlight>
              </a:rPr>
              <a:t>Sports</a:t>
            </a:r>
            <a:r>
              <a:rPr lang="en-US" dirty="0">
                <a:solidFill>
                  <a:schemeClr val="tx1"/>
                </a:solidFill>
                <a:highlight>
                  <a:srgbClr val="FFFFFF"/>
                </a:highlight>
              </a:rPr>
              <a:t>: inflation in media rights accelerates; sponsorship and live events a continued tailwind</a:t>
            </a:r>
          </a:p>
          <a:p>
            <a:pPr lvl="2"/>
            <a:r>
              <a:rPr lang="en-US" u="sng" dirty="0">
                <a:solidFill>
                  <a:schemeClr val="tx1"/>
                </a:solidFill>
                <a:highlight>
                  <a:srgbClr val="FFFFFF"/>
                </a:highlight>
              </a:rPr>
              <a:t>News and Information</a:t>
            </a:r>
            <a:r>
              <a:rPr lang="en-US" dirty="0">
                <a:solidFill>
                  <a:schemeClr val="tx1"/>
                </a:solidFill>
                <a:highlight>
                  <a:srgbClr val="FFFFFF"/>
                </a:highlight>
              </a:rPr>
              <a:t>: digital ad market firms up, publishers focus on moving subs to higher tiers, progress and lawsuits on Gen-AI licensing</a:t>
            </a:r>
          </a:p>
          <a:p>
            <a:pPr lvl="2"/>
            <a:r>
              <a:rPr lang="en-US" u="sng" dirty="0">
                <a:solidFill>
                  <a:schemeClr val="tx1"/>
                </a:solidFill>
              </a:rPr>
              <a:t>Film Exhibition</a:t>
            </a:r>
            <a:r>
              <a:rPr lang="en-US" dirty="0">
                <a:solidFill>
                  <a:schemeClr val="tx1"/>
                </a:solidFill>
              </a:rPr>
              <a:t>: box office outperforms. CNK strong on market share; IMAX strong on indexing</a:t>
            </a:r>
          </a:p>
          <a:p>
            <a:pPr lvl="2"/>
            <a:r>
              <a:rPr lang="en-US" u="sng" dirty="0">
                <a:solidFill>
                  <a:schemeClr val="tx1"/>
                </a:solidFill>
                <a:highlight>
                  <a:srgbClr val="FFFFFF"/>
                </a:highlight>
              </a:rPr>
              <a:t>Broadcast</a:t>
            </a:r>
            <a:r>
              <a:rPr lang="en-US" dirty="0">
                <a:solidFill>
                  <a:schemeClr val="tx1"/>
                </a:solidFill>
                <a:highlight>
                  <a:srgbClr val="FFFFFF"/>
                </a:highlight>
              </a:rPr>
              <a:t>: secular trends challenging, record political, year-end de-regulation boost</a:t>
            </a:r>
            <a:endParaRPr lang="en-US" u="sng" dirty="0">
              <a:solidFill>
                <a:schemeClr val="tx1"/>
              </a:solidFill>
              <a:highlight>
                <a:srgbClr val="FFFFFF"/>
              </a:highlight>
            </a:endParaRPr>
          </a:p>
          <a:p>
            <a:pPr lvl="2"/>
            <a:r>
              <a:rPr lang="en-US" u="sng" dirty="0">
                <a:solidFill>
                  <a:schemeClr val="tx1"/>
                </a:solidFill>
              </a:rPr>
              <a:t>Outdoor</a:t>
            </a:r>
            <a:r>
              <a:rPr lang="en-US" dirty="0">
                <a:solidFill>
                  <a:schemeClr val="tx1"/>
                </a:solidFill>
              </a:rPr>
              <a:t>: stocks get a re-rating as ad market firms; national still lags, while transit performs well</a:t>
            </a:r>
            <a:endParaRPr lang="en-US" dirty="0"/>
          </a:p>
        </p:txBody>
      </p:sp>
      <p:sp>
        <p:nvSpPr>
          <p:cNvPr id="7172" name="Text Box 11"/>
          <p:cNvSpPr txBox="1">
            <a:spLocks noChangeArrowheads="1"/>
          </p:cNvSpPr>
          <p:nvPr>
            <p:custDataLst>
              <p:tags r:id="rId2"/>
            </p:custDataLst>
          </p:nvPr>
        </p:nvSpPr>
        <p:spPr bwMode="auto">
          <a:xfrm rot="-5400000">
            <a:off x="-2129631" y="4507706"/>
            <a:ext cx="5532438" cy="136525"/>
          </a:xfrm>
          <a:prstGeom prst="rect">
            <a:avLst/>
          </a:prstGeom>
          <a:noFill/>
          <a:ln w="9525">
            <a:noFill/>
            <a:miter lim="800000"/>
            <a:headEnd/>
            <a:tailEnd/>
          </a:ln>
        </p:spPr>
        <p:txBody>
          <a:bodyPr vert="eaVert" wrap="none" lIns="0" tIns="0" rIns="0" bIns="0" anchor="b"/>
          <a:lstStyle/>
          <a:p>
            <a:pPr algn="l">
              <a:lnSpc>
                <a:spcPts val="1200"/>
              </a:lnSpc>
              <a:spcBef>
                <a:spcPct val="0"/>
              </a:spcBef>
            </a:pPr>
            <a:endParaRPr lang="en-US"/>
          </a:p>
        </p:txBody>
      </p:sp>
      <p:sp>
        <p:nvSpPr>
          <p:cNvPr id="5" name="TextBox 4">
            <a:extLst>
              <a:ext uri="{FF2B5EF4-FFF2-40B4-BE49-F238E27FC236}">
                <a16:creationId xmlns:a16="http://schemas.microsoft.com/office/drawing/2014/main" id="{B92EC3EE-DFCC-4C15-99F5-0AEC5E5E5F60}"/>
              </a:ext>
            </a:extLst>
          </p:cNvPr>
          <p:cNvSpPr txBox="1"/>
          <p:nvPr/>
        </p:nvSpPr>
        <p:spPr>
          <a:xfrm>
            <a:off x="6400804" y="1333883"/>
            <a:ext cx="3286721" cy="261610"/>
          </a:xfrm>
          <a:prstGeom prst="rect">
            <a:avLst/>
          </a:prstGeom>
          <a:solidFill>
            <a:schemeClr val="accent1"/>
          </a:solidFill>
        </p:spPr>
        <p:txBody>
          <a:bodyPr wrap="square" rtlCol="0">
            <a:spAutoFit/>
          </a:bodyPr>
          <a:lstStyle/>
          <a:p>
            <a:r>
              <a:rPr lang="en-US" b="1" dirty="0">
                <a:solidFill>
                  <a:schemeClr val="bg1"/>
                </a:solidFill>
              </a:rPr>
              <a:t>Coverage Performance - YTD</a:t>
            </a:r>
          </a:p>
        </p:txBody>
      </p:sp>
      <p:sp>
        <p:nvSpPr>
          <p:cNvPr id="6" name="TextBox 5">
            <a:extLst>
              <a:ext uri="{FF2B5EF4-FFF2-40B4-BE49-F238E27FC236}">
                <a16:creationId xmlns:a16="http://schemas.microsoft.com/office/drawing/2014/main" id="{44890ABA-868A-41F2-A86C-E71F27E938A4}"/>
              </a:ext>
            </a:extLst>
          </p:cNvPr>
          <p:cNvSpPr txBox="1"/>
          <p:nvPr/>
        </p:nvSpPr>
        <p:spPr>
          <a:xfrm>
            <a:off x="6400800" y="5006545"/>
            <a:ext cx="4152119" cy="215444"/>
          </a:xfrm>
          <a:prstGeom prst="rect">
            <a:avLst/>
          </a:prstGeom>
          <a:noFill/>
        </p:spPr>
        <p:txBody>
          <a:bodyPr wrap="square" rtlCol="0">
            <a:spAutoFit/>
          </a:bodyPr>
          <a:lstStyle/>
          <a:p>
            <a:pPr algn="l"/>
            <a:r>
              <a:rPr lang="en-US" sz="800" dirty="0">
                <a:latin typeface="Arial Narrow" panose="020B0606020202030204" pitchFamily="34" charset="0"/>
              </a:rPr>
              <a:t>Source: Bloomberg Finance L.P.; Note: data as of 12/10/2024.</a:t>
            </a:r>
          </a:p>
        </p:txBody>
      </p:sp>
      <p:pic>
        <p:nvPicPr>
          <p:cNvPr id="3" name="Picture 2">
            <a:extLst>
              <a:ext uri="{FF2B5EF4-FFF2-40B4-BE49-F238E27FC236}">
                <a16:creationId xmlns:a16="http://schemas.microsoft.com/office/drawing/2014/main" id="{0073DC05-2C29-67FF-859C-A18720FC82A0}"/>
              </a:ext>
            </a:extLst>
          </p:cNvPr>
          <p:cNvPicPr>
            <a:picLocks noChangeAspect="1"/>
          </p:cNvPicPr>
          <p:nvPr/>
        </p:nvPicPr>
        <p:blipFill>
          <a:blip r:embed="rId5"/>
          <a:stretch>
            <a:fillRect/>
          </a:stretch>
        </p:blipFill>
        <p:spPr>
          <a:xfrm>
            <a:off x="6400800" y="1636712"/>
            <a:ext cx="3200400" cy="3328614"/>
          </a:xfrm>
          <a:prstGeom prst="rect">
            <a:avLst/>
          </a:prstGeom>
        </p:spPr>
      </p:pic>
    </p:spTree>
    <p:custDataLst>
      <p:tags r:id="rId1"/>
    </p:custData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solidFill>
                  <a:srgbClr val="000000"/>
                </a:solidFill>
              </a:rPr>
              <a:t>Consensus Estimate Revisions Since January 2024</a:t>
            </a:r>
            <a:endParaRPr lang="en-US" dirty="0"/>
          </a:p>
        </p:txBody>
      </p:sp>
      <p:sp>
        <p:nvSpPr>
          <p:cNvPr id="7172" name="Text Box 11"/>
          <p:cNvSpPr txBox="1">
            <a:spLocks noChangeArrowheads="1"/>
          </p:cNvSpPr>
          <p:nvPr>
            <p:custDataLst>
              <p:tags r:id="rId2"/>
            </p:custDataLst>
          </p:nvPr>
        </p:nvSpPr>
        <p:spPr bwMode="auto">
          <a:xfrm rot="-5400000">
            <a:off x="-2129631" y="4507706"/>
            <a:ext cx="5532438" cy="136525"/>
          </a:xfrm>
          <a:prstGeom prst="rect">
            <a:avLst/>
          </a:prstGeom>
          <a:noFill/>
          <a:ln w="9525">
            <a:noFill/>
            <a:miter lim="800000"/>
            <a:headEnd/>
            <a:tailEnd/>
          </a:ln>
        </p:spPr>
        <p:txBody>
          <a:bodyPr vert="eaVert" wrap="none" lIns="0" tIns="0" rIns="0" bIns="0" anchor="b"/>
          <a:lstStyle/>
          <a:p>
            <a:pPr algn="l">
              <a:lnSpc>
                <a:spcPts val="1200"/>
              </a:lnSpc>
              <a:spcBef>
                <a:spcPct val="0"/>
              </a:spcBef>
            </a:pPr>
            <a:endParaRPr lang="en-US"/>
          </a:p>
        </p:txBody>
      </p:sp>
      <p:sp>
        <p:nvSpPr>
          <p:cNvPr id="5" name="TextBox 4">
            <a:extLst>
              <a:ext uri="{FF2B5EF4-FFF2-40B4-BE49-F238E27FC236}">
                <a16:creationId xmlns:a16="http://schemas.microsoft.com/office/drawing/2014/main" id="{B92EC3EE-DFCC-4C15-99F5-0AEC5E5E5F60}"/>
              </a:ext>
            </a:extLst>
          </p:cNvPr>
          <p:cNvSpPr txBox="1"/>
          <p:nvPr/>
        </p:nvSpPr>
        <p:spPr>
          <a:xfrm>
            <a:off x="5456321" y="4679413"/>
            <a:ext cx="4154424" cy="261610"/>
          </a:xfrm>
          <a:prstGeom prst="rect">
            <a:avLst/>
          </a:prstGeom>
          <a:solidFill>
            <a:schemeClr val="accent1"/>
          </a:solidFill>
        </p:spPr>
        <p:txBody>
          <a:bodyPr wrap="square" rtlCol="0">
            <a:spAutoFit/>
          </a:bodyPr>
          <a:lstStyle/>
          <a:p>
            <a:r>
              <a:rPr lang="en-US" b="1" dirty="0">
                <a:solidFill>
                  <a:schemeClr val="bg1"/>
                </a:solidFill>
              </a:rPr>
              <a:t>Consensus Revision History: Adj. </a:t>
            </a:r>
            <a:r>
              <a:rPr lang="en-US" b="1" u="sng" dirty="0">
                <a:solidFill>
                  <a:schemeClr val="bg1"/>
                </a:solidFill>
              </a:rPr>
              <a:t>EBITDA</a:t>
            </a:r>
          </a:p>
        </p:txBody>
      </p:sp>
      <p:sp>
        <p:nvSpPr>
          <p:cNvPr id="6" name="TextBox 5">
            <a:extLst>
              <a:ext uri="{FF2B5EF4-FFF2-40B4-BE49-F238E27FC236}">
                <a16:creationId xmlns:a16="http://schemas.microsoft.com/office/drawing/2014/main" id="{44890ABA-868A-41F2-A86C-E71F27E938A4}"/>
              </a:ext>
            </a:extLst>
          </p:cNvPr>
          <p:cNvSpPr txBox="1"/>
          <p:nvPr/>
        </p:nvSpPr>
        <p:spPr>
          <a:xfrm>
            <a:off x="925851" y="6941082"/>
            <a:ext cx="4152119" cy="215444"/>
          </a:xfrm>
          <a:prstGeom prst="rect">
            <a:avLst/>
          </a:prstGeom>
          <a:noFill/>
        </p:spPr>
        <p:txBody>
          <a:bodyPr wrap="square" rtlCol="0">
            <a:spAutoFit/>
          </a:bodyPr>
          <a:lstStyle/>
          <a:p>
            <a:pPr algn="l"/>
            <a:r>
              <a:rPr lang="en-US" sz="800" dirty="0">
                <a:latin typeface="Arial Narrow" panose="020B0606020202030204" pitchFamily="34" charset="0"/>
              </a:rPr>
              <a:t>Source: Bloomberg Finance L.P.; Note: data as of 12/5/2024.</a:t>
            </a:r>
          </a:p>
        </p:txBody>
      </p:sp>
      <p:sp>
        <p:nvSpPr>
          <p:cNvPr id="7" name="TextBox 6">
            <a:extLst>
              <a:ext uri="{FF2B5EF4-FFF2-40B4-BE49-F238E27FC236}">
                <a16:creationId xmlns:a16="http://schemas.microsoft.com/office/drawing/2014/main" id="{AD437E98-6A53-0739-F811-9085E88BC36F}"/>
              </a:ext>
            </a:extLst>
          </p:cNvPr>
          <p:cNvSpPr txBox="1"/>
          <p:nvPr/>
        </p:nvSpPr>
        <p:spPr>
          <a:xfrm>
            <a:off x="896214" y="4679413"/>
            <a:ext cx="4154424" cy="261610"/>
          </a:xfrm>
          <a:prstGeom prst="rect">
            <a:avLst/>
          </a:prstGeom>
          <a:solidFill>
            <a:schemeClr val="accent1"/>
          </a:solidFill>
        </p:spPr>
        <p:txBody>
          <a:bodyPr wrap="square" rtlCol="0">
            <a:spAutoFit/>
          </a:bodyPr>
          <a:lstStyle/>
          <a:p>
            <a:r>
              <a:rPr lang="en-US" b="1" dirty="0">
                <a:solidFill>
                  <a:schemeClr val="bg1"/>
                </a:solidFill>
              </a:rPr>
              <a:t>Consensus Revision History: </a:t>
            </a:r>
            <a:r>
              <a:rPr lang="en-US" b="1" u="sng" dirty="0">
                <a:solidFill>
                  <a:schemeClr val="bg1"/>
                </a:solidFill>
              </a:rPr>
              <a:t>Revenue</a:t>
            </a:r>
          </a:p>
        </p:txBody>
      </p:sp>
      <p:sp>
        <p:nvSpPr>
          <p:cNvPr id="10" name="TextBox 9">
            <a:extLst>
              <a:ext uri="{FF2B5EF4-FFF2-40B4-BE49-F238E27FC236}">
                <a16:creationId xmlns:a16="http://schemas.microsoft.com/office/drawing/2014/main" id="{B52E619B-34E9-5B2C-6A69-26D0A1322DB8}"/>
              </a:ext>
            </a:extLst>
          </p:cNvPr>
          <p:cNvSpPr txBox="1"/>
          <p:nvPr/>
        </p:nvSpPr>
        <p:spPr>
          <a:xfrm>
            <a:off x="5371905" y="6944072"/>
            <a:ext cx="4152119" cy="215444"/>
          </a:xfrm>
          <a:prstGeom prst="rect">
            <a:avLst/>
          </a:prstGeom>
          <a:noFill/>
        </p:spPr>
        <p:txBody>
          <a:bodyPr wrap="square" rtlCol="0">
            <a:spAutoFit/>
          </a:bodyPr>
          <a:lstStyle/>
          <a:p>
            <a:pPr algn="l"/>
            <a:r>
              <a:rPr lang="en-US" sz="800" dirty="0">
                <a:latin typeface="Arial Narrow" panose="020B0606020202030204" pitchFamily="34" charset="0"/>
              </a:rPr>
              <a:t>Source: Bloomberg Finance L.P.; Note: data as of 12/5/2024.</a:t>
            </a:r>
          </a:p>
        </p:txBody>
      </p:sp>
      <p:pic>
        <p:nvPicPr>
          <p:cNvPr id="16" name="Picture 15">
            <a:extLst>
              <a:ext uri="{FF2B5EF4-FFF2-40B4-BE49-F238E27FC236}">
                <a16:creationId xmlns:a16="http://schemas.microsoft.com/office/drawing/2014/main" id="{3AD705B5-3B91-70E3-FBC1-A854152AF90A}"/>
              </a:ext>
            </a:extLst>
          </p:cNvPr>
          <p:cNvPicPr>
            <a:picLocks noChangeAspect="1"/>
          </p:cNvPicPr>
          <p:nvPr/>
        </p:nvPicPr>
        <p:blipFill>
          <a:blip r:embed="rId5"/>
          <a:stretch>
            <a:fillRect/>
          </a:stretch>
        </p:blipFill>
        <p:spPr>
          <a:xfrm>
            <a:off x="903666" y="4979993"/>
            <a:ext cx="3989821" cy="2029841"/>
          </a:xfrm>
          <a:prstGeom prst="rect">
            <a:avLst/>
          </a:prstGeom>
        </p:spPr>
      </p:pic>
      <p:pic>
        <p:nvPicPr>
          <p:cNvPr id="17" name="Picture 16">
            <a:extLst>
              <a:ext uri="{FF2B5EF4-FFF2-40B4-BE49-F238E27FC236}">
                <a16:creationId xmlns:a16="http://schemas.microsoft.com/office/drawing/2014/main" id="{F2AB040E-D2C6-5831-7B97-ACE8ABD97DBC}"/>
              </a:ext>
            </a:extLst>
          </p:cNvPr>
          <p:cNvPicPr>
            <a:picLocks noChangeAspect="1"/>
          </p:cNvPicPr>
          <p:nvPr/>
        </p:nvPicPr>
        <p:blipFill>
          <a:blip r:embed="rId6"/>
          <a:stretch>
            <a:fillRect/>
          </a:stretch>
        </p:blipFill>
        <p:spPr>
          <a:xfrm>
            <a:off x="5449233" y="4979993"/>
            <a:ext cx="3997464" cy="2029841"/>
          </a:xfrm>
          <a:prstGeom prst="rect">
            <a:avLst/>
          </a:prstGeom>
        </p:spPr>
      </p:pic>
      <p:sp>
        <p:nvSpPr>
          <p:cNvPr id="19" name="Rectangle 3">
            <a:extLst>
              <a:ext uri="{FF2B5EF4-FFF2-40B4-BE49-F238E27FC236}">
                <a16:creationId xmlns:a16="http://schemas.microsoft.com/office/drawing/2014/main" id="{F9271AFD-43E8-73CD-FEAC-44D3C7BEE535}"/>
              </a:ext>
            </a:extLst>
          </p:cNvPr>
          <p:cNvSpPr txBox="1">
            <a:spLocks noChangeArrowheads="1"/>
          </p:cNvSpPr>
          <p:nvPr/>
        </p:nvSpPr>
        <p:spPr bwMode="gray">
          <a:xfrm>
            <a:off x="896214" y="1371600"/>
            <a:ext cx="8373612" cy="29718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kern="0" dirty="0">
                <a:highlight>
                  <a:srgbClr val="FFFFFF"/>
                </a:highlight>
              </a:rPr>
              <a:t>Revenue: Almost half of our coverage has saw negative in-year revenue estimates since January, while ~38% saw positive revisions (~13% unchanged)</a:t>
            </a:r>
          </a:p>
          <a:p>
            <a:pPr lvl="2"/>
            <a:r>
              <a:rPr lang="en-US" kern="0" dirty="0"/>
              <a:t>Most positive: </a:t>
            </a:r>
            <a:r>
              <a:rPr lang="en-US" b="1" kern="0" dirty="0"/>
              <a:t>MSGS</a:t>
            </a:r>
            <a:r>
              <a:rPr lang="en-US" kern="0" dirty="0"/>
              <a:t> (OW), </a:t>
            </a:r>
            <a:r>
              <a:rPr lang="en-US" b="1" kern="0" dirty="0"/>
              <a:t>TKO</a:t>
            </a:r>
            <a:r>
              <a:rPr lang="en-US" kern="0" dirty="0"/>
              <a:t> (OW), </a:t>
            </a:r>
            <a:r>
              <a:rPr lang="en-US" b="1" kern="0" dirty="0"/>
              <a:t>OMC</a:t>
            </a:r>
            <a:r>
              <a:rPr lang="en-US" kern="0" dirty="0"/>
              <a:t> (OW)</a:t>
            </a:r>
          </a:p>
          <a:p>
            <a:pPr lvl="2"/>
            <a:r>
              <a:rPr lang="en-US" kern="0" dirty="0"/>
              <a:t>Most negative: </a:t>
            </a:r>
            <a:r>
              <a:rPr lang="en-US" b="1" kern="0" dirty="0"/>
              <a:t>LGF/A </a:t>
            </a:r>
            <a:r>
              <a:rPr lang="en-US" kern="0" dirty="0"/>
              <a:t>(UW), </a:t>
            </a:r>
            <a:r>
              <a:rPr lang="en-US" b="1" kern="0" dirty="0"/>
              <a:t>AMCX</a:t>
            </a:r>
            <a:r>
              <a:rPr lang="en-US" kern="0" dirty="0"/>
              <a:t> (UW), </a:t>
            </a:r>
            <a:r>
              <a:rPr lang="en-US" b="1" kern="0" dirty="0"/>
              <a:t>TGNA</a:t>
            </a:r>
            <a:r>
              <a:rPr lang="en-US" kern="0" dirty="0"/>
              <a:t> (N)</a:t>
            </a:r>
          </a:p>
          <a:p>
            <a:pPr lvl="1"/>
            <a:r>
              <a:rPr lang="en-US" kern="0" dirty="0"/>
              <a:t>Adj. EBITDA: A little over half of our coverage saw EBITDA estimates increase since January, while ~13% remained unchanged. </a:t>
            </a:r>
          </a:p>
          <a:p>
            <a:pPr lvl="2"/>
            <a:r>
              <a:rPr lang="en-US" kern="0" dirty="0"/>
              <a:t>Most positive: </a:t>
            </a:r>
            <a:r>
              <a:rPr lang="en-US" b="1" kern="0" dirty="0"/>
              <a:t>MSGS</a:t>
            </a:r>
            <a:r>
              <a:rPr lang="en-US" kern="0" dirty="0"/>
              <a:t> (OW), </a:t>
            </a:r>
            <a:r>
              <a:rPr lang="en-US" b="1" kern="0" dirty="0"/>
              <a:t>MSGE</a:t>
            </a:r>
            <a:r>
              <a:rPr lang="en-US" kern="0" dirty="0"/>
              <a:t> (N), </a:t>
            </a:r>
            <a:r>
              <a:rPr lang="en-US" b="1" kern="0" dirty="0"/>
              <a:t>SPHR</a:t>
            </a:r>
            <a:r>
              <a:rPr lang="en-US" kern="0" dirty="0"/>
              <a:t> (OW), </a:t>
            </a:r>
            <a:r>
              <a:rPr lang="en-US" b="1" kern="0" dirty="0"/>
              <a:t>PARA</a:t>
            </a:r>
            <a:r>
              <a:rPr lang="en-US" kern="0" dirty="0"/>
              <a:t> (UW)</a:t>
            </a:r>
          </a:p>
          <a:p>
            <a:pPr lvl="2"/>
            <a:r>
              <a:rPr lang="en-US" kern="0" dirty="0"/>
              <a:t>Most negative: </a:t>
            </a:r>
            <a:r>
              <a:rPr lang="en-US" b="1" kern="0" dirty="0"/>
              <a:t>LGF/A </a:t>
            </a:r>
            <a:r>
              <a:rPr lang="en-US" kern="0" dirty="0"/>
              <a:t>(UW), </a:t>
            </a:r>
            <a:r>
              <a:rPr lang="en-US" b="1" kern="0" dirty="0"/>
              <a:t>AMCX</a:t>
            </a:r>
            <a:r>
              <a:rPr lang="en-US" kern="0" dirty="0"/>
              <a:t> (UW), </a:t>
            </a:r>
            <a:r>
              <a:rPr lang="en-US" b="1" kern="0" dirty="0"/>
              <a:t>WBD</a:t>
            </a:r>
            <a:r>
              <a:rPr lang="en-US" kern="0" dirty="0"/>
              <a:t> (N), </a:t>
            </a:r>
            <a:r>
              <a:rPr lang="en-US" b="1" kern="0" dirty="0"/>
              <a:t>TGNA</a:t>
            </a:r>
            <a:r>
              <a:rPr lang="en-US" kern="0" dirty="0"/>
              <a:t> (N)</a:t>
            </a:r>
          </a:p>
          <a:p>
            <a:pPr lvl="1"/>
            <a:r>
              <a:rPr lang="en-US" kern="0" dirty="0"/>
              <a:t>Sports related names in our coverage saw estimates positively revised throughout the year (MSGS, TKO, FWONK). We expect the sub-sector to continue its positive performance in 2025.</a:t>
            </a:r>
          </a:p>
        </p:txBody>
      </p:sp>
    </p:spTree>
    <p:custDataLst>
      <p:tags r:id="rId1"/>
    </p:custDataLst>
    <p:extLst>
      <p:ext uri="{BB962C8B-B14F-4D97-AF65-F5344CB8AC3E}">
        <p14:creationId xmlns:p14="http://schemas.microsoft.com/office/powerpoint/2010/main" val="3577430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00"/>
                </a:solidFill>
              </a:rPr>
              <a:t>Looking Ahead to 2025</a:t>
            </a:r>
            <a:endParaRPr lang="en-US" dirty="0"/>
          </a:p>
        </p:txBody>
      </p:sp>
      <p:sp>
        <p:nvSpPr>
          <p:cNvPr id="4" name="Rectangle 3"/>
          <p:cNvSpPr txBox="1">
            <a:spLocks noChangeArrowheads="1"/>
          </p:cNvSpPr>
          <p:nvPr/>
        </p:nvSpPr>
        <p:spPr bwMode="gray">
          <a:xfrm>
            <a:off x="1066800" y="1524000"/>
            <a:ext cx="8080375" cy="5719762"/>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kern="0" dirty="0">
                <a:solidFill>
                  <a:schemeClr val="tx1"/>
                </a:solidFill>
                <a:highlight>
                  <a:srgbClr val="FFFFFF"/>
                </a:highlight>
              </a:rPr>
              <a:t>Macro: JPM strategist house view:</a:t>
            </a:r>
          </a:p>
          <a:p>
            <a:pPr lvl="2"/>
            <a:r>
              <a:rPr lang="en-US" kern="0" dirty="0">
                <a:solidFill>
                  <a:schemeClr val="tx1"/>
                </a:solidFill>
                <a:highlight>
                  <a:srgbClr val="FFFFFF"/>
                </a:highlight>
              </a:rPr>
              <a:t>S&amp;P 500 target $6,500; Fed to cut rates by 100bp to 3.75%; lower energy prices; easing monetary cycle + healthy corporate and household balance sheets drives business cycle expansion </a:t>
            </a:r>
          </a:p>
          <a:p>
            <a:pPr lvl="1"/>
            <a:r>
              <a:rPr lang="en-US" kern="0" dirty="0">
                <a:solidFill>
                  <a:schemeClr val="tx1"/>
                </a:solidFill>
                <a:highlight>
                  <a:srgbClr val="FFFFFF"/>
                </a:highlight>
              </a:rPr>
              <a:t>Continue to favor stocks with secular themes and proven execution</a:t>
            </a:r>
          </a:p>
          <a:p>
            <a:pPr lvl="1"/>
            <a:r>
              <a:rPr lang="en-US" kern="0" dirty="0">
                <a:solidFill>
                  <a:schemeClr val="tx1"/>
                </a:solidFill>
                <a:highlight>
                  <a:srgbClr val="FFFFFF"/>
                </a:highlight>
              </a:rPr>
              <a:t>Highlighted Overweight Stocks:</a:t>
            </a:r>
          </a:p>
          <a:p>
            <a:pPr lvl="2"/>
            <a:r>
              <a:rPr lang="en-US" kern="0" dirty="0">
                <a:solidFill>
                  <a:schemeClr val="tx1"/>
                </a:solidFill>
                <a:highlight>
                  <a:srgbClr val="FFFFFF"/>
                </a:highlight>
              </a:rPr>
              <a:t>Media: DIS, WMG</a:t>
            </a:r>
          </a:p>
          <a:p>
            <a:pPr lvl="2"/>
            <a:r>
              <a:rPr lang="en-US" kern="0" dirty="0">
                <a:solidFill>
                  <a:schemeClr val="tx1"/>
                </a:solidFill>
                <a:highlight>
                  <a:srgbClr val="FFFFFF"/>
                </a:highlight>
              </a:rPr>
              <a:t>Ad Agencies: OMC</a:t>
            </a:r>
          </a:p>
          <a:p>
            <a:pPr lvl="2"/>
            <a:r>
              <a:rPr lang="en-US" kern="0" dirty="0">
                <a:solidFill>
                  <a:schemeClr val="tx1"/>
                </a:solidFill>
                <a:highlight>
                  <a:srgbClr val="FFFFFF"/>
                </a:highlight>
              </a:rPr>
              <a:t>Live Entertainment: LYV, SPHR</a:t>
            </a:r>
          </a:p>
          <a:p>
            <a:pPr lvl="2"/>
            <a:r>
              <a:rPr lang="en-US" kern="0" dirty="0">
                <a:solidFill>
                  <a:schemeClr val="tx1"/>
                </a:solidFill>
                <a:highlight>
                  <a:srgbClr val="FFFFFF"/>
                </a:highlight>
              </a:rPr>
              <a:t>Sports: TKO, FWONK</a:t>
            </a:r>
          </a:p>
          <a:p>
            <a:pPr lvl="2"/>
            <a:r>
              <a:rPr lang="en-US" kern="0" dirty="0">
                <a:solidFill>
                  <a:schemeClr val="tx1"/>
                </a:solidFill>
                <a:highlight>
                  <a:srgbClr val="FFFFFF"/>
                </a:highlight>
              </a:rPr>
              <a:t>News and Information: NYT (growth); NWSA (value)</a:t>
            </a:r>
          </a:p>
          <a:p>
            <a:pPr lvl="1"/>
            <a:r>
              <a:rPr lang="en-US" kern="0" dirty="0">
                <a:solidFill>
                  <a:schemeClr val="tx1"/>
                </a:solidFill>
                <a:highlight>
                  <a:srgbClr val="FFFFFF"/>
                </a:highlight>
              </a:rPr>
              <a:t>Neutral considerations</a:t>
            </a:r>
          </a:p>
          <a:p>
            <a:pPr lvl="2"/>
            <a:r>
              <a:rPr lang="en-US" kern="0" dirty="0">
                <a:solidFill>
                  <a:schemeClr val="tx1"/>
                </a:solidFill>
                <a:highlight>
                  <a:srgbClr val="FFFFFF"/>
                </a:highlight>
              </a:rPr>
              <a:t>Media: WBD: in absence of structural adjustment, see returns tied to DTC/Studio performance</a:t>
            </a:r>
          </a:p>
          <a:p>
            <a:pPr lvl="2"/>
            <a:r>
              <a:rPr lang="en-US" kern="0" dirty="0">
                <a:solidFill>
                  <a:schemeClr val="tx1"/>
                </a:solidFill>
                <a:highlight>
                  <a:srgbClr val="FFFFFF"/>
                </a:highlight>
              </a:rPr>
              <a:t>Theatrical: LT positive, but waiting for ST expectations to adjust: CNK / IMAX</a:t>
            </a:r>
            <a:endParaRPr lang="en-US" kern="0" dirty="0">
              <a:solidFill>
                <a:schemeClr val="tx1"/>
              </a:solidFill>
              <a:highlight>
                <a:srgbClr val="FFFF00"/>
              </a:highlight>
            </a:endParaRPr>
          </a:p>
          <a:p>
            <a:pPr lvl="2"/>
            <a:r>
              <a:rPr lang="en-US" kern="0" dirty="0">
                <a:solidFill>
                  <a:schemeClr val="tx1"/>
                </a:solidFill>
                <a:highlight>
                  <a:srgbClr val="FFFFFF"/>
                </a:highlight>
              </a:rPr>
              <a:t>OOH: expect more modest returns following multiple expansion, likely similar revenue growth</a:t>
            </a:r>
          </a:p>
          <a:p>
            <a:pPr lvl="1"/>
            <a:r>
              <a:rPr lang="en-US" kern="0" dirty="0">
                <a:solidFill>
                  <a:schemeClr val="tx1"/>
                </a:solidFill>
                <a:highlight>
                  <a:srgbClr val="FFFFFF"/>
                </a:highlight>
              </a:rPr>
              <a:t>Secular Challenges but….</a:t>
            </a:r>
          </a:p>
          <a:p>
            <a:pPr lvl="2"/>
            <a:r>
              <a:rPr lang="en-US" kern="0" dirty="0">
                <a:solidFill>
                  <a:schemeClr val="tx1"/>
                </a:solidFill>
                <a:highlight>
                  <a:srgbClr val="FFFFFF"/>
                </a:highlight>
              </a:rPr>
              <a:t>Structural change drives a fresh look? PARA, LGF/A</a:t>
            </a:r>
          </a:p>
          <a:p>
            <a:pPr lvl="2"/>
            <a:r>
              <a:rPr lang="en-US" kern="0" dirty="0">
                <a:solidFill>
                  <a:schemeClr val="tx1"/>
                </a:solidFill>
                <a:highlight>
                  <a:srgbClr val="FFFFFF"/>
                </a:highlight>
              </a:rPr>
              <a:t>De-regulation drives a fresh look? SBGI, TGNA</a:t>
            </a:r>
          </a:p>
          <a:p>
            <a:pPr marL="211138" lvl="2" indent="0">
              <a:buNone/>
            </a:pPr>
            <a:endParaRPr lang="en-US" kern="0" dirty="0">
              <a:solidFill>
                <a:schemeClr val="tx1"/>
              </a:solidFill>
            </a:endParaRPr>
          </a:p>
        </p:txBody>
      </p:sp>
    </p:spTree>
    <p:extLst>
      <p:ext uri="{BB962C8B-B14F-4D97-AF65-F5344CB8AC3E}">
        <p14:creationId xmlns:p14="http://schemas.microsoft.com/office/powerpoint/2010/main" val="2018231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53000"/>
            <a:ext cx="8548687" cy="1544638"/>
          </a:xfrm>
        </p:spPr>
        <p:txBody>
          <a:bodyPr/>
          <a:lstStyle/>
          <a:p>
            <a:r>
              <a:rPr lang="en-US" dirty="0">
                <a:solidFill>
                  <a:schemeClr val="accent1"/>
                </a:solidFill>
              </a:rPr>
              <a:t>2025 HIGHLIGHTED STOCKS</a:t>
            </a:r>
            <a:br>
              <a:rPr lang="en-US" dirty="0">
                <a:solidFill>
                  <a:schemeClr val="accent1"/>
                </a:solidFill>
              </a:rPr>
            </a:br>
            <a:endParaRPr lang="en-US" dirty="0">
              <a:solidFill>
                <a:schemeClr val="accent1"/>
              </a:solidFill>
            </a:endParaRPr>
          </a:p>
        </p:txBody>
      </p:sp>
    </p:spTree>
    <p:extLst>
      <p:ext uri="{BB962C8B-B14F-4D97-AF65-F5344CB8AC3E}">
        <p14:creationId xmlns:p14="http://schemas.microsoft.com/office/powerpoint/2010/main" val="1168074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00"/>
                </a:solidFill>
              </a:rPr>
              <a:t>Media Themes for 2025</a:t>
            </a:r>
            <a:endParaRPr lang="en-US" dirty="0"/>
          </a:p>
        </p:txBody>
      </p:sp>
      <p:sp>
        <p:nvSpPr>
          <p:cNvPr id="4" name="Rectangle 3"/>
          <p:cNvSpPr txBox="1">
            <a:spLocks noChangeArrowheads="1"/>
          </p:cNvSpPr>
          <p:nvPr/>
        </p:nvSpPr>
        <p:spPr bwMode="gray">
          <a:xfrm>
            <a:off x="1143000" y="1371600"/>
            <a:ext cx="8080375" cy="60198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kern="0" dirty="0"/>
              <a:t>DTC streaming profits are moving in the right direction; now what happens?</a:t>
            </a:r>
          </a:p>
          <a:p>
            <a:pPr lvl="2"/>
            <a:r>
              <a:rPr lang="en-US" kern="0" dirty="0"/>
              <a:t>DIS &amp; WBD guiding to meaningful growth and margin; PARA domestic profitability</a:t>
            </a:r>
          </a:p>
          <a:p>
            <a:pPr lvl="2"/>
            <a:r>
              <a:rPr lang="en-US" kern="0" dirty="0"/>
              <a:t>Price increases &amp; advertising + programming &amp; marketing discipline are the playbook	so far</a:t>
            </a:r>
          </a:p>
          <a:p>
            <a:pPr lvl="3"/>
            <a:r>
              <a:rPr lang="en-US" kern="0" dirty="0"/>
              <a:t>Now that costs are rationalized, we believe investors will increasingly question streamers’ ability to raise price and take ad share amid a competitive environment for engagement </a:t>
            </a:r>
          </a:p>
          <a:p>
            <a:pPr lvl="3"/>
            <a:r>
              <a:rPr lang="en-US" kern="0" dirty="0"/>
              <a:t>Expect renewed focus on the user experience. Tubi gains over Pluto show why this matters</a:t>
            </a:r>
          </a:p>
          <a:p>
            <a:pPr lvl="3"/>
            <a:r>
              <a:rPr lang="en-US" kern="0" dirty="0"/>
              <a:t>Survey work consistently says consumers pay for ~4.5 streaming services. If market thinks Netflix, Prime, and Disney are winners, then consolidation necessary. But who blinks first?</a:t>
            </a:r>
          </a:p>
          <a:p>
            <a:pPr lvl="1"/>
            <a:r>
              <a:rPr lang="en-US" kern="0" dirty="0"/>
              <a:t>Legacy pressures set to continue</a:t>
            </a:r>
          </a:p>
          <a:p>
            <a:pPr lvl="2"/>
            <a:r>
              <a:rPr lang="en-US" kern="0" dirty="0"/>
              <a:t>MAGNA forecasting slightly worse trend for linear ads at -6.8%. Continued loss of reach for tail cable nets could accelerate revenue decline as certain thresholds are reached. News and especially sports should remain bright spots</a:t>
            </a:r>
          </a:p>
          <a:p>
            <a:pPr lvl="2"/>
            <a:r>
              <a:rPr lang="en-US" kern="0" dirty="0"/>
              <a:t>JPM Cable/Satellite team expects total video ecosystem losses of -7.4% y/y in 2025</a:t>
            </a:r>
          </a:p>
          <a:p>
            <a:pPr lvl="3"/>
            <a:r>
              <a:rPr lang="en-US" kern="0" dirty="0"/>
              <a:t>MVPD bundling of streaming services improves value proposition, but subs may have to pay. Movement of best content to DTC means consumers will follow</a:t>
            </a:r>
          </a:p>
          <a:p>
            <a:pPr lvl="2"/>
            <a:r>
              <a:rPr lang="en-US" kern="0" dirty="0"/>
              <a:t>Content licensing market appears to be firming up, but hardly robust</a:t>
            </a:r>
          </a:p>
          <a:p>
            <a:pPr lvl="2"/>
            <a:r>
              <a:rPr lang="en-US" kern="0" dirty="0"/>
              <a:t>Theatrical demand proven out for right content, but production cost inflation plus marketing still limit profitability</a:t>
            </a:r>
          </a:p>
          <a:p>
            <a:pPr lvl="1"/>
            <a:r>
              <a:rPr lang="en-US" kern="0" dirty="0"/>
              <a:t>Upshot: continued challenges in legacy and scaling DTC logically push industry toward consolidation or structural change….</a:t>
            </a:r>
          </a:p>
          <a:p>
            <a:pPr lvl="2"/>
            <a:endParaRPr lang="en-US" kern="0" dirty="0"/>
          </a:p>
          <a:p>
            <a:pPr lvl="2"/>
            <a:endParaRPr lang="en-US" kern="0" dirty="0"/>
          </a:p>
        </p:txBody>
      </p:sp>
    </p:spTree>
    <p:extLst>
      <p:ext uri="{BB962C8B-B14F-4D97-AF65-F5344CB8AC3E}">
        <p14:creationId xmlns:p14="http://schemas.microsoft.com/office/powerpoint/2010/main" val="3845248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00"/>
                </a:solidFill>
              </a:rPr>
              <a:t>Media Themes: Everything is on the table in 2025…but is it really?</a:t>
            </a:r>
            <a:endParaRPr lang="en-US" dirty="0"/>
          </a:p>
        </p:txBody>
      </p:sp>
      <p:sp>
        <p:nvSpPr>
          <p:cNvPr id="4" name="Rectangle 3"/>
          <p:cNvSpPr txBox="1">
            <a:spLocks noChangeArrowheads="1"/>
          </p:cNvSpPr>
          <p:nvPr/>
        </p:nvSpPr>
        <p:spPr bwMode="gray">
          <a:xfrm>
            <a:off x="1143000" y="1295400"/>
            <a:ext cx="8080375" cy="60198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kern="0" dirty="0">
                <a:highlight>
                  <a:srgbClr val="FFFFFF"/>
                </a:highlight>
              </a:rPr>
              <a:t>Speculation on M&amp;A increasing amid challenging industry backdrop and new administration</a:t>
            </a:r>
          </a:p>
          <a:p>
            <a:pPr lvl="2"/>
            <a:r>
              <a:rPr lang="en-US" kern="0" dirty="0">
                <a:highlight>
                  <a:srgbClr val="FFFFFF"/>
                </a:highlight>
              </a:rPr>
              <a:t>Comcast decision to spin-out its cable networks seemingly first move in what will be an industry re-alignment; even before that, Starz on-track for January separation from Lionsgate Studios</a:t>
            </a:r>
          </a:p>
          <a:p>
            <a:pPr lvl="1"/>
            <a:r>
              <a:rPr lang="en-US" kern="0" dirty="0">
                <a:highlight>
                  <a:srgbClr val="FFFFFF"/>
                </a:highlight>
              </a:rPr>
              <a:t>Logic for structural change among legacy networks is clear:</a:t>
            </a:r>
          </a:p>
          <a:p>
            <a:pPr lvl="2"/>
            <a:r>
              <a:rPr lang="en-US" kern="0" dirty="0">
                <a:highlight>
                  <a:srgbClr val="FFFFFF"/>
                </a:highlight>
              </a:rPr>
              <a:t>Dedicated management teams focused on driving value for channels</a:t>
            </a:r>
          </a:p>
          <a:p>
            <a:pPr lvl="2"/>
            <a:r>
              <a:rPr lang="en-US" kern="0" dirty="0">
                <a:highlight>
                  <a:srgbClr val="FFFFFF"/>
                </a:highlight>
              </a:rPr>
              <a:t>Greater negotiating power with MVPDs, especially if combining cable with station assets</a:t>
            </a:r>
          </a:p>
          <a:p>
            <a:pPr lvl="2"/>
            <a:r>
              <a:rPr lang="en-US" kern="0" dirty="0">
                <a:highlight>
                  <a:srgbClr val="FFFFFF"/>
                </a:highlight>
              </a:rPr>
              <a:t>Cost savings in corporate, production, marketing</a:t>
            </a:r>
          </a:p>
          <a:p>
            <a:pPr lvl="2"/>
            <a:r>
              <a:rPr lang="en-US" kern="0" dirty="0">
                <a:highlight>
                  <a:srgbClr val="FFFFFF"/>
                </a:highlight>
              </a:rPr>
              <a:t>Cash can be deployed to capital returns or accretive transactions rather than fund DTC</a:t>
            </a:r>
          </a:p>
          <a:p>
            <a:pPr lvl="2"/>
            <a:r>
              <a:rPr lang="en-US" kern="0" dirty="0">
                <a:highlight>
                  <a:srgbClr val="FFFFFF"/>
                </a:highlight>
              </a:rPr>
              <a:t>Separation of negative growth cable can allow for re-rating on DTC and studio assets</a:t>
            </a:r>
          </a:p>
          <a:p>
            <a:pPr lvl="2"/>
            <a:r>
              <a:rPr lang="en-US" kern="0" dirty="0">
                <a:highlight>
                  <a:srgbClr val="FFFFFF"/>
                </a:highlight>
              </a:rPr>
              <a:t>Private equity interest</a:t>
            </a:r>
          </a:p>
          <a:p>
            <a:pPr lvl="1"/>
            <a:r>
              <a:rPr lang="en-US" kern="0" dirty="0">
                <a:highlight>
                  <a:srgbClr val="FFFFFF"/>
                </a:highlight>
              </a:rPr>
              <a:t>Yes, BUT….</a:t>
            </a:r>
          </a:p>
          <a:p>
            <a:pPr lvl="2"/>
            <a:r>
              <a:rPr lang="en-US" kern="0" dirty="0">
                <a:highlight>
                  <a:srgbClr val="FFFFFF"/>
                </a:highlight>
              </a:rPr>
              <a:t>Comcast spin not due until late 2025; after that market will need valuation discovery</a:t>
            </a:r>
          </a:p>
          <a:p>
            <a:pPr lvl="2"/>
            <a:r>
              <a:rPr lang="en-US" kern="0" dirty="0">
                <a:highlight>
                  <a:srgbClr val="FFFFFF"/>
                </a:highlight>
              </a:rPr>
              <a:t>Skydance-Paramount closing 1H; new management might want to get a look under the hood</a:t>
            </a:r>
          </a:p>
          <a:p>
            <a:pPr lvl="2"/>
            <a:r>
              <a:rPr lang="en-US" kern="0" dirty="0">
                <a:highlight>
                  <a:srgbClr val="FFFFFF"/>
                </a:highlight>
              </a:rPr>
              <a:t>Detaching cable networks is complicated: licensing relationships, staff and talent considerations, allocated corporate costs. DIS message: not worth it right now</a:t>
            </a:r>
          </a:p>
          <a:p>
            <a:pPr lvl="2"/>
            <a:r>
              <a:rPr lang="en-US" kern="0" dirty="0">
                <a:highlight>
                  <a:srgbClr val="FFFFFF"/>
                </a:highlight>
              </a:rPr>
              <a:t>Some companies still might want or need the cash to fund DTC</a:t>
            </a:r>
          </a:p>
          <a:p>
            <a:pPr lvl="2"/>
            <a:r>
              <a:rPr lang="en-US" kern="0" dirty="0">
                <a:highlight>
                  <a:srgbClr val="FFFFFF"/>
                </a:highlight>
              </a:rPr>
              <a:t>What multiple would DTC + studios assets get and is a spin worth it to find out?</a:t>
            </a:r>
          </a:p>
          <a:p>
            <a:pPr lvl="2"/>
            <a:r>
              <a:rPr lang="en-US" kern="0" dirty="0">
                <a:highlight>
                  <a:srgbClr val="FFFFFF"/>
                </a:highlight>
              </a:rPr>
              <a:t>What multiples are private equity willing to pay for networks and does selling make sense?</a:t>
            </a:r>
          </a:p>
          <a:p>
            <a:pPr lvl="2"/>
            <a:r>
              <a:rPr lang="en-US" kern="0" dirty="0">
                <a:highlight>
                  <a:srgbClr val="FFFFFF"/>
                </a:highlight>
              </a:rPr>
              <a:t>How friendly will anti-trust regulators actually be?</a:t>
            </a:r>
          </a:p>
          <a:p>
            <a:pPr lvl="2"/>
            <a:r>
              <a:rPr lang="en-US" kern="0" dirty="0">
                <a:highlight>
                  <a:srgbClr val="FFFFFF"/>
                </a:highlight>
              </a:rPr>
              <a:t>Broadcast station groups may prefer to engage in M&amp;A with themselves</a:t>
            </a:r>
          </a:p>
          <a:p>
            <a:pPr lvl="2"/>
            <a:endParaRPr lang="en-US" kern="0" dirty="0">
              <a:highlight>
                <a:srgbClr val="FFFFFF"/>
              </a:highlight>
            </a:endParaRPr>
          </a:p>
          <a:p>
            <a:pPr lvl="2"/>
            <a:endParaRPr lang="en-US" kern="0" dirty="0"/>
          </a:p>
          <a:p>
            <a:pPr lvl="2"/>
            <a:endParaRPr lang="en-US" kern="0" dirty="0"/>
          </a:p>
        </p:txBody>
      </p:sp>
    </p:spTree>
    <p:extLst>
      <p:ext uri="{BB962C8B-B14F-4D97-AF65-F5344CB8AC3E}">
        <p14:creationId xmlns:p14="http://schemas.microsoft.com/office/powerpoint/2010/main" val="453515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US" u="sng" kern="0" dirty="0">
                <a:solidFill>
                  <a:schemeClr val="tx1"/>
                </a:solidFill>
              </a:rPr>
              <a:t>Media</a:t>
            </a:r>
            <a:r>
              <a:rPr lang="en-US" kern="0" dirty="0">
                <a:solidFill>
                  <a:schemeClr val="tx1"/>
                </a:solidFill>
              </a:rPr>
              <a:t>: Disney (DIS) – OW, $128 PT</a:t>
            </a:r>
          </a:p>
        </p:txBody>
      </p:sp>
      <p:sp>
        <p:nvSpPr>
          <p:cNvPr id="4" name="Rectangle 3"/>
          <p:cNvSpPr txBox="1">
            <a:spLocks noChangeArrowheads="1"/>
          </p:cNvSpPr>
          <p:nvPr/>
        </p:nvSpPr>
        <p:spPr bwMode="gray">
          <a:xfrm>
            <a:off x="1096169" y="1295400"/>
            <a:ext cx="7548561" cy="38100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b="1" kern="0" dirty="0"/>
              <a:t>Key issues</a:t>
            </a:r>
          </a:p>
          <a:p>
            <a:pPr lvl="2"/>
            <a:r>
              <a:rPr lang="en-US" kern="0" dirty="0"/>
              <a:t>Can DIS execute to HSD EPS growth guide for F25 and Experiences OI target of 6-8%</a:t>
            </a:r>
          </a:p>
          <a:p>
            <a:pPr lvl="2"/>
            <a:r>
              <a:rPr lang="en-US" kern="0" dirty="0"/>
              <a:t>ESPN Flagship launch in early Fall 2025</a:t>
            </a:r>
          </a:p>
          <a:p>
            <a:pPr lvl="2"/>
            <a:r>
              <a:rPr lang="en-US" kern="0" dirty="0"/>
              <a:t>How sustainable is theatrical performance and can DIS create new IP</a:t>
            </a:r>
          </a:p>
          <a:p>
            <a:pPr lvl="2"/>
            <a:r>
              <a:rPr lang="en-US" kern="0" dirty="0"/>
              <a:t>Succession question</a:t>
            </a:r>
          </a:p>
          <a:p>
            <a:pPr lvl="1"/>
            <a:r>
              <a:rPr lang="en-US" b="1" kern="0" dirty="0"/>
              <a:t>Our take:</a:t>
            </a:r>
          </a:p>
          <a:p>
            <a:pPr lvl="2"/>
            <a:r>
              <a:rPr lang="en-US" kern="0" dirty="0"/>
              <a:t>Guide: DTC outlook looks very achievable, with $875m OI improvement (inclusive of $200m </a:t>
            </a:r>
            <a:r>
              <a:rPr lang="en-US" kern="0" dirty="0" err="1"/>
              <a:t>Hotstar</a:t>
            </a:r>
            <a:r>
              <a:rPr lang="en-US" kern="0" dirty="0"/>
              <a:t> benefit) relative to $2.6b gain in F24, especially with same playbook + better content; </a:t>
            </a:r>
            <a:r>
              <a:rPr lang="en-US" i="1" kern="0" dirty="0"/>
              <a:t>Moana 2</a:t>
            </a:r>
            <a:r>
              <a:rPr lang="en-US" kern="0" dirty="0"/>
              <a:t> outperformance already sets up a cushion in CS&amp;L</a:t>
            </a:r>
          </a:p>
          <a:p>
            <a:pPr lvl="3"/>
            <a:r>
              <a:rPr lang="en-US" kern="0" dirty="0"/>
              <a:t>Experiences outlook incorporates Epic competition. DIS has tools at its disposal: promotions, new attractions, features (Lightning Lane Premier), events, cruises</a:t>
            </a:r>
          </a:p>
          <a:p>
            <a:pPr lvl="2"/>
            <a:r>
              <a:rPr lang="en-US" kern="0" dirty="0"/>
              <a:t>ESPN Flagship: price details lacking so far, though marketing ahead of launch built into forecasts. Concerns about who is the target audience for this service miss that streamers have demonstrated the attraction of sports content to cord </a:t>
            </a:r>
            <a:r>
              <a:rPr lang="en-US" kern="0" dirty="0" err="1"/>
              <a:t>nevers</a:t>
            </a:r>
            <a:r>
              <a:rPr lang="en-US" kern="0" dirty="0"/>
              <a:t> and cord cutters</a:t>
            </a:r>
          </a:p>
          <a:p>
            <a:pPr lvl="3"/>
            <a:r>
              <a:rPr lang="en-US" kern="0" dirty="0"/>
              <a:t>F26 forecast for LSD Sports OI growth against rights inflation an endorsement. Still an opportunity we think to license others’ sports content.</a:t>
            </a:r>
          </a:p>
          <a:p>
            <a:pPr lvl="3"/>
            <a:r>
              <a:rPr lang="en-US" kern="0" dirty="0"/>
              <a:t>Flagship on D+ will drive subs to app and keep them there</a:t>
            </a:r>
          </a:p>
          <a:p>
            <a:pPr lvl="2"/>
            <a:r>
              <a:rPr lang="en-US" kern="0" dirty="0">
                <a:highlight>
                  <a:srgbClr val="FFFFFF"/>
                </a:highlight>
              </a:rPr>
              <a:t>Theatrical: 2024 performance demonstrates creative back on track. 2025 an opportunity to show traction across range of genres. </a:t>
            </a:r>
            <a:r>
              <a:rPr lang="en-US" i="1" kern="0" dirty="0">
                <a:highlight>
                  <a:srgbClr val="FFFFFF"/>
                </a:highlight>
              </a:rPr>
              <a:t>Elio</a:t>
            </a:r>
            <a:r>
              <a:rPr lang="en-US" kern="0" dirty="0">
                <a:highlight>
                  <a:srgbClr val="FFFFFF"/>
                </a:highlight>
              </a:rPr>
              <a:t> will be a test of new IP. </a:t>
            </a:r>
          </a:p>
          <a:p>
            <a:pPr lvl="2"/>
            <a:r>
              <a:rPr lang="en-US" kern="0" dirty="0"/>
              <a:t>CEO succession: expect more clarity over course of year possibly setting up for candidate elevation to COO role for 2026; skeptical on Co-CEO concept</a:t>
            </a:r>
          </a:p>
          <a:p>
            <a:pPr lvl="2"/>
            <a:r>
              <a:rPr lang="en-US" kern="0" dirty="0">
                <a:highlight>
                  <a:srgbClr val="FFFFFF"/>
                </a:highlight>
              </a:rPr>
              <a:t>Overall: see upside to estimates and think DIS can get into beat and raise pattern. Content flywheel working, company a streaming winner</a:t>
            </a:r>
          </a:p>
        </p:txBody>
      </p:sp>
    </p:spTree>
    <p:extLst>
      <p:ext uri="{BB962C8B-B14F-4D97-AF65-F5344CB8AC3E}">
        <p14:creationId xmlns:p14="http://schemas.microsoft.com/office/powerpoint/2010/main" val="2551298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US" u="sng" kern="0" dirty="0">
                <a:solidFill>
                  <a:schemeClr val="tx1"/>
                </a:solidFill>
                <a:highlight>
                  <a:srgbClr val="FFFFFF"/>
                </a:highlight>
              </a:rPr>
              <a:t>Media</a:t>
            </a:r>
            <a:r>
              <a:rPr lang="en-US" kern="0" dirty="0">
                <a:solidFill>
                  <a:schemeClr val="tx1"/>
                </a:solidFill>
                <a:highlight>
                  <a:srgbClr val="FFFFFF"/>
                </a:highlight>
              </a:rPr>
              <a:t>: </a:t>
            </a:r>
            <a:r>
              <a:rPr lang="en-US" dirty="0">
                <a:solidFill>
                  <a:schemeClr val="tx1"/>
                </a:solidFill>
                <a:highlight>
                  <a:srgbClr val="FFFFFF"/>
                </a:highlight>
              </a:rPr>
              <a:t>WBD</a:t>
            </a:r>
            <a:r>
              <a:rPr lang="en-US" kern="0" dirty="0">
                <a:solidFill>
                  <a:schemeClr val="tx1"/>
                </a:solidFill>
                <a:highlight>
                  <a:srgbClr val="FFFFFF"/>
                </a:highlight>
              </a:rPr>
              <a:t> – </a:t>
            </a:r>
            <a:r>
              <a:rPr lang="en-US" dirty="0">
                <a:solidFill>
                  <a:schemeClr val="tx1"/>
                </a:solidFill>
                <a:highlight>
                  <a:srgbClr val="FFFFFF"/>
                </a:highlight>
              </a:rPr>
              <a:t>N</a:t>
            </a:r>
            <a:r>
              <a:rPr lang="en-US" kern="0" dirty="0">
                <a:solidFill>
                  <a:schemeClr val="tx1"/>
                </a:solidFill>
                <a:highlight>
                  <a:srgbClr val="FFFFFF"/>
                </a:highlight>
              </a:rPr>
              <a:t>, $</a:t>
            </a:r>
            <a:r>
              <a:rPr lang="en-US" dirty="0">
                <a:solidFill>
                  <a:schemeClr val="tx1"/>
                </a:solidFill>
                <a:highlight>
                  <a:srgbClr val="FFFFFF"/>
                </a:highlight>
              </a:rPr>
              <a:t>9</a:t>
            </a:r>
            <a:r>
              <a:rPr lang="en-US" kern="0" dirty="0">
                <a:solidFill>
                  <a:schemeClr val="tx1"/>
                </a:solidFill>
                <a:highlight>
                  <a:srgbClr val="FFFFFF"/>
                </a:highlight>
              </a:rPr>
              <a:t> PT, FOXA – N, $42 PT</a:t>
            </a:r>
          </a:p>
        </p:txBody>
      </p:sp>
      <p:sp>
        <p:nvSpPr>
          <p:cNvPr id="3" name="Rectangle 3">
            <a:extLst>
              <a:ext uri="{FF2B5EF4-FFF2-40B4-BE49-F238E27FC236}">
                <a16:creationId xmlns:a16="http://schemas.microsoft.com/office/drawing/2014/main" id="{9E90C96F-4428-3412-E16F-F4547D12B4C2}"/>
              </a:ext>
            </a:extLst>
          </p:cNvPr>
          <p:cNvSpPr txBox="1">
            <a:spLocks noChangeArrowheads="1"/>
          </p:cNvSpPr>
          <p:nvPr/>
        </p:nvSpPr>
        <p:spPr bwMode="gray">
          <a:xfrm>
            <a:off x="1143000" y="1371600"/>
            <a:ext cx="8080375" cy="48006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kern="0" dirty="0">
                <a:solidFill>
                  <a:schemeClr val="tx1"/>
                </a:solidFill>
              </a:rPr>
              <a:t>Warner Bros Discovery (WBD) – N, $9 PT</a:t>
            </a:r>
            <a:endParaRPr lang="en-US" b="1" kern="0" dirty="0">
              <a:solidFill>
                <a:schemeClr val="tx1"/>
              </a:solidFill>
            </a:endParaRPr>
          </a:p>
          <a:p>
            <a:pPr lvl="2"/>
            <a:r>
              <a:rPr lang="en-US" kern="0" dirty="0">
                <a:solidFill>
                  <a:schemeClr val="tx1"/>
                </a:solidFill>
              </a:rPr>
              <a:t>Key Issues: DTC profit level, managing linear decline, studio turnaround, structural options</a:t>
            </a:r>
          </a:p>
          <a:p>
            <a:pPr lvl="2"/>
            <a:r>
              <a:rPr lang="en-US" kern="0" dirty="0">
                <a:solidFill>
                  <a:schemeClr val="tx1"/>
                </a:solidFill>
              </a:rPr>
              <a:t>Our take: Studio and DTC more in focus with worst-case avoided in Linear; structural change welcome but could be premature</a:t>
            </a:r>
          </a:p>
          <a:p>
            <a:pPr lvl="3"/>
            <a:r>
              <a:rPr lang="en-US" kern="0" dirty="0">
                <a:solidFill>
                  <a:schemeClr val="tx1"/>
                </a:solidFill>
              </a:rPr>
              <a:t>DTC has continued path to growth with price increases, bundling, advertising and more regional launches. Consensus ’25 EBITDA of $1.225b already ‘meaningfully’ above $1b; focus will shift to ’26 target</a:t>
            </a:r>
          </a:p>
          <a:p>
            <a:pPr lvl="3"/>
            <a:r>
              <a:rPr lang="en-US" kern="0" dirty="0">
                <a:solidFill>
                  <a:schemeClr val="tx1"/>
                </a:solidFill>
              </a:rPr>
              <a:t>Studio: directionally should improve with better content licensing market, theatrical performance. </a:t>
            </a:r>
            <a:r>
              <a:rPr lang="en-US" i="1" kern="0" dirty="0">
                <a:solidFill>
                  <a:schemeClr val="tx1"/>
                </a:solidFill>
              </a:rPr>
              <a:t>Superman </a:t>
            </a:r>
            <a:r>
              <a:rPr lang="en-US" kern="0" dirty="0">
                <a:solidFill>
                  <a:schemeClr val="tx1"/>
                </a:solidFill>
              </a:rPr>
              <a:t>first test for new DC-era. Execution important to getting total company EBITDA firmly in growth</a:t>
            </a:r>
          </a:p>
          <a:p>
            <a:pPr lvl="3"/>
            <a:r>
              <a:rPr lang="en-US" kern="0" dirty="0">
                <a:solidFill>
                  <a:schemeClr val="tx1"/>
                </a:solidFill>
              </a:rPr>
              <a:t>Linear: worse case effectively avoided with Charter and Comcast deals. Pressures remain though, and our model still assumes segment down trending toward ~$7b EBITDA in ‘26</a:t>
            </a:r>
          </a:p>
          <a:p>
            <a:pPr lvl="3"/>
            <a:r>
              <a:rPr lang="en-US" kern="0" dirty="0">
                <a:solidFill>
                  <a:schemeClr val="tx1"/>
                </a:solidFill>
              </a:rPr>
              <a:t>Structural: unclear to us management wants to pursue full spin of cable business. Arguably some optionality exists for certain channels, TVN, WBI, music catalog</a:t>
            </a:r>
          </a:p>
          <a:p>
            <a:pPr lvl="3"/>
            <a:r>
              <a:rPr lang="en-US" u="sng" kern="0" dirty="0">
                <a:solidFill>
                  <a:schemeClr val="tx1"/>
                </a:solidFill>
              </a:rPr>
              <a:t>Overall take</a:t>
            </a:r>
            <a:r>
              <a:rPr lang="en-US" kern="0" dirty="0">
                <a:solidFill>
                  <a:schemeClr val="tx1"/>
                </a:solidFill>
              </a:rPr>
              <a:t>: recent stock gains reflect effective navigation of NBA loss, prospect for structural change. Absent follow through on the latter, returns will be driven by DTC and studio performance</a:t>
            </a:r>
          </a:p>
          <a:p>
            <a:pPr lvl="1"/>
            <a:r>
              <a:rPr lang="en-US" kern="0" dirty="0">
                <a:solidFill>
                  <a:schemeClr val="tx1"/>
                </a:solidFill>
              </a:rPr>
              <a:t>Fox Corporation (FOXA) – N, $42 PT</a:t>
            </a:r>
          </a:p>
          <a:p>
            <a:pPr lvl="2"/>
            <a:r>
              <a:rPr lang="en-US" kern="0" dirty="0">
                <a:solidFill>
                  <a:schemeClr val="tx1"/>
                </a:solidFill>
              </a:rPr>
              <a:t>Key issues: streaming strategy for sports and news, Tubi investment</a:t>
            </a:r>
          </a:p>
          <a:p>
            <a:pPr lvl="2"/>
            <a:r>
              <a:rPr lang="en-US" kern="0" dirty="0">
                <a:solidFill>
                  <a:schemeClr val="tx1"/>
                </a:solidFill>
              </a:rPr>
              <a:t>Our take: Will continue to benefit from pure play news and sports strategy, but this looks more priced into shares relative to same point last year. In absence of Venu, will need to find alternative path to monetize sports rights on digital</a:t>
            </a:r>
          </a:p>
        </p:txBody>
      </p:sp>
    </p:spTree>
    <p:extLst>
      <p:ext uri="{BB962C8B-B14F-4D97-AF65-F5344CB8AC3E}">
        <p14:creationId xmlns:p14="http://schemas.microsoft.com/office/powerpoint/2010/main" val="2846639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000000"/>
                </a:solidFill>
              </a:rPr>
              <a:t>Media</a:t>
            </a:r>
            <a:r>
              <a:rPr lang="en-US" dirty="0">
                <a:solidFill>
                  <a:srgbClr val="000000"/>
                </a:solidFill>
              </a:rPr>
              <a:t>: PARA, LGF/A: Structural Changes Bring Fresh Look?</a:t>
            </a:r>
            <a:endParaRPr lang="en-US" dirty="0"/>
          </a:p>
        </p:txBody>
      </p:sp>
      <p:sp>
        <p:nvSpPr>
          <p:cNvPr id="4" name="Rectangle 3"/>
          <p:cNvSpPr txBox="1">
            <a:spLocks noChangeArrowheads="1"/>
          </p:cNvSpPr>
          <p:nvPr/>
        </p:nvSpPr>
        <p:spPr bwMode="gray">
          <a:xfrm>
            <a:off x="1143000" y="1371600"/>
            <a:ext cx="8080375" cy="48006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kern="0" dirty="0">
                <a:solidFill>
                  <a:schemeClr val="tx1"/>
                </a:solidFill>
              </a:rPr>
              <a:t>Paramount Global (PARA) – UW, $11 PT</a:t>
            </a:r>
          </a:p>
          <a:p>
            <a:pPr lvl="2"/>
            <a:r>
              <a:rPr lang="en-US" kern="0" dirty="0">
                <a:solidFill>
                  <a:schemeClr val="tx1"/>
                </a:solidFill>
              </a:rPr>
              <a:t>Key issues: DTC profitability, strategic changes</a:t>
            </a:r>
          </a:p>
          <a:p>
            <a:pPr lvl="2"/>
            <a:r>
              <a:rPr lang="en-US" kern="0" dirty="0">
                <a:solidFill>
                  <a:schemeClr val="tx1"/>
                </a:solidFill>
              </a:rPr>
              <a:t>Our take: </a:t>
            </a:r>
          </a:p>
          <a:p>
            <a:pPr lvl="3"/>
            <a:r>
              <a:rPr lang="en-US" kern="0" dirty="0">
                <a:solidFill>
                  <a:schemeClr val="tx1"/>
                </a:solidFill>
              </a:rPr>
              <a:t>Close of Skydance transaction should lead to a fresh look from investors, but will it be a honeymoon or transition period?</a:t>
            </a:r>
          </a:p>
          <a:p>
            <a:pPr lvl="4"/>
            <a:r>
              <a:rPr lang="en-US" kern="0" dirty="0">
                <a:solidFill>
                  <a:schemeClr val="tx1"/>
                </a:solidFill>
              </a:rPr>
              <a:t>Encouraged by incoming management’s reported strategy of continued cost rationalization, potential asset sales or partnerships, better franchise management</a:t>
            </a:r>
          </a:p>
          <a:p>
            <a:pPr lvl="4"/>
            <a:r>
              <a:rPr lang="en-US" kern="0" dirty="0">
                <a:solidFill>
                  <a:schemeClr val="tx1"/>
                </a:solidFill>
              </a:rPr>
              <a:t>Less clear: can management rebuild DTC and at what cost, what will be the approach to Paramount+ international, and how easy it is to disentangle linear cable networks</a:t>
            </a:r>
          </a:p>
          <a:p>
            <a:pPr lvl="2"/>
            <a:r>
              <a:rPr lang="en-US" kern="0" dirty="0">
                <a:solidFill>
                  <a:schemeClr val="tx1"/>
                </a:solidFill>
              </a:rPr>
              <a:t>Meanwhile: underlying challenges in linear and legacy brands remain; even with DTC improvement continue to model negative OIBDA growth in 2025</a:t>
            </a:r>
          </a:p>
          <a:p>
            <a:pPr lvl="1"/>
            <a:r>
              <a:rPr lang="en-US" kern="0" dirty="0">
                <a:solidFill>
                  <a:schemeClr val="tx1"/>
                </a:solidFill>
              </a:rPr>
              <a:t>Lionsgate Entertainment (LGF/A) – UW, $8 PT</a:t>
            </a:r>
          </a:p>
          <a:p>
            <a:pPr lvl="2"/>
            <a:r>
              <a:rPr lang="en-US" kern="0" dirty="0">
                <a:solidFill>
                  <a:schemeClr val="tx1"/>
                </a:solidFill>
              </a:rPr>
              <a:t>Key issues: Studio/Starz separation, theatrical performance, content demand</a:t>
            </a:r>
          </a:p>
          <a:p>
            <a:pPr lvl="2"/>
            <a:r>
              <a:rPr lang="en-US" kern="0" dirty="0">
                <a:solidFill>
                  <a:schemeClr val="tx1"/>
                </a:solidFill>
              </a:rPr>
              <a:t>Our take: </a:t>
            </a:r>
          </a:p>
          <a:p>
            <a:pPr lvl="3"/>
            <a:r>
              <a:rPr lang="en-US" kern="0" dirty="0">
                <a:solidFill>
                  <a:schemeClr val="tx1"/>
                </a:solidFill>
              </a:rPr>
              <a:t>Separation expected by mid-January</a:t>
            </a:r>
          </a:p>
          <a:p>
            <a:pPr lvl="3"/>
            <a:r>
              <a:rPr lang="en-US" kern="0" dirty="0">
                <a:solidFill>
                  <a:schemeClr val="tx1"/>
                </a:solidFill>
              </a:rPr>
              <a:t>LION (not covered) has limited liquidity, but trades at ~12x F25 guide for Studio segment and ~8x our F26 forecast; implied Starz valuation is ~3x</a:t>
            </a:r>
          </a:p>
          <a:p>
            <a:pPr lvl="3"/>
            <a:r>
              <a:rPr lang="en-US" kern="0" dirty="0">
                <a:solidFill>
                  <a:schemeClr val="tx1"/>
                </a:solidFill>
              </a:rPr>
              <a:t>In theory separation could lead to better value realization and M&amp;A optionality</a:t>
            </a:r>
          </a:p>
          <a:p>
            <a:pPr lvl="3"/>
            <a:r>
              <a:rPr lang="en-US" kern="0" dirty="0">
                <a:solidFill>
                  <a:schemeClr val="tx1"/>
                </a:solidFill>
              </a:rPr>
              <a:t>Have questioned outside interest in both Starz and Studios, but split is at least a first step</a:t>
            </a:r>
          </a:p>
          <a:p>
            <a:pPr lvl="3"/>
            <a:r>
              <a:rPr lang="en-US" kern="0" dirty="0">
                <a:solidFill>
                  <a:schemeClr val="tx1"/>
                </a:solidFill>
              </a:rPr>
              <a:t>Studios: challenging F25, but film performance should improve in F26 with slate, non-repeat of </a:t>
            </a:r>
            <a:r>
              <a:rPr lang="en-US" i="1" kern="0" dirty="0">
                <a:solidFill>
                  <a:schemeClr val="tx1"/>
                </a:solidFill>
              </a:rPr>
              <a:t>Borderlands</a:t>
            </a:r>
            <a:r>
              <a:rPr lang="en-US" kern="0" dirty="0">
                <a:solidFill>
                  <a:schemeClr val="tx1"/>
                </a:solidFill>
              </a:rPr>
              <a:t>; cautiously optimistic on demand for scripted and unscripted content</a:t>
            </a:r>
          </a:p>
        </p:txBody>
      </p:sp>
    </p:spTree>
    <p:extLst>
      <p:ext uri="{BB962C8B-B14F-4D97-AF65-F5344CB8AC3E}">
        <p14:creationId xmlns:p14="http://schemas.microsoft.com/office/powerpoint/2010/main" val="14883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000000"/>
                </a:solidFill>
                <a:highlight>
                  <a:srgbClr val="FFFFFF"/>
                </a:highlight>
              </a:rPr>
              <a:t>Broadcasters:</a:t>
            </a:r>
            <a:r>
              <a:rPr lang="en-US" dirty="0">
                <a:solidFill>
                  <a:srgbClr val="000000"/>
                </a:solidFill>
                <a:highlight>
                  <a:srgbClr val="FFFFFF"/>
                </a:highlight>
              </a:rPr>
              <a:t> Easier Regulatory Environment Could Provide Relief Amid Challenged Long-term Trends</a:t>
            </a:r>
            <a:endParaRPr lang="en-US" dirty="0">
              <a:highlight>
                <a:srgbClr val="FFFFFF"/>
              </a:highlight>
            </a:endParaRPr>
          </a:p>
        </p:txBody>
      </p:sp>
      <p:sp>
        <p:nvSpPr>
          <p:cNvPr id="3" name="Rectangle 3">
            <a:extLst>
              <a:ext uri="{FF2B5EF4-FFF2-40B4-BE49-F238E27FC236}">
                <a16:creationId xmlns:a16="http://schemas.microsoft.com/office/drawing/2014/main" id="{DB9FC25A-9429-F8E7-77C9-320AC6E604F5}"/>
              </a:ext>
            </a:extLst>
          </p:cNvPr>
          <p:cNvSpPr txBox="1">
            <a:spLocks noChangeArrowheads="1"/>
          </p:cNvSpPr>
          <p:nvPr/>
        </p:nvSpPr>
        <p:spPr bwMode="gray">
          <a:xfrm>
            <a:off x="1143000" y="1295400"/>
            <a:ext cx="8080375" cy="48006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kern="0" dirty="0">
                <a:solidFill>
                  <a:schemeClr val="tx1"/>
                </a:solidFill>
              </a:rPr>
              <a:t>Sinclair Broadcast Group (SBGI) – UW, $16 PT; TEGNA (TGNA) – N, $19 PT</a:t>
            </a:r>
          </a:p>
          <a:p>
            <a:pPr lvl="2"/>
            <a:r>
              <a:rPr lang="en-US" kern="0" dirty="0">
                <a:solidFill>
                  <a:schemeClr val="tx1"/>
                </a:solidFill>
              </a:rPr>
              <a:t>Backdrop: core advertising trends remain challenged, in particular spend from national marketers. Net retrans less of a driver. Political a bright spot but entering an off-year.</a:t>
            </a:r>
          </a:p>
          <a:p>
            <a:pPr lvl="3"/>
            <a:r>
              <a:rPr lang="en-US" kern="0" dirty="0">
                <a:solidFill>
                  <a:schemeClr val="tx1"/>
                </a:solidFill>
              </a:rPr>
              <a:t>Broadcast in position of relative strength to cable, but investors have same long-term secular concerns</a:t>
            </a:r>
          </a:p>
          <a:p>
            <a:pPr lvl="2"/>
            <a:r>
              <a:rPr lang="en-US" kern="0" dirty="0">
                <a:solidFill>
                  <a:schemeClr val="tx1"/>
                </a:solidFill>
              </a:rPr>
              <a:t>New administration offers prospect of easier regulatory environment at DOJ and FCC</a:t>
            </a:r>
          </a:p>
          <a:p>
            <a:pPr lvl="3"/>
            <a:r>
              <a:rPr lang="en-US" kern="0" dirty="0">
                <a:solidFill>
                  <a:schemeClr val="tx1"/>
                </a:solidFill>
              </a:rPr>
              <a:t>Prior Trump administration saw large station M&amp;A (Nexstar-Tribune; Gray-Raycom)</a:t>
            </a:r>
          </a:p>
          <a:p>
            <a:pPr lvl="3"/>
            <a:r>
              <a:rPr lang="en-US" kern="0" dirty="0">
                <a:solidFill>
                  <a:schemeClr val="tx1"/>
                </a:solidFill>
              </a:rPr>
              <a:t>We view recent re-rating as justified. Further gains from here could require more clarity on FCC/Congressional actions, deal landscape</a:t>
            </a:r>
          </a:p>
          <a:p>
            <a:pPr lvl="2"/>
            <a:r>
              <a:rPr lang="en-US" kern="0" dirty="0">
                <a:solidFill>
                  <a:schemeClr val="tx1"/>
                </a:solidFill>
              </a:rPr>
              <a:t>Possible changes to consider:</a:t>
            </a:r>
          </a:p>
          <a:p>
            <a:pPr lvl="3"/>
            <a:r>
              <a:rPr lang="en-US" kern="0" dirty="0">
                <a:solidFill>
                  <a:schemeClr val="tx1"/>
                </a:solidFill>
              </a:rPr>
              <a:t>Consolidation was relatively difficult past few years: e.g. TEGNA and Standard General</a:t>
            </a:r>
          </a:p>
          <a:p>
            <a:pPr lvl="3"/>
            <a:r>
              <a:rPr lang="en-US" kern="0" dirty="0">
                <a:solidFill>
                  <a:schemeClr val="tx1"/>
                </a:solidFill>
              </a:rPr>
              <a:t>FCC can apply UHF discount</a:t>
            </a:r>
          </a:p>
          <a:p>
            <a:pPr lvl="3"/>
            <a:r>
              <a:rPr lang="en-US" kern="0" dirty="0">
                <a:solidFill>
                  <a:schemeClr val="tx1"/>
                </a:solidFill>
              </a:rPr>
              <a:t>FCC can ease local market ownership rules. We believe broadcasters would be particularly interested in this given the ability to remove duplicative costs in DMAs; would still require DOJ approval</a:t>
            </a:r>
          </a:p>
          <a:p>
            <a:pPr lvl="3"/>
            <a:r>
              <a:rPr lang="en-US" kern="0" dirty="0">
                <a:solidFill>
                  <a:schemeClr val="tx1"/>
                </a:solidFill>
              </a:rPr>
              <a:t>FCC can speed process of sunsetting ATSC 1.0 to clear way for 3.0 B2B cases</a:t>
            </a:r>
          </a:p>
          <a:p>
            <a:pPr lvl="3"/>
            <a:r>
              <a:rPr lang="en-US" kern="0" dirty="0">
                <a:solidFill>
                  <a:schemeClr val="tx1"/>
                </a:solidFill>
              </a:rPr>
              <a:t>We believe changes or removal of ownership cap would require Congress</a:t>
            </a:r>
          </a:p>
          <a:p>
            <a:pPr lvl="3"/>
            <a:r>
              <a:rPr lang="en-US" kern="0" dirty="0">
                <a:solidFill>
                  <a:schemeClr val="tx1"/>
                </a:solidFill>
              </a:rPr>
              <a:t>We believe a change to treatment of vMVPDs – so broadcast groups could negotiate directly – would require congress</a:t>
            </a:r>
          </a:p>
          <a:p>
            <a:pPr lvl="2"/>
            <a:r>
              <a:rPr lang="en-US" kern="0" dirty="0">
                <a:solidFill>
                  <a:schemeClr val="tx1"/>
                </a:solidFill>
              </a:rPr>
              <a:t>Mitigating factors to consider: legal disputes (as is often the case with FCC rule changes), higher interest rates relative to 2017-2020, and worse trends across PayTV and advertising which could limit non-strategic interest</a:t>
            </a:r>
          </a:p>
          <a:p>
            <a:pPr lvl="2"/>
            <a:r>
              <a:rPr lang="en-US" kern="0" dirty="0">
                <a:solidFill>
                  <a:schemeClr val="tx1"/>
                </a:solidFill>
              </a:rPr>
              <a:t>Continue to prefer N-rated TGNA given greater shareholder returns, lower leverage </a:t>
            </a:r>
          </a:p>
          <a:p>
            <a:pPr lvl="1"/>
            <a:endParaRPr lang="en-US" kern="0" dirty="0">
              <a:solidFill>
                <a:schemeClr val="tx1"/>
              </a:solidFill>
            </a:endParaRPr>
          </a:p>
          <a:p>
            <a:pPr lvl="2"/>
            <a:endParaRPr lang="en-US" kern="0" dirty="0">
              <a:solidFill>
                <a:schemeClr val="tx1"/>
              </a:solidFill>
            </a:endParaRPr>
          </a:p>
        </p:txBody>
      </p:sp>
    </p:spTree>
    <p:extLst>
      <p:ext uri="{BB962C8B-B14F-4D97-AF65-F5344CB8AC3E}">
        <p14:creationId xmlns:p14="http://schemas.microsoft.com/office/powerpoint/2010/main" val="2450074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000000"/>
                </a:solidFill>
              </a:rPr>
              <a:t>Ad Agencies </a:t>
            </a:r>
            <a:r>
              <a:rPr lang="en-US" dirty="0">
                <a:solidFill>
                  <a:srgbClr val="000000"/>
                </a:solidFill>
              </a:rPr>
              <a:t>and Advertising Outlook</a:t>
            </a:r>
            <a:endParaRPr lang="en-US" dirty="0"/>
          </a:p>
        </p:txBody>
      </p:sp>
      <p:sp>
        <p:nvSpPr>
          <p:cNvPr id="4" name="Rectangle 3"/>
          <p:cNvSpPr txBox="1">
            <a:spLocks noChangeArrowheads="1"/>
          </p:cNvSpPr>
          <p:nvPr/>
        </p:nvSpPr>
        <p:spPr bwMode="gray">
          <a:xfrm>
            <a:off x="982663" y="1349211"/>
            <a:ext cx="8001000" cy="25146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kern="0" dirty="0"/>
              <a:t>Big-4 holding company organic growth is +3.0% y/y through Sept 30 with guidance implying +3.0% in 2024; YTD including smaller agency groups is +2.4%</a:t>
            </a:r>
          </a:p>
          <a:p>
            <a:pPr lvl="2"/>
            <a:r>
              <a:rPr lang="en-US" kern="0" dirty="0"/>
              <a:t>North America +3.2%; Int’l +2.7%</a:t>
            </a:r>
          </a:p>
          <a:p>
            <a:pPr lvl="1"/>
            <a:r>
              <a:rPr lang="en-US" kern="0" dirty="0"/>
              <a:t>What continues to work for the agencies: media, PR, experiential, data management</a:t>
            </a:r>
          </a:p>
          <a:p>
            <a:pPr lvl="2"/>
            <a:r>
              <a:rPr lang="en-US" u="sng" kern="0" dirty="0"/>
              <a:t>Media complexity</a:t>
            </a:r>
            <a:r>
              <a:rPr lang="en-US" kern="0" dirty="0"/>
              <a:t>: digital share shifts, retail media, CTV channels, “everything is an ad network”, greater use of 1P data, mass personalization all widen scope of agency services</a:t>
            </a:r>
          </a:p>
          <a:p>
            <a:pPr lvl="1"/>
            <a:r>
              <a:rPr lang="en-US" kern="0" dirty="0"/>
              <a:t>What are the headwinds: digital business transformation spend delays; specialty agencies; creative remains limited growth but production has momentum</a:t>
            </a:r>
          </a:p>
        </p:txBody>
      </p:sp>
      <p:sp>
        <p:nvSpPr>
          <p:cNvPr id="6" name="TextBox 5">
            <a:extLst>
              <a:ext uri="{FF2B5EF4-FFF2-40B4-BE49-F238E27FC236}">
                <a16:creationId xmlns:a16="http://schemas.microsoft.com/office/drawing/2014/main" id="{EF4F65B8-69D0-4027-8708-622AAC3BB4B4}"/>
              </a:ext>
            </a:extLst>
          </p:cNvPr>
          <p:cNvSpPr txBox="1"/>
          <p:nvPr/>
        </p:nvSpPr>
        <p:spPr>
          <a:xfrm>
            <a:off x="838200" y="3810000"/>
            <a:ext cx="4191000" cy="261610"/>
          </a:xfrm>
          <a:prstGeom prst="rect">
            <a:avLst/>
          </a:prstGeom>
          <a:solidFill>
            <a:schemeClr val="accent1"/>
          </a:solidFill>
        </p:spPr>
        <p:txBody>
          <a:bodyPr wrap="square" rtlCol="0">
            <a:spAutoFit/>
          </a:bodyPr>
          <a:lstStyle/>
          <a:p>
            <a:r>
              <a:rPr lang="en-US" b="1" dirty="0">
                <a:solidFill>
                  <a:schemeClr val="bg1"/>
                </a:solidFill>
              </a:rPr>
              <a:t>Ad Agency Historical Annual Growth - Annual</a:t>
            </a:r>
          </a:p>
        </p:txBody>
      </p:sp>
      <p:sp>
        <p:nvSpPr>
          <p:cNvPr id="7" name="TextBox 6">
            <a:extLst>
              <a:ext uri="{FF2B5EF4-FFF2-40B4-BE49-F238E27FC236}">
                <a16:creationId xmlns:a16="http://schemas.microsoft.com/office/drawing/2014/main" id="{C2857F33-3598-45BB-ACDD-D84FE2268958}"/>
              </a:ext>
            </a:extLst>
          </p:cNvPr>
          <p:cNvSpPr txBox="1"/>
          <p:nvPr/>
        </p:nvSpPr>
        <p:spPr>
          <a:xfrm>
            <a:off x="757238" y="6402153"/>
            <a:ext cx="4419600" cy="338554"/>
          </a:xfrm>
          <a:prstGeom prst="rect">
            <a:avLst/>
          </a:prstGeom>
          <a:noFill/>
        </p:spPr>
        <p:txBody>
          <a:bodyPr wrap="square" rtlCol="0">
            <a:spAutoFit/>
          </a:bodyPr>
          <a:lstStyle/>
          <a:p>
            <a:pPr algn="l"/>
            <a:r>
              <a:rPr lang="en-US" sz="800" dirty="0">
                <a:latin typeface="Arial Narrow" panose="020B0606020202030204" pitchFamily="34" charset="0"/>
              </a:rPr>
              <a:t>Source: Company reports. Note: Historical includes IPG, OMC, PUB, WPP. 2024E aggregates company guidance from IPG, OMC, PUB, WPP</a:t>
            </a:r>
          </a:p>
        </p:txBody>
      </p:sp>
      <p:sp>
        <p:nvSpPr>
          <p:cNvPr id="8" name="TextBox 7">
            <a:extLst>
              <a:ext uri="{FF2B5EF4-FFF2-40B4-BE49-F238E27FC236}">
                <a16:creationId xmlns:a16="http://schemas.microsoft.com/office/drawing/2014/main" id="{06A79C1F-52BC-F6E8-82D5-9EC3C75E566B}"/>
              </a:ext>
            </a:extLst>
          </p:cNvPr>
          <p:cNvSpPr txBox="1"/>
          <p:nvPr/>
        </p:nvSpPr>
        <p:spPr>
          <a:xfrm>
            <a:off x="5257800" y="3810000"/>
            <a:ext cx="4286250" cy="261610"/>
          </a:xfrm>
          <a:prstGeom prst="rect">
            <a:avLst/>
          </a:prstGeom>
          <a:solidFill>
            <a:schemeClr val="accent1"/>
          </a:solidFill>
        </p:spPr>
        <p:txBody>
          <a:bodyPr wrap="square" rtlCol="0">
            <a:spAutoFit/>
          </a:bodyPr>
          <a:lstStyle/>
          <a:p>
            <a:r>
              <a:rPr lang="en-US" b="1" dirty="0">
                <a:solidFill>
                  <a:schemeClr val="bg1"/>
                </a:solidFill>
              </a:rPr>
              <a:t>Ad Agency Historical Annual Growth - Quarterly</a:t>
            </a:r>
          </a:p>
        </p:txBody>
      </p:sp>
      <p:sp>
        <p:nvSpPr>
          <p:cNvPr id="10" name="TextBox 9">
            <a:extLst>
              <a:ext uri="{FF2B5EF4-FFF2-40B4-BE49-F238E27FC236}">
                <a16:creationId xmlns:a16="http://schemas.microsoft.com/office/drawing/2014/main" id="{544AF517-4394-13EA-79DA-0F49D5E65296}"/>
              </a:ext>
            </a:extLst>
          </p:cNvPr>
          <p:cNvSpPr txBox="1"/>
          <p:nvPr/>
        </p:nvSpPr>
        <p:spPr>
          <a:xfrm>
            <a:off x="5255662" y="6441531"/>
            <a:ext cx="4419600" cy="215444"/>
          </a:xfrm>
          <a:prstGeom prst="rect">
            <a:avLst/>
          </a:prstGeom>
          <a:noFill/>
        </p:spPr>
        <p:txBody>
          <a:bodyPr wrap="square" rtlCol="0">
            <a:spAutoFit/>
          </a:bodyPr>
          <a:lstStyle/>
          <a:p>
            <a:pPr algn="l"/>
            <a:r>
              <a:rPr lang="en-US" sz="800" dirty="0">
                <a:latin typeface="Arial Narrow" panose="020B0606020202030204" pitchFamily="34" charset="0"/>
              </a:rPr>
              <a:t>Source: Company reports. Note: Historical includes IPG, OMC, PUB, WPP, STGW, Dentsu Ex-Japan, Havas</a:t>
            </a:r>
          </a:p>
        </p:txBody>
      </p:sp>
      <p:pic>
        <p:nvPicPr>
          <p:cNvPr id="11" name="Picture 10">
            <a:extLst>
              <a:ext uri="{FF2B5EF4-FFF2-40B4-BE49-F238E27FC236}">
                <a16:creationId xmlns:a16="http://schemas.microsoft.com/office/drawing/2014/main" id="{8121EF9B-89E5-E91A-1441-205CDD698BAF}"/>
              </a:ext>
            </a:extLst>
          </p:cNvPr>
          <p:cNvPicPr>
            <a:picLocks noChangeAspect="1"/>
          </p:cNvPicPr>
          <p:nvPr/>
        </p:nvPicPr>
        <p:blipFill>
          <a:blip r:embed="rId3"/>
          <a:stretch>
            <a:fillRect/>
          </a:stretch>
        </p:blipFill>
        <p:spPr>
          <a:xfrm>
            <a:off x="5255662" y="4116063"/>
            <a:ext cx="4286250" cy="2317848"/>
          </a:xfrm>
          <a:prstGeom prst="rect">
            <a:avLst/>
          </a:prstGeom>
        </p:spPr>
      </p:pic>
      <p:pic>
        <p:nvPicPr>
          <p:cNvPr id="13" name="Picture 12">
            <a:extLst>
              <a:ext uri="{FF2B5EF4-FFF2-40B4-BE49-F238E27FC236}">
                <a16:creationId xmlns:a16="http://schemas.microsoft.com/office/drawing/2014/main" id="{37B68C77-923C-0CDC-E275-31D5C5641F94}"/>
              </a:ext>
            </a:extLst>
          </p:cNvPr>
          <p:cNvPicPr>
            <a:picLocks noChangeAspect="1"/>
          </p:cNvPicPr>
          <p:nvPr/>
        </p:nvPicPr>
        <p:blipFill>
          <a:blip r:embed="rId4"/>
          <a:stretch>
            <a:fillRect/>
          </a:stretch>
        </p:blipFill>
        <p:spPr>
          <a:xfrm>
            <a:off x="828156" y="4156593"/>
            <a:ext cx="4201044" cy="2190867"/>
          </a:xfrm>
          <a:prstGeom prst="rect">
            <a:avLst/>
          </a:prstGeom>
        </p:spPr>
      </p:pic>
    </p:spTree>
    <p:extLst>
      <p:ext uri="{BB962C8B-B14F-4D97-AF65-F5344CB8AC3E}">
        <p14:creationId xmlns:p14="http://schemas.microsoft.com/office/powerpoint/2010/main" val="1273293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000000"/>
                </a:solidFill>
              </a:rPr>
              <a:t>Ad Agencies </a:t>
            </a:r>
            <a:r>
              <a:rPr lang="en-US" dirty="0">
                <a:solidFill>
                  <a:srgbClr val="000000"/>
                </a:solidFill>
              </a:rPr>
              <a:t>and Advertising Outlook</a:t>
            </a:r>
            <a:endParaRPr lang="en-US" dirty="0"/>
          </a:p>
        </p:txBody>
      </p:sp>
      <p:sp>
        <p:nvSpPr>
          <p:cNvPr id="4" name="Rectangle 3"/>
          <p:cNvSpPr txBox="1">
            <a:spLocks noChangeArrowheads="1"/>
          </p:cNvSpPr>
          <p:nvPr/>
        </p:nvSpPr>
        <p:spPr bwMode="gray">
          <a:xfrm>
            <a:off x="988219" y="1295400"/>
            <a:ext cx="8081962" cy="63246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kern="0" dirty="0"/>
              <a:t>2024: pick up in agency organic since Q3’23 followed trough in industry ad spend growth in Q1’23 and subsequent acceleration; 2H’24 ad spend slows relative to 1H’24</a:t>
            </a:r>
          </a:p>
          <a:p>
            <a:pPr lvl="1"/>
            <a:r>
              <a:rPr lang="en-US" kern="0" dirty="0"/>
              <a:t>2025 Ad Spend outlooks are supportive of continued organic growth</a:t>
            </a:r>
          </a:p>
          <a:p>
            <a:pPr lvl="2"/>
            <a:r>
              <a:rPr lang="en-US" kern="0" dirty="0"/>
              <a:t>MAGNA: +6.1% in 2025 (vs. 10.3% in 2024); US +4.9% (+7.3% ex-cyclical vs. +9.9% in ‘24)</a:t>
            </a:r>
          </a:p>
          <a:p>
            <a:pPr lvl="3"/>
            <a:r>
              <a:rPr lang="en-US" kern="0" dirty="0"/>
              <a:t>2024: +10% was best in 25 years ex-COVID recovery despite uncertain macro</a:t>
            </a:r>
          </a:p>
          <a:p>
            <a:pPr lvl="3"/>
            <a:r>
              <a:rPr lang="en-US" kern="0" dirty="0"/>
              <a:t>2025: +6% growth driven by supportive macro backdrop and organic factors incl. retail media, streaming, AI (boosts demand and improves tools)</a:t>
            </a:r>
          </a:p>
          <a:p>
            <a:pPr lvl="2"/>
            <a:r>
              <a:rPr lang="en-US" kern="0" dirty="0"/>
              <a:t>GroupM: +7.7 in 2025, ex-cyclical (vs. 9.5% in 2024)</a:t>
            </a:r>
          </a:p>
          <a:p>
            <a:pPr lvl="3"/>
            <a:r>
              <a:rPr lang="en-US" kern="0" dirty="0"/>
              <a:t>2025: categories led by digital (+10%), OOH (+7%), cinema (+5%); geographies led by China (+14%), Brazil (+12%), India (+10%), with US +9%</a:t>
            </a:r>
          </a:p>
          <a:p>
            <a:pPr lvl="1"/>
            <a:r>
              <a:rPr lang="en-US" kern="0" dirty="0"/>
              <a:t>Other factors to consider for sector in 2025:</a:t>
            </a:r>
          </a:p>
          <a:p>
            <a:pPr lvl="2"/>
            <a:r>
              <a:rPr lang="en-US" kern="0" dirty="0"/>
              <a:t>Cyclical comps: will dampen growth. Olympics benefitted experiential in Q2/Q3, US election benefitted PR in Q3/Q4. </a:t>
            </a:r>
          </a:p>
          <a:p>
            <a:pPr lvl="2"/>
            <a:r>
              <a:rPr lang="en-US" kern="0" dirty="0"/>
              <a:t>Macro: effects of new administration on rates/inflation/taxes/regulation will be digested. In recent management meetings, marketing environment framed as uncertain but clients factoring this and not pausing</a:t>
            </a:r>
          </a:p>
          <a:p>
            <a:pPr lvl="2"/>
            <a:r>
              <a:rPr lang="en-US" kern="0" dirty="0">
                <a:solidFill>
                  <a:schemeClr val="tx1"/>
                </a:solidFill>
              </a:rPr>
              <a:t>AI: </a:t>
            </a:r>
            <a:r>
              <a:rPr lang="en-US" kern="0" dirty="0" err="1">
                <a:solidFill>
                  <a:schemeClr val="tx1"/>
                </a:solidFill>
              </a:rPr>
              <a:t>holdcos</a:t>
            </a:r>
            <a:r>
              <a:rPr lang="en-US" kern="0" dirty="0">
                <a:solidFill>
                  <a:schemeClr val="tx1"/>
                </a:solidFill>
              </a:rPr>
              <a:t> have spent 2024 deploying and testing Gen-AI across organization. 2025 will see more clarity around best use cases, areas for investment. Conversations on new remuneration models are still early</a:t>
            </a:r>
          </a:p>
          <a:p>
            <a:pPr lvl="2"/>
            <a:r>
              <a:rPr lang="en-US" kern="0" dirty="0">
                <a:solidFill>
                  <a:schemeClr val="tx1"/>
                </a:solidFill>
              </a:rPr>
              <a:t>Centralization: agencies increasingly consolidating services with production latest example. Potentially under-appreciated is ability to tag and link data/assets across the marketing journey and receive more value for services provided</a:t>
            </a:r>
          </a:p>
        </p:txBody>
      </p:sp>
    </p:spTree>
    <p:extLst>
      <p:ext uri="{BB962C8B-B14F-4D97-AF65-F5344CB8AC3E}">
        <p14:creationId xmlns:p14="http://schemas.microsoft.com/office/powerpoint/2010/main" val="1988741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000000"/>
                </a:solidFill>
              </a:rPr>
              <a:t>Ad Agencies</a:t>
            </a:r>
            <a:r>
              <a:rPr lang="en-US" dirty="0">
                <a:solidFill>
                  <a:srgbClr val="000000"/>
                </a:solidFill>
              </a:rPr>
              <a:t>: Omnicom Group (OMC) – OW, $119 PT; (IPG – N)</a:t>
            </a:r>
            <a:endParaRPr lang="en-US" dirty="0"/>
          </a:p>
        </p:txBody>
      </p:sp>
      <p:sp>
        <p:nvSpPr>
          <p:cNvPr id="4" name="Rectangle 3"/>
          <p:cNvSpPr txBox="1">
            <a:spLocks noChangeArrowheads="1"/>
          </p:cNvSpPr>
          <p:nvPr/>
        </p:nvSpPr>
        <p:spPr bwMode="gray">
          <a:xfrm>
            <a:off x="940393" y="1417859"/>
            <a:ext cx="8386762" cy="15240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b="1" kern="0" dirty="0"/>
              <a:t>Key issues (OMC): </a:t>
            </a:r>
          </a:p>
          <a:p>
            <a:pPr lvl="2"/>
            <a:r>
              <a:rPr lang="en-US" kern="0" dirty="0"/>
              <a:t>IPG acquisition: regulatory, revenue synergies vs dis-synergies, account/talent risk</a:t>
            </a:r>
          </a:p>
          <a:p>
            <a:pPr lvl="2"/>
            <a:r>
              <a:rPr lang="en-US" kern="0" dirty="0"/>
              <a:t>New Business: strong record in 2024; will this momentum continue into 2025?</a:t>
            </a:r>
          </a:p>
          <a:p>
            <a:pPr lvl="2"/>
            <a:r>
              <a:rPr lang="en-US" kern="0" dirty="0"/>
              <a:t>AI: how will developments weigh on sentiment?</a:t>
            </a:r>
          </a:p>
          <a:p>
            <a:pPr lvl="2"/>
            <a:r>
              <a:rPr lang="en-US" kern="0" dirty="0"/>
              <a:t>Will OMC grow margin in 2025?</a:t>
            </a:r>
          </a:p>
          <a:p>
            <a:pPr lvl="1"/>
            <a:r>
              <a:rPr lang="en-US" b="1" kern="0" dirty="0"/>
              <a:t>Our take (OMC): </a:t>
            </a:r>
          </a:p>
          <a:p>
            <a:pPr lvl="2"/>
            <a:r>
              <a:rPr lang="en-US" kern="0" dirty="0"/>
              <a:t>OMC enters 2025 with new business momentum, particularly in media</a:t>
            </a:r>
          </a:p>
          <a:p>
            <a:pPr lvl="2"/>
            <a:r>
              <a:rPr lang="en-US" kern="0" dirty="0"/>
              <a:t>AI: sentiment troughed in mid-2024. While onus is still on OMC and peers to prove they can be AI winners, we think agencies will continue to be trusted as complexity increases, have an advantage on creative and tech talent, and are better positioned to deploy tools on behalf of clients</a:t>
            </a:r>
          </a:p>
          <a:p>
            <a:pPr lvl="2"/>
            <a:r>
              <a:rPr lang="en-US" kern="0" dirty="0"/>
              <a:t>Margin: directional support from organic growth, easing of client onboarding headwind (e.g. Amazon), less incremental Gen-AI or platform investments, Flywheel integration</a:t>
            </a:r>
          </a:p>
        </p:txBody>
      </p:sp>
      <p:sp>
        <p:nvSpPr>
          <p:cNvPr id="6" name="TextBox 5">
            <a:extLst>
              <a:ext uri="{FF2B5EF4-FFF2-40B4-BE49-F238E27FC236}">
                <a16:creationId xmlns:a16="http://schemas.microsoft.com/office/drawing/2014/main" id="{EF4F65B8-69D0-4027-8708-622AAC3BB4B4}"/>
              </a:ext>
            </a:extLst>
          </p:cNvPr>
          <p:cNvSpPr txBox="1"/>
          <p:nvPr/>
        </p:nvSpPr>
        <p:spPr>
          <a:xfrm>
            <a:off x="1371600" y="4850759"/>
            <a:ext cx="3657600" cy="261610"/>
          </a:xfrm>
          <a:prstGeom prst="rect">
            <a:avLst/>
          </a:prstGeom>
          <a:solidFill>
            <a:schemeClr val="accent1"/>
          </a:solidFill>
        </p:spPr>
        <p:txBody>
          <a:bodyPr wrap="square" rtlCol="0">
            <a:spAutoFit/>
          </a:bodyPr>
          <a:lstStyle/>
          <a:p>
            <a:r>
              <a:rPr lang="en-US" b="1" dirty="0">
                <a:solidFill>
                  <a:schemeClr val="bg1"/>
                </a:solidFill>
              </a:rPr>
              <a:t>OMC: 1-YR FWD P/E Historical</a:t>
            </a:r>
          </a:p>
        </p:txBody>
      </p:sp>
      <p:sp>
        <p:nvSpPr>
          <p:cNvPr id="7" name="TextBox 6">
            <a:extLst>
              <a:ext uri="{FF2B5EF4-FFF2-40B4-BE49-F238E27FC236}">
                <a16:creationId xmlns:a16="http://schemas.microsoft.com/office/drawing/2014/main" id="{C2857F33-3598-45BB-ACDD-D84FE2268958}"/>
              </a:ext>
            </a:extLst>
          </p:cNvPr>
          <p:cNvSpPr txBox="1"/>
          <p:nvPr/>
        </p:nvSpPr>
        <p:spPr>
          <a:xfrm>
            <a:off x="1347317" y="7404556"/>
            <a:ext cx="3529484" cy="215444"/>
          </a:xfrm>
          <a:prstGeom prst="rect">
            <a:avLst/>
          </a:prstGeom>
          <a:noFill/>
        </p:spPr>
        <p:txBody>
          <a:bodyPr wrap="square" rtlCol="0">
            <a:spAutoFit/>
          </a:bodyPr>
          <a:lstStyle/>
          <a:p>
            <a:pPr algn="l"/>
            <a:r>
              <a:rPr lang="en-US" sz="800" dirty="0">
                <a:latin typeface="Arial Narrow" panose="020B0606020202030204" pitchFamily="34" charset="0"/>
              </a:rPr>
              <a:t>Source: Bloomberg</a:t>
            </a:r>
          </a:p>
        </p:txBody>
      </p:sp>
      <p:sp>
        <p:nvSpPr>
          <p:cNvPr id="8" name="TextBox 7">
            <a:extLst>
              <a:ext uri="{FF2B5EF4-FFF2-40B4-BE49-F238E27FC236}">
                <a16:creationId xmlns:a16="http://schemas.microsoft.com/office/drawing/2014/main" id="{ABCE9E67-DC3E-4563-B419-4523CC82F456}"/>
              </a:ext>
            </a:extLst>
          </p:cNvPr>
          <p:cNvSpPr txBox="1"/>
          <p:nvPr/>
        </p:nvSpPr>
        <p:spPr>
          <a:xfrm>
            <a:off x="5562600" y="4850759"/>
            <a:ext cx="3731898" cy="261610"/>
          </a:xfrm>
          <a:prstGeom prst="rect">
            <a:avLst/>
          </a:prstGeom>
          <a:solidFill>
            <a:schemeClr val="accent1"/>
          </a:solidFill>
        </p:spPr>
        <p:txBody>
          <a:bodyPr wrap="square" rtlCol="0">
            <a:spAutoFit/>
          </a:bodyPr>
          <a:lstStyle/>
          <a:p>
            <a:r>
              <a:rPr lang="en-US" b="1" dirty="0">
                <a:solidFill>
                  <a:schemeClr val="bg1"/>
                </a:solidFill>
              </a:rPr>
              <a:t>OMC: P/E Discount to SPX Historical</a:t>
            </a:r>
          </a:p>
        </p:txBody>
      </p:sp>
      <p:sp>
        <p:nvSpPr>
          <p:cNvPr id="9" name="TextBox 8">
            <a:extLst>
              <a:ext uri="{FF2B5EF4-FFF2-40B4-BE49-F238E27FC236}">
                <a16:creationId xmlns:a16="http://schemas.microsoft.com/office/drawing/2014/main" id="{388D7DFC-DDFD-42AC-972B-A647FF362ACA}"/>
              </a:ext>
            </a:extLst>
          </p:cNvPr>
          <p:cNvSpPr txBox="1"/>
          <p:nvPr/>
        </p:nvSpPr>
        <p:spPr>
          <a:xfrm>
            <a:off x="5562600" y="7069939"/>
            <a:ext cx="2209800" cy="215444"/>
          </a:xfrm>
          <a:prstGeom prst="rect">
            <a:avLst/>
          </a:prstGeom>
          <a:noFill/>
        </p:spPr>
        <p:txBody>
          <a:bodyPr wrap="square" rtlCol="0">
            <a:spAutoFit/>
          </a:bodyPr>
          <a:lstStyle/>
          <a:p>
            <a:pPr algn="l"/>
            <a:r>
              <a:rPr lang="en-US" sz="800" dirty="0">
                <a:latin typeface="Arial Narrow" panose="020B0606020202030204" pitchFamily="34" charset="0"/>
              </a:rPr>
              <a:t>Source: Bloomberg</a:t>
            </a:r>
          </a:p>
        </p:txBody>
      </p:sp>
      <p:graphicFrame>
        <p:nvGraphicFramePr>
          <p:cNvPr id="5" name="Chart 4">
            <a:extLst>
              <a:ext uri="{FF2B5EF4-FFF2-40B4-BE49-F238E27FC236}">
                <a16:creationId xmlns:a16="http://schemas.microsoft.com/office/drawing/2014/main" id="{6FC1EA34-BBB0-01DD-268D-AEBDB2916C8B}"/>
              </a:ext>
            </a:extLst>
          </p:cNvPr>
          <p:cNvGraphicFramePr>
            <a:graphicFrameLocks/>
          </p:cNvGraphicFramePr>
          <p:nvPr/>
        </p:nvGraphicFramePr>
        <p:xfrm>
          <a:off x="1371600" y="5110756"/>
          <a:ext cx="3657600" cy="2293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57886B6C-0598-DC4E-4927-D3C1265C8232}"/>
              </a:ext>
            </a:extLst>
          </p:cNvPr>
          <p:cNvGraphicFramePr>
            <a:graphicFrameLocks/>
          </p:cNvGraphicFramePr>
          <p:nvPr/>
        </p:nvGraphicFramePr>
        <p:xfrm>
          <a:off x="5562600" y="5110757"/>
          <a:ext cx="3731898" cy="197584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86736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000000"/>
                </a:solidFill>
              </a:rPr>
              <a:t>Ad Agencies</a:t>
            </a:r>
            <a:r>
              <a:rPr lang="en-US" dirty="0">
                <a:solidFill>
                  <a:srgbClr val="000000"/>
                </a:solidFill>
              </a:rPr>
              <a:t>: Omnicom Group (OMC) – IPG Acquisition</a:t>
            </a:r>
            <a:endParaRPr lang="en-US" dirty="0"/>
          </a:p>
        </p:txBody>
      </p:sp>
      <p:sp>
        <p:nvSpPr>
          <p:cNvPr id="4" name="Rectangle 3"/>
          <p:cNvSpPr txBox="1">
            <a:spLocks noChangeArrowheads="1"/>
          </p:cNvSpPr>
          <p:nvPr/>
        </p:nvSpPr>
        <p:spPr bwMode="gray">
          <a:xfrm>
            <a:off x="914400" y="1447800"/>
            <a:ext cx="8386762" cy="15240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b="1" kern="0" dirty="0"/>
              <a:t>Strategic merits of the deal</a:t>
            </a:r>
          </a:p>
          <a:p>
            <a:pPr lvl="2"/>
            <a:r>
              <a:rPr lang="en-US" kern="0" dirty="0"/>
              <a:t>Leverage investments and M&amp;A across larger client base; scale benefits</a:t>
            </a:r>
          </a:p>
          <a:p>
            <a:pPr lvl="2"/>
            <a:r>
              <a:rPr lang="en-US" kern="0" dirty="0"/>
              <a:t>Flywheel (transactional) + Acxiom (consumer) data; better Acxiom monetization</a:t>
            </a:r>
          </a:p>
          <a:p>
            <a:pPr lvl="2"/>
            <a:r>
              <a:rPr lang="en-US" kern="0" dirty="0"/>
              <a:t>Higher exposure to growth areas like experiential, healthcare</a:t>
            </a:r>
          </a:p>
          <a:p>
            <a:pPr lvl="2"/>
            <a:r>
              <a:rPr lang="en-US" kern="0" dirty="0"/>
              <a:t>Accelerate IPG in principal media buying</a:t>
            </a:r>
          </a:p>
          <a:p>
            <a:pPr lvl="2"/>
            <a:r>
              <a:rPr lang="en-US" kern="0" dirty="0"/>
              <a:t>$750m of cost synergies, with significant majority achievable in 24 months</a:t>
            </a:r>
          </a:p>
          <a:p>
            <a:pPr lvl="1"/>
            <a:r>
              <a:rPr lang="en-US" b="1" kern="0" dirty="0"/>
              <a:t>Investor concerns on accounts/talent could linger, but management appears aware of risks</a:t>
            </a:r>
          </a:p>
          <a:p>
            <a:pPr lvl="2"/>
            <a:r>
              <a:rPr lang="en-US" kern="0" dirty="0"/>
              <a:t>Lessons learned from OMC/PUB terminated merger in 2013</a:t>
            </a:r>
          </a:p>
          <a:p>
            <a:pPr lvl="3"/>
            <a:r>
              <a:rPr lang="en-US" kern="0" dirty="0"/>
              <a:t>Leadership for OMC going forward is set</a:t>
            </a:r>
          </a:p>
          <a:p>
            <a:pPr lvl="3"/>
            <a:r>
              <a:rPr lang="en-US" kern="0" dirty="0"/>
              <a:t>Cultures more complementary</a:t>
            </a:r>
          </a:p>
          <a:p>
            <a:pPr lvl="2"/>
            <a:r>
              <a:rPr lang="en-US" kern="0" dirty="0"/>
              <a:t>Combined platform will be an attractive destination for talent</a:t>
            </a:r>
          </a:p>
          <a:p>
            <a:pPr lvl="2"/>
            <a:r>
              <a:rPr lang="en-US" kern="0" dirty="0"/>
              <a:t>Client conflict less of a factor, can be managed</a:t>
            </a:r>
          </a:p>
          <a:p>
            <a:pPr lvl="1"/>
            <a:r>
              <a:rPr lang="en-US" b="1" kern="0" dirty="0"/>
              <a:t>Regulatory considerations</a:t>
            </a:r>
          </a:p>
          <a:p>
            <a:pPr lvl="2"/>
            <a:r>
              <a:rPr lang="en-US" kern="0" dirty="0"/>
              <a:t>Combined revenue shares less than 40% of Big-4 plus other public agencies</a:t>
            </a:r>
          </a:p>
          <a:p>
            <a:pPr lvl="2"/>
            <a:r>
              <a:rPr lang="en-US" kern="0" dirty="0"/>
              <a:t>Substantially less when adding independents, consulting firms, IT services</a:t>
            </a:r>
          </a:p>
          <a:p>
            <a:pPr lvl="1"/>
            <a:r>
              <a:rPr lang="en-US" b="1" kern="0" dirty="0"/>
              <a:t>We don’t expect another party to step-in for IPG</a:t>
            </a:r>
          </a:p>
          <a:p>
            <a:pPr lvl="2"/>
            <a:r>
              <a:rPr lang="en-US" kern="0" dirty="0"/>
              <a:t>Process ran for a year, including private equity. Europe or APAC based </a:t>
            </a:r>
            <a:r>
              <a:rPr lang="en-US" kern="0" dirty="0" err="1"/>
              <a:t>holdcos</a:t>
            </a:r>
            <a:r>
              <a:rPr lang="en-US" kern="0" dirty="0"/>
              <a:t> would have to overcome untangling OMC deal, integration issues from combining US and non-US</a:t>
            </a:r>
          </a:p>
        </p:txBody>
      </p:sp>
    </p:spTree>
    <p:extLst>
      <p:ext uri="{BB962C8B-B14F-4D97-AF65-F5344CB8AC3E}">
        <p14:creationId xmlns:p14="http://schemas.microsoft.com/office/powerpoint/2010/main" val="803517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000000"/>
                </a:solidFill>
              </a:rPr>
              <a:t>Entertainment</a:t>
            </a:r>
            <a:r>
              <a:rPr lang="en-US" dirty="0">
                <a:solidFill>
                  <a:srgbClr val="000000"/>
                </a:solidFill>
              </a:rPr>
              <a:t>: Live Nation (LYV) – Overweight, $150 PT</a:t>
            </a:r>
            <a:endParaRPr lang="en-US" dirty="0"/>
          </a:p>
        </p:txBody>
      </p:sp>
      <p:sp>
        <p:nvSpPr>
          <p:cNvPr id="4" name="Rectangle 3"/>
          <p:cNvSpPr txBox="1">
            <a:spLocks noChangeArrowheads="1"/>
          </p:cNvSpPr>
          <p:nvPr/>
        </p:nvSpPr>
        <p:spPr bwMode="gray">
          <a:xfrm>
            <a:off x="956130" y="1315810"/>
            <a:ext cx="8005762" cy="59436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b="1" kern="0" dirty="0"/>
              <a:t>Key issues</a:t>
            </a:r>
          </a:p>
          <a:p>
            <a:pPr lvl="2"/>
            <a:r>
              <a:rPr lang="en-US" kern="0" dirty="0"/>
              <a:t>How sustainable is concerts supply and demand?</a:t>
            </a:r>
          </a:p>
          <a:p>
            <a:pPr lvl="2"/>
            <a:r>
              <a:rPr lang="en-US" kern="0" dirty="0"/>
              <a:t>Can LYV maintain growth at historical rates following +24% CAGR ’22-’24 (JPMe)?</a:t>
            </a:r>
          </a:p>
          <a:p>
            <a:pPr lvl="2"/>
            <a:r>
              <a:rPr lang="en-US" kern="0" dirty="0"/>
              <a:t>DOJ: what is regulatory risk under new DOJ leadership?</a:t>
            </a:r>
          </a:p>
          <a:p>
            <a:pPr lvl="1"/>
            <a:r>
              <a:rPr lang="en-US" b="1" kern="0" dirty="0"/>
              <a:t>Our take: multiple organic growth drivers against attractive valuation</a:t>
            </a:r>
          </a:p>
          <a:p>
            <a:pPr lvl="2"/>
            <a:r>
              <a:rPr lang="en-US" dirty="0"/>
              <a:t>We think question of post-pandemic demand largely put to rest after Q2/Q3 earnings performance and 2025 early outlook. Our view: industry growth is structural</a:t>
            </a:r>
          </a:p>
          <a:p>
            <a:pPr lvl="3"/>
            <a:r>
              <a:rPr lang="en-US" u="sng" dirty="0"/>
              <a:t>Supply</a:t>
            </a:r>
            <a:r>
              <a:rPr lang="en-US" dirty="0"/>
              <a:t>: social media enables new artists to surface and develop fan bases sufficient for large venue touring at accelerated pace; legacy artists retain followings</a:t>
            </a:r>
          </a:p>
          <a:p>
            <a:pPr lvl="3"/>
            <a:r>
              <a:rPr lang="en-US" u="sng" dirty="0"/>
              <a:t>Demand</a:t>
            </a:r>
            <a:r>
              <a:rPr lang="en-US" dirty="0"/>
              <a:t>: streaming services + social platforms drive higher music consumption and discovery; an entire content ecosystem has developed </a:t>
            </a:r>
            <a:r>
              <a:rPr lang="en-US" i="1" dirty="0"/>
              <a:t>around </a:t>
            </a:r>
            <a:r>
              <a:rPr lang="en-US" dirty="0"/>
              <a:t>live touring </a:t>
            </a:r>
          </a:p>
          <a:p>
            <a:pPr lvl="3"/>
            <a:r>
              <a:rPr lang="en-US" u="sng" dirty="0"/>
              <a:t>Venues</a:t>
            </a:r>
            <a:r>
              <a:rPr lang="en-US" dirty="0"/>
              <a:t>: adds another driver to the growth formula. Municipalities and developers want to partner with LYV; infrastructure leads to more touring abroad, improves fan experience</a:t>
            </a:r>
          </a:p>
          <a:p>
            <a:pPr lvl="2"/>
            <a:r>
              <a:rPr lang="en-US" dirty="0"/>
              <a:t>AOI drivers: over $1.5b presented at investor day (4-5 years would imply 12.5% CAGR); $1.2 unrelated to fan growth: venue expansion, per caps, price optimization, sponsor sell-through, non-service fee revenue, ticket market expansion</a:t>
            </a:r>
          </a:p>
          <a:p>
            <a:pPr lvl="2"/>
            <a:r>
              <a:rPr lang="en-US" u="sng" dirty="0"/>
              <a:t>DOJ lawsuit</a:t>
            </a:r>
            <a:r>
              <a:rPr lang="en-US" dirty="0"/>
              <a:t>: court case would begin March ’26</a:t>
            </a:r>
          </a:p>
          <a:p>
            <a:pPr lvl="3"/>
            <a:r>
              <a:rPr lang="en-US" dirty="0"/>
              <a:t>Our view: new leadership at DOJ at least opens possibility for settlement. Continue to believe LYV will not be broken up given high bar for structural relief; lawsuit was light on alleged violations, focused on practices standard in the industry</a:t>
            </a:r>
          </a:p>
          <a:p>
            <a:pPr lvl="3"/>
            <a:r>
              <a:rPr lang="en-US" dirty="0"/>
              <a:t>See room for Live Nation to offer adjustments that would be viewed as pro-competitive, but not materially negative to the company’s outlook; extended decree under prior Trump admin</a:t>
            </a:r>
          </a:p>
          <a:p>
            <a:pPr lvl="2"/>
            <a:r>
              <a:rPr lang="en-US" b="1" dirty="0"/>
              <a:t>Valuation</a:t>
            </a:r>
            <a:r>
              <a:rPr lang="en-US" dirty="0"/>
              <a:t>: 15.5x ‘25 AOI still below 16-19x pre-pandemic range</a:t>
            </a:r>
          </a:p>
          <a:p>
            <a:pPr lvl="2"/>
            <a:endParaRPr lang="en-US" dirty="0"/>
          </a:p>
        </p:txBody>
      </p:sp>
    </p:spTree>
    <p:extLst>
      <p:ext uri="{BB962C8B-B14F-4D97-AF65-F5344CB8AC3E}">
        <p14:creationId xmlns:p14="http://schemas.microsoft.com/office/powerpoint/2010/main" val="658382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000000"/>
                </a:solidFill>
              </a:rPr>
              <a:t>Entertainment</a:t>
            </a:r>
            <a:r>
              <a:rPr lang="en-US" dirty="0">
                <a:solidFill>
                  <a:srgbClr val="000000"/>
                </a:solidFill>
              </a:rPr>
              <a:t>: Sphere Entertainment (SPHR) – OW, $57 PT</a:t>
            </a:r>
            <a:endParaRPr lang="en-US" dirty="0"/>
          </a:p>
        </p:txBody>
      </p:sp>
      <p:sp>
        <p:nvSpPr>
          <p:cNvPr id="4" name="Rectangle 3"/>
          <p:cNvSpPr txBox="1">
            <a:spLocks noChangeArrowheads="1"/>
          </p:cNvSpPr>
          <p:nvPr/>
        </p:nvSpPr>
        <p:spPr bwMode="gray">
          <a:xfrm>
            <a:off x="945267" y="1450777"/>
            <a:ext cx="4572000" cy="2435423"/>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b="1" kern="0" dirty="0">
                <a:solidFill>
                  <a:schemeClr val="tx1"/>
                </a:solidFill>
              </a:rPr>
              <a:t>Key issues: </a:t>
            </a:r>
          </a:p>
          <a:p>
            <a:pPr lvl="2"/>
            <a:r>
              <a:rPr lang="en-US" kern="0" dirty="0">
                <a:solidFill>
                  <a:schemeClr val="tx1"/>
                </a:solidFill>
              </a:rPr>
              <a:t>Additional Sphere announcements, MSGN loan workout process, original content performance, exosphere &amp; sponsorship growth, new residencies</a:t>
            </a:r>
          </a:p>
          <a:p>
            <a:pPr lvl="1"/>
            <a:r>
              <a:rPr lang="en-US" b="1" kern="0" dirty="0">
                <a:solidFill>
                  <a:schemeClr val="tx1"/>
                </a:solidFill>
              </a:rPr>
              <a:t>Our take: </a:t>
            </a:r>
          </a:p>
          <a:p>
            <a:pPr lvl="2"/>
            <a:r>
              <a:rPr lang="en-US" kern="0" dirty="0">
                <a:solidFill>
                  <a:schemeClr val="tx1"/>
                </a:solidFill>
              </a:rPr>
              <a:t>Current price implies value for Sphere segment below cost of Las Vegas venue, with little or no credit for Abu Dhabi or future expansions. Sets up for attractive risk/reward</a:t>
            </a:r>
          </a:p>
          <a:p>
            <a:pPr lvl="2"/>
            <a:endParaRPr lang="en-US" kern="0" dirty="0">
              <a:solidFill>
                <a:schemeClr val="tx1"/>
              </a:solidFill>
            </a:endParaRPr>
          </a:p>
        </p:txBody>
      </p:sp>
      <p:sp>
        <p:nvSpPr>
          <p:cNvPr id="3" name="TextBox 2">
            <a:extLst>
              <a:ext uri="{FF2B5EF4-FFF2-40B4-BE49-F238E27FC236}">
                <a16:creationId xmlns:a16="http://schemas.microsoft.com/office/drawing/2014/main" id="{0B35FB69-0346-168A-6A02-E180AACD7747}"/>
              </a:ext>
            </a:extLst>
          </p:cNvPr>
          <p:cNvSpPr txBox="1"/>
          <p:nvPr/>
        </p:nvSpPr>
        <p:spPr>
          <a:xfrm>
            <a:off x="5715001" y="1514475"/>
            <a:ext cx="4025832" cy="261610"/>
          </a:xfrm>
          <a:prstGeom prst="rect">
            <a:avLst/>
          </a:prstGeom>
          <a:solidFill>
            <a:schemeClr val="accent1"/>
          </a:solidFill>
        </p:spPr>
        <p:txBody>
          <a:bodyPr wrap="square" rtlCol="0">
            <a:spAutoFit/>
          </a:bodyPr>
          <a:lstStyle/>
          <a:p>
            <a:r>
              <a:rPr lang="en-US" b="1" dirty="0">
                <a:solidFill>
                  <a:schemeClr val="bg1"/>
                </a:solidFill>
              </a:rPr>
              <a:t>SPHR Implied Sphere Segment Value</a:t>
            </a:r>
          </a:p>
        </p:txBody>
      </p:sp>
      <p:sp>
        <p:nvSpPr>
          <p:cNvPr id="5" name="TextBox 4">
            <a:extLst>
              <a:ext uri="{FF2B5EF4-FFF2-40B4-BE49-F238E27FC236}">
                <a16:creationId xmlns:a16="http://schemas.microsoft.com/office/drawing/2014/main" id="{8B8B1A35-98C4-2C32-5FDE-AEEA80B5009A}"/>
              </a:ext>
            </a:extLst>
          </p:cNvPr>
          <p:cNvSpPr txBox="1"/>
          <p:nvPr/>
        </p:nvSpPr>
        <p:spPr>
          <a:xfrm>
            <a:off x="5616133" y="4443085"/>
            <a:ext cx="3299267" cy="215444"/>
          </a:xfrm>
          <a:prstGeom prst="rect">
            <a:avLst/>
          </a:prstGeom>
          <a:noFill/>
        </p:spPr>
        <p:txBody>
          <a:bodyPr wrap="square" rtlCol="0">
            <a:spAutoFit/>
          </a:bodyPr>
          <a:lstStyle/>
          <a:p>
            <a:pPr algn="l"/>
            <a:r>
              <a:rPr lang="en-US" sz="800" dirty="0">
                <a:latin typeface="Arial Narrow" panose="020B0606020202030204" pitchFamily="34" charset="0"/>
              </a:rPr>
              <a:t>Source: J.P. Morgan estimates</a:t>
            </a:r>
          </a:p>
        </p:txBody>
      </p:sp>
      <p:sp>
        <p:nvSpPr>
          <p:cNvPr id="8" name="Rectangle 3">
            <a:extLst>
              <a:ext uri="{FF2B5EF4-FFF2-40B4-BE49-F238E27FC236}">
                <a16:creationId xmlns:a16="http://schemas.microsoft.com/office/drawing/2014/main" id="{621B1F4D-FD12-A889-7F3B-31843E59A708}"/>
              </a:ext>
            </a:extLst>
          </p:cNvPr>
          <p:cNvSpPr txBox="1">
            <a:spLocks noChangeArrowheads="1"/>
          </p:cNvSpPr>
          <p:nvPr/>
        </p:nvSpPr>
        <p:spPr bwMode="gray">
          <a:xfrm>
            <a:off x="962043" y="3886200"/>
            <a:ext cx="4572000" cy="2435423"/>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2"/>
            <a:r>
              <a:rPr lang="en-US" kern="0" dirty="0">
                <a:solidFill>
                  <a:schemeClr val="tx1"/>
                </a:solidFill>
              </a:rPr>
              <a:t>MSG Networks forbearance period extended to Dec 20. Current price target only assumes $200m of net debt relief</a:t>
            </a:r>
          </a:p>
        </p:txBody>
      </p:sp>
      <p:sp>
        <p:nvSpPr>
          <p:cNvPr id="13" name="Rectangle 3">
            <a:extLst>
              <a:ext uri="{FF2B5EF4-FFF2-40B4-BE49-F238E27FC236}">
                <a16:creationId xmlns:a16="http://schemas.microsoft.com/office/drawing/2014/main" id="{1E37D06F-0F92-CC95-7A93-86E09D85C01E}"/>
              </a:ext>
            </a:extLst>
          </p:cNvPr>
          <p:cNvSpPr txBox="1">
            <a:spLocks noChangeArrowheads="1"/>
          </p:cNvSpPr>
          <p:nvPr/>
        </p:nvSpPr>
        <p:spPr bwMode="gray">
          <a:xfrm>
            <a:off x="962043" y="4658529"/>
            <a:ext cx="8607425" cy="2435423"/>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2"/>
            <a:r>
              <a:rPr lang="en-US" kern="0" dirty="0">
                <a:solidFill>
                  <a:schemeClr val="tx1"/>
                </a:solidFill>
              </a:rPr>
              <a:t>Content: we believe </a:t>
            </a:r>
            <a:r>
              <a:rPr lang="en-US" i="1" kern="0" dirty="0">
                <a:solidFill>
                  <a:schemeClr val="tx1"/>
                </a:solidFill>
              </a:rPr>
              <a:t>V-U2</a:t>
            </a:r>
            <a:r>
              <a:rPr lang="en-US" kern="0" dirty="0">
                <a:solidFill>
                  <a:schemeClr val="tx1"/>
                </a:solidFill>
              </a:rPr>
              <a:t> performance has been a drag on shares. Execution here was an issue, with opportunity to improve attendance with marketing; think category has long-term potential</a:t>
            </a:r>
          </a:p>
          <a:p>
            <a:pPr lvl="3"/>
            <a:r>
              <a:rPr lang="en-US" kern="0" dirty="0">
                <a:solidFill>
                  <a:schemeClr val="tx1"/>
                </a:solidFill>
              </a:rPr>
              <a:t>40 million annual visitors to Las Vegas means </a:t>
            </a:r>
            <a:r>
              <a:rPr lang="en-US" i="1" kern="0" dirty="0">
                <a:solidFill>
                  <a:schemeClr val="tx1"/>
                </a:solidFill>
              </a:rPr>
              <a:t>Postcard </a:t>
            </a:r>
            <a:r>
              <a:rPr lang="en-US" kern="0" dirty="0">
                <a:solidFill>
                  <a:schemeClr val="tx1"/>
                </a:solidFill>
              </a:rPr>
              <a:t>has room to run</a:t>
            </a:r>
          </a:p>
          <a:p>
            <a:pPr lvl="3"/>
            <a:r>
              <a:rPr lang="en-US" kern="0" dirty="0">
                <a:solidFill>
                  <a:schemeClr val="tx1"/>
                </a:solidFill>
              </a:rPr>
              <a:t>We expect new show in June ’25 quarter. If based on existing IP, should help with awareness. Sphere Studios has had additional time to iterate</a:t>
            </a:r>
          </a:p>
          <a:p>
            <a:pPr lvl="2"/>
            <a:r>
              <a:rPr lang="en-US" kern="0" dirty="0">
                <a:solidFill>
                  <a:schemeClr val="tx1"/>
                </a:solidFill>
              </a:rPr>
              <a:t>Residencies: </a:t>
            </a:r>
            <a:r>
              <a:rPr lang="en-US" i="1" kern="0" dirty="0">
                <a:solidFill>
                  <a:schemeClr val="tx1"/>
                </a:solidFill>
              </a:rPr>
              <a:t>Dead &amp; Co</a:t>
            </a:r>
            <a:r>
              <a:rPr lang="en-US" kern="0" dirty="0">
                <a:solidFill>
                  <a:schemeClr val="tx1"/>
                </a:solidFill>
              </a:rPr>
              <a:t> prior run performed well and upcoming shows shouldn’t be viewed as a negative; continue to expect new acts in the back half of the calendar year</a:t>
            </a:r>
          </a:p>
          <a:p>
            <a:pPr lvl="2"/>
            <a:r>
              <a:rPr lang="en-US" kern="0" dirty="0">
                <a:solidFill>
                  <a:schemeClr val="tx1"/>
                </a:solidFill>
              </a:rPr>
              <a:t>Abu Dhabi will start flowing through financials in December quarter and ramp from there. Possibility for more venues at this point appears to be under-appreciated</a:t>
            </a:r>
          </a:p>
        </p:txBody>
      </p:sp>
      <p:pic>
        <p:nvPicPr>
          <p:cNvPr id="9" name="Picture 8">
            <a:extLst>
              <a:ext uri="{FF2B5EF4-FFF2-40B4-BE49-F238E27FC236}">
                <a16:creationId xmlns:a16="http://schemas.microsoft.com/office/drawing/2014/main" id="{0AF23745-C5A7-F8E1-8747-4F360952F558}"/>
              </a:ext>
            </a:extLst>
          </p:cNvPr>
          <p:cNvPicPr>
            <a:picLocks noChangeAspect="1"/>
          </p:cNvPicPr>
          <p:nvPr/>
        </p:nvPicPr>
        <p:blipFill>
          <a:blip r:embed="rId3"/>
          <a:stretch>
            <a:fillRect/>
          </a:stretch>
        </p:blipFill>
        <p:spPr>
          <a:xfrm>
            <a:off x="5711757" y="1833235"/>
            <a:ext cx="4029075" cy="2609850"/>
          </a:xfrm>
          <a:prstGeom prst="rect">
            <a:avLst/>
          </a:prstGeom>
        </p:spPr>
      </p:pic>
    </p:spTree>
    <p:extLst>
      <p:ext uri="{BB962C8B-B14F-4D97-AF65-F5344CB8AC3E}">
        <p14:creationId xmlns:p14="http://schemas.microsoft.com/office/powerpoint/2010/main" val="4164510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00"/>
                </a:solidFill>
              </a:rPr>
              <a:t>Sports Rights Update</a:t>
            </a:r>
            <a:endParaRPr lang="en-US" dirty="0"/>
          </a:p>
        </p:txBody>
      </p:sp>
      <p:sp>
        <p:nvSpPr>
          <p:cNvPr id="4" name="Rectangle 3"/>
          <p:cNvSpPr txBox="1">
            <a:spLocks noChangeArrowheads="1"/>
          </p:cNvSpPr>
          <p:nvPr/>
        </p:nvSpPr>
        <p:spPr bwMode="gray">
          <a:xfrm>
            <a:off x="914400" y="1371600"/>
            <a:ext cx="3594829" cy="323341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kern="0" dirty="0"/>
              <a:t>Prior year highlights enduring value of sports content: more rights negotiated in aggregate at higher step-ups</a:t>
            </a:r>
          </a:p>
          <a:p>
            <a:pPr lvl="2"/>
            <a:r>
              <a:rPr lang="en-US" kern="0" dirty="0"/>
              <a:t>Remains key to protecting value in linear ecosystem</a:t>
            </a:r>
          </a:p>
          <a:p>
            <a:pPr lvl="2"/>
            <a:r>
              <a:rPr lang="en-US" kern="0" dirty="0"/>
              <a:t>Event level content increasingly valuable for streamers to drive sign-ups, engagement (with attendant benefit of subs sampling more shows)</a:t>
            </a:r>
          </a:p>
          <a:p>
            <a:pPr lvl="1"/>
            <a:r>
              <a:rPr lang="en-US" kern="0" dirty="0"/>
              <a:t>On Deck:</a:t>
            </a:r>
          </a:p>
          <a:p>
            <a:pPr lvl="2"/>
            <a:r>
              <a:rPr lang="en-US" kern="0" dirty="0"/>
              <a:t>UFC, WWE PLEs, Formula 1</a:t>
            </a:r>
          </a:p>
          <a:p>
            <a:pPr lvl="2"/>
            <a:r>
              <a:rPr lang="en-US" kern="0" dirty="0"/>
              <a:t>Don’t forget: the reconstituted Pac-12, Women’s World Cup</a:t>
            </a:r>
          </a:p>
          <a:p>
            <a:pPr lvl="2"/>
            <a:r>
              <a:rPr lang="en-US" kern="0" dirty="0"/>
              <a:t>MLB: ESPN can opt-out after 2025 season; with Roku paying ~$10m/AAV for 18 games vs. ESPN $535m for 30 games + Wild Card Series, this seems due for repricing</a:t>
            </a:r>
          </a:p>
          <a:p>
            <a:pPr lvl="2"/>
            <a:endParaRPr lang="en-US" kern="0" dirty="0"/>
          </a:p>
        </p:txBody>
      </p:sp>
      <p:sp>
        <p:nvSpPr>
          <p:cNvPr id="6" name="TextBox 5">
            <a:extLst>
              <a:ext uri="{FF2B5EF4-FFF2-40B4-BE49-F238E27FC236}">
                <a16:creationId xmlns:a16="http://schemas.microsoft.com/office/drawing/2014/main" id="{FB8EA449-96B5-43A2-9368-E535ADDE6FD0}"/>
              </a:ext>
            </a:extLst>
          </p:cNvPr>
          <p:cNvSpPr txBox="1"/>
          <p:nvPr/>
        </p:nvSpPr>
        <p:spPr>
          <a:xfrm>
            <a:off x="4982565" y="1447800"/>
            <a:ext cx="5036426" cy="261610"/>
          </a:xfrm>
          <a:prstGeom prst="rect">
            <a:avLst/>
          </a:prstGeom>
          <a:solidFill>
            <a:schemeClr val="accent1"/>
          </a:solidFill>
        </p:spPr>
        <p:txBody>
          <a:bodyPr wrap="square" rtlCol="0">
            <a:spAutoFit/>
          </a:bodyPr>
          <a:lstStyle/>
          <a:p>
            <a:r>
              <a:rPr lang="en-US" b="1" dirty="0">
                <a:solidFill>
                  <a:schemeClr val="bg1"/>
                </a:solidFill>
              </a:rPr>
              <a:t>AAV Step-Ups on Recent Sports Rights Deals</a:t>
            </a:r>
          </a:p>
        </p:txBody>
      </p:sp>
      <p:sp>
        <p:nvSpPr>
          <p:cNvPr id="7" name="TextBox 6">
            <a:extLst>
              <a:ext uri="{FF2B5EF4-FFF2-40B4-BE49-F238E27FC236}">
                <a16:creationId xmlns:a16="http://schemas.microsoft.com/office/drawing/2014/main" id="{4BCA9082-A676-4829-B998-8EC49ECED971}"/>
              </a:ext>
            </a:extLst>
          </p:cNvPr>
          <p:cNvSpPr txBox="1"/>
          <p:nvPr/>
        </p:nvSpPr>
        <p:spPr>
          <a:xfrm>
            <a:off x="4870450" y="5837366"/>
            <a:ext cx="3299267" cy="215444"/>
          </a:xfrm>
          <a:prstGeom prst="rect">
            <a:avLst/>
          </a:prstGeom>
          <a:noFill/>
        </p:spPr>
        <p:txBody>
          <a:bodyPr wrap="square" rtlCol="0">
            <a:spAutoFit/>
          </a:bodyPr>
          <a:lstStyle/>
          <a:p>
            <a:pPr algn="l"/>
            <a:r>
              <a:rPr lang="en-US" sz="800" dirty="0">
                <a:latin typeface="Arial Narrow" panose="020B0606020202030204" pitchFamily="34" charset="0"/>
              </a:rPr>
              <a:t>Source: J.P. Morgan, ESPN, SBJ, NY Post, Sports Media Watch, The Athletic, FOS</a:t>
            </a:r>
          </a:p>
        </p:txBody>
      </p:sp>
      <p:pic>
        <p:nvPicPr>
          <p:cNvPr id="5" name="Picture 4">
            <a:extLst>
              <a:ext uri="{FF2B5EF4-FFF2-40B4-BE49-F238E27FC236}">
                <a16:creationId xmlns:a16="http://schemas.microsoft.com/office/drawing/2014/main" id="{3F5C416D-5E4E-DA15-4E26-A9F5AD845B50}"/>
              </a:ext>
            </a:extLst>
          </p:cNvPr>
          <p:cNvPicPr>
            <a:picLocks noChangeAspect="1"/>
          </p:cNvPicPr>
          <p:nvPr/>
        </p:nvPicPr>
        <p:blipFill>
          <a:blip r:embed="rId3"/>
          <a:stretch>
            <a:fillRect/>
          </a:stretch>
        </p:blipFill>
        <p:spPr>
          <a:xfrm>
            <a:off x="4991099" y="1709410"/>
            <a:ext cx="5036427" cy="4081790"/>
          </a:xfrm>
          <a:prstGeom prst="rect">
            <a:avLst/>
          </a:prstGeom>
        </p:spPr>
      </p:pic>
    </p:spTree>
    <p:extLst>
      <p:ext uri="{BB962C8B-B14F-4D97-AF65-F5344CB8AC3E}">
        <p14:creationId xmlns:p14="http://schemas.microsoft.com/office/powerpoint/2010/main" val="2259701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000000"/>
                </a:solidFill>
              </a:rPr>
              <a:t>Sports</a:t>
            </a:r>
            <a:r>
              <a:rPr lang="en-US" dirty="0">
                <a:solidFill>
                  <a:srgbClr val="000000"/>
                </a:solidFill>
              </a:rPr>
              <a:t>: TKO Group Holdings (TKO) – Overweight, $158 PT</a:t>
            </a:r>
            <a:endParaRPr lang="en-US" dirty="0"/>
          </a:p>
        </p:txBody>
      </p:sp>
      <p:sp>
        <p:nvSpPr>
          <p:cNvPr id="4" name="Rectangle 3"/>
          <p:cNvSpPr txBox="1">
            <a:spLocks noChangeArrowheads="1"/>
          </p:cNvSpPr>
          <p:nvPr/>
        </p:nvSpPr>
        <p:spPr bwMode="gray">
          <a:xfrm>
            <a:off x="914400" y="1514172"/>
            <a:ext cx="7548561" cy="36576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b="1" kern="0" dirty="0"/>
              <a:t>Key issues</a:t>
            </a:r>
            <a:endParaRPr lang="en-US" kern="0" dirty="0"/>
          </a:p>
          <a:p>
            <a:pPr lvl="2"/>
            <a:r>
              <a:rPr lang="en-US" kern="0" dirty="0"/>
              <a:t>Media rights renewal for UFC and WWE PLEs; continued realization of cost synergies integration of On Location, PBR, and IMG</a:t>
            </a:r>
          </a:p>
          <a:p>
            <a:pPr lvl="1"/>
            <a:r>
              <a:rPr lang="en-US" b="1" kern="0" dirty="0"/>
              <a:t>Our take: WWE/UFC synergies should continue to be realized, TKO well positioned into upcoming renewals</a:t>
            </a:r>
            <a:endParaRPr lang="en-US" dirty="0"/>
          </a:p>
          <a:p>
            <a:pPr lvl="2"/>
            <a:r>
              <a:rPr lang="en-US" dirty="0"/>
              <a:t>Now forecast UFC step-up at 1.85x; see increasing logic and demand for multi-partner with ESPN as lead. Tyson/Paul highlighted promise of event-level combat sports</a:t>
            </a:r>
          </a:p>
          <a:p>
            <a:pPr lvl="2"/>
            <a:r>
              <a:rPr lang="en-US" dirty="0"/>
              <a:t>WWE PLE forecast remains 1.7x; see optionality in TKO separating WWE archive from main roster and NXT PLEs. Netflix which has rights internationally a possible destination</a:t>
            </a:r>
          </a:p>
          <a:p>
            <a:pPr lvl="2"/>
            <a:r>
              <a:rPr lang="en-US" dirty="0"/>
              <a:t>We believe TKO has room to run on production cost synergies, savings when running events on an optimized schedule, corporate efficiencies</a:t>
            </a:r>
          </a:p>
          <a:p>
            <a:pPr lvl="2"/>
            <a:r>
              <a:rPr lang="en-US" dirty="0"/>
              <a:t>TKO Rides the Bull: market reaction was negative to planned acquisition of EDR assets, however they are complementary to growth areas where company operates; transparency and education are paramount</a:t>
            </a:r>
          </a:p>
          <a:p>
            <a:pPr marL="211138" lvl="2" indent="0">
              <a:buNone/>
            </a:pPr>
            <a:endParaRPr lang="en-US" kern="0" dirty="0"/>
          </a:p>
        </p:txBody>
      </p:sp>
      <p:sp>
        <p:nvSpPr>
          <p:cNvPr id="3" name="TextBox 2">
            <a:extLst>
              <a:ext uri="{FF2B5EF4-FFF2-40B4-BE49-F238E27FC236}">
                <a16:creationId xmlns:a16="http://schemas.microsoft.com/office/drawing/2014/main" id="{42DA1420-EFC6-7321-3DF3-EBDD7E70B484}"/>
              </a:ext>
            </a:extLst>
          </p:cNvPr>
          <p:cNvSpPr txBox="1"/>
          <p:nvPr/>
        </p:nvSpPr>
        <p:spPr>
          <a:xfrm>
            <a:off x="2362199" y="5257800"/>
            <a:ext cx="5235575" cy="261610"/>
          </a:xfrm>
          <a:prstGeom prst="rect">
            <a:avLst/>
          </a:prstGeom>
          <a:solidFill>
            <a:schemeClr val="accent1"/>
          </a:solidFill>
        </p:spPr>
        <p:txBody>
          <a:bodyPr wrap="square" rtlCol="0">
            <a:spAutoFit/>
          </a:bodyPr>
          <a:lstStyle/>
          <a:p>
            <a:r>
              <a:rPr lang="en-US" b="1" dirty="0">
                <a:solidFill>
                  <a:schemeClr val="bg1"/>
                </a:solidFill>
              </a:rPr>
              <a:t>Illustrative UFC Multi-Partner Scenario</a:t>
            </a:r>
          </a:p>
        </p:txBody>
      </p:sp>
      <p:pic>
        <p:nvPicPr>
          <p:cNvPr id="5" name="Picture 4">
            <a:extLst>
              <a:ext uri="{FF2B5EF4-FFF2-40B4-BE49-F238E27FC236}">
                <a16:creationId xmlns:a16="http://schemas.microsoft.com/office/drawing/2014/main" id="{516B7BF1-7C64-1DC3-0FC8-3A9A9CA76520}"/>
              </a:ext>
            </a:extLst>
          </p:cNvPr>
          <p:cNvPicPr>
            <a:picLocks noChangeAspect="1"/>
          </p:cNvPicPr>
          <p:nvPr/>
        </p:nvPicPr>
        <p:blipFill>
          <a:blip r:embed="rId3"/>
          <a:stretch>
            <a:fillRect/>
          </a:stretch>
        </p:blipFill>
        <p:spPr>
          <a:xfrm>
            <a:off x="2362200" y="5533953"/>
            <a:ext cx="5235574" cy="1522512"/>
          </a:xfrm>
          <a:prstGeom prst="rect">
            <a:avLst/>
          </a:prstGeom>
        </p:spPr>
      </p:pic>
      <p:sp>
        <p:nvSpPr>
          <p:cNvPr id="6" name="TextBox 5">
            <a:extLst>
              <a:ext uri="{FF2B5EF4-FFF2-40B4-BE49-F238E27FC236}">
                <a16:creationId xmlns:a16="http://schemas.microsoft.com/office/drawing/2014/main" id="{2E251DF6-A5F0-356D-CDB8-356A794B8E70}"/>
              </a:ext>
            </a:extLst>
          </p:cNvPr>
          <p:cNvSpPr txBox="1"/>
          <p:nvPr/>
        </p:nvSpPr>
        <p:spPr>
          <a:xfrm>
            <a:off x="2286000" y="7028318"/>
            <a:ext cx="3299267" cy="215444"/>
          </a:xfrm>
          <a:prstGeom prst="rect">
            <a:avLst/>
          </a:prstGeom>
          <a:noFill/>
        </p:spPr>
        <p:txBody>
          <a:bodyPr wrap="square" rtlCol="0">
            <a:spAutoFit/>
          </a:bodyPr>
          <a:lstStyle/>
          <a:p>
            <a:pPr algn="l"/>
            <a:r>
              <a:rPr lang="en-US" sz="800" dirty="0">
                <a:latin typeface="Arial Narrow" panose="020B0606020202030204" pitchFamily="34" charset="0"/>
              </a:rPr>
              <a:t>Source: J.P. Morgan estimates</a:t>
            </a:r>
          </a:p>
        </p:txBody>
      </p:sp>
    </p:spTree>
    <p:extLst>
      <p:ext uri="{BB962C8B-B14F-4D97-AF65-F5344CB8AC3E}">
        <p14:creationId xmlns:p14="http://schemas.microsoft.com/office/powerpoint/2010/main" val="1204761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000000"/>
                </a:solidFill>
              </a:rPr>
              <a:t>Sports</a:t>
            </a:r>
            <a:r>
              <a:rPr lang="en-US" dirty="0">
                <a:solidFill>
                  <a:srgbClr val="000000"/>
                </a:solidFill>
              </a:rPr>
              <a:t>: Liberty Formula One (FWONK) – Overweight, $96 PT</a:t>
            </a:r>
            <a:endParaRPr lang="en-US" dirty="0"/>
          </a:p>
        </p:txBody>
      </p:sp>
      <p:sp>
        <p:nvSpPr>
          <p:cNvPr id="4" name="Rectangle 3"/>
          <p:cNvSpPr txBox="1">
            <a:spLocks noChangeArrowheads="1"/>
          </p:cNvSpPr>
          <p:nvPr/>
        </p:nvSpPr>
        <p:spPr bwMode="gray">
          <a:xfrm>
            <a:off x="914400" y="1485255"/>
            <a:ext cx="5262561" cy="27432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b="1" kern="0" dirty="0"/>
              <a:t>Key issues</a:t>
            </a:r>
          </a:p>
          <a:p>
            <a:pPr lvl="2"/>
            <a:r>
              <a:rPr lang="en-US" kern="0" dirty="0"/>
              <a:t>Liberty set to become asset-backed stock comprised of F1 and MotoGP</a:t>
            </a:r>
          </a:p>
          <a:p>
            <a:pPr lvl="2"/>
            <a:r>
              <a:rPr lang="en-US" kern="0" dirty="0"/>
              <a:t>US rights renewal; does F1 stay with ESPN?</a:t>
            </a:r>
          </a:p>
          <a:p>
            <a:pPr lvl="2"/>
            <a:r>
              <a:rPr lang="en-US" kern="0" dirty="0">
                <a:highlight>
                  <a:srgbClr val="FFFFFF"/>
                </a:highlight>
              </a:rPr>
              <a:t>Next Concorde Agreement starts in 2026</a:t>
            </a:r>
          </a:p>
          <a:p>
            <a:pPr lvl="2"/>
            <a:r>
              <a:rPr lang="en-US" kern="0" dirty="0">
                <a:highlight>
                  <a:srgbClr val="FFFFFF"/>
                </a:highlight>
              </a:rPr>
              <a:t>Impact of </a:t>
            </a:r>
            <a:r>
              <a:rPr lang="en-US" i="1" kern="0" dirty="0">
                <a:highlight>
                  <a:srgbClr val="FFFFFF"/>
                </a:highlight>
              </a:rPr>
              <a:t>F1</a:t>
            </a:r>
            <a:r>
              <a:rPr lang="en-US" kern="0" dirty="0">
                <a:highlight>
                  <a:srgbClr val="FFFFFF"/>
                </a:highlight>
              </a:rPr>
              <a:t> film</a:t>
            </a:r>
          </a:p>
          <a:p>
            <a:pPr lvl="1"/>
            <a:r>
              <a:rPr lang="en-US" b="1" kern="0" dirty="0">
                <a:highlight>
                  <a:srgbClr val="FFFFFF"/>
                </a:highlight>
              </a:rPr>
              <a:t>Our take: </a:t>
            </a:r>
            <a:r>
              <a:rPr lang="en-US" b="1" kern="0" dirty="0">
                <a:solidFill>
                  <a:schemeClr val="tx1"/>
                </a:solidFill>
                <a:highlight>
                  <a:srgbClr val="FFFFFF"/>
                </a:highlight>
              </a:rPr>
              <a:t>high visibility into FCF/share growth with risk to upside; optionality on Concorde, </a:t>
            </a:r>
            <a:r>
              <a:rPr lang="en-US" b="1" i="1" kern="0" dirty="0">
                <a:solidFill>
                  <a:schemeClr val="tx1"/>
                </a:solidFill>
                <a:highlight>
                  <a:srgbClr val="FFFFFF"/>
                </a:highlight>
              </a:rPr>
              <a:t>F1 </a:t>
            </a:r>
            <a:r>
              <a:rPr lang="en-US" b="1" kern="0" dirty="0">
                <a:solidFill>
                  <a:schemeClr val="tx1"/>
                </a:solidFill>
                <a:highlight>
                  <a:srgbClr val="FFFFFF"/>
                </a:highlight>
              </a:rPr>
              <a:t>impact</a:t>
            </a:r>
            <a:endParaRPr lang="en-US" dirty="0">
              <a:solidFill>
                <a:schemeClr val="tx1"/>
              </a:solidFill>
              <a:highlight>
                <a:srgbClr val="FFFFFF"/>
              </a:highlight>
            </a:endParaRPr>
          </a:p>
          <a:p>
            <a:pPr lvl="2"/>
            <a:r>
              <a:rPr lang="en-US" dirty="0">
                <a:highlight>
                  <a:srgbClr val="FFFFFF"/>
                </a:highlight>
              </a:rPr>
              <a:t>Liberty changes: asset-backed stock means elimination of tracker discounts, possible inclusion in indices</a:t>
            </a:r>
            <a:endParaRPr lang="en-US" kern="0" dirty="0">
              <a:highlight>
                <a:srgbClr val="FFFF00"/>
              </a:highlight>
            </a:endParaRPr>
          </a:p>
        </p:txBody>
      </p:sp>
      <p:sp>
        <p:nvSpPr>
          <p:cNvPr id="8" name="TextBox 7">
            <a:extLst>
              <a:ext uri="{FF2B5EF4-FFF2-40B4-BE49-F238E27FC236}">
                <a16:creationId xmlns:a16="http://schemas.microsoft.com/office/drawing/2014/main" id="{DE67C56D-9D1C-4C8F-8FE6-FC5D1896ED74}"/>
              </a:ext>
            </a:extLst>
          </p:cNvPr>
          <p:cNvSpPr txBox="1"/>
          <p:nvPr/>
        </p:nvSpPr>
        <p:spPr>
          <a:xfrm>
            <a:off x="6823764" y="1524000"/>
            <a:ext cx="3190464" cy="261610"/>
          </a:xfrm>
          <a:prstGeom prst="rect">
            <a:avLst/>
          </a:prstGeom>
          <a:solidFill>
            <a:schemeClr val="accent1"/>
          </a:solidFill>
        </p:spPr>
        <p:txBody>
          <a:bodyPr wrap="square" rtlCol="0">
            <a:spAutoFit/>
          </a:bodyPr>
          <a:lstStyle/>
          <a:p>
            <a:r>
              <a:rPr lang="en-US" b="1" dirty="0">
                <a:solidFill>
                  <a:schemeClr val="bg1"/>
                </a:solidFill>
              </a:rPr>
              <a:t>US Domestic F1 Viewership</a:t>
            </a:r>
          </a:p>
        </p:txBody>
      </p:sp>
      <p:sp>
        <p:nvSpPr>
          <p:cNvPr id="9" name="TextBox 8">
            <a:extLst>
              <a:ext uri="{FF2B5EF4-FFF2-40B4-BE49-F238E27FC236}">
                <a16:creationId xmlns:a16="http://schemas.microsoft.com/office/drawing/2014/main" id="{9FD4A22B-5E8B-4913-9315-4C966955F613}"/>
              </a:ext>
            </a:extLst>
          </p:cNvPr>
          <p:cNvSpPr txBox="1"/>
          <p:nvPr/>
        </p:nvSpPr>
        <p:spPr>
          <a:xfrm>
            <a:off x="6714961" y="3991240"/>
            <a:ext cx="3299267" cy="215444"/>
          </a:xfrm>
          <a:prstGeom prst="rect">
            <a:avLst/>
          </a:prstGeom>
          <a:noFill/>
        </p:spPr>
        <p:txBody>
          <a:bodyPr wrap="square" rtlCol="0">
            <a:spAutoFit/>
          </a:bodyPr>
          <a:lstStyle/>
          <a:p>
            <a:pPr algn="l"/>
            <a:r>
              <a:rPr lang="en-US" sz="800" dirty="0">
                <a:latin typeface="Arial Narrow" panose="020B0606020202030204" pitchFamily="34" charset="0"/>
              </a:rPr>
              <a:t>Source: ESPN, SBJ, NBC. Note: 2024 is average viewership through 19 races</a:t>
            </a:r>
          </a:p>
        </p:txBody>
      </p:sp>
      <p:sp>
        <p:nvSpPr>
          <p:cNvPr id="3" name="Rectangle 3">
            <a:extLst>
              <a:ext uri="{FF2B5EF4-FFF2-40B4-BE49-F238E27FC236}">
                <a16:creationId xmlns:a16="http://schemas.microsoft.com/office/drawing/2014/main" id="{8F0683DB-462F-3F96-4A44-BFBE298AE4AB}"/>
              </a:ext>
            </a:extLst>
          </p:cNvPr>
          <p:cNvSpPr txBox="1">
            <a:spLocks noChangeArrowheads="1"/>
          </p:cNvSpPr>
          <p:nvPr/>
        </p:nvSpPr>
        <p:spPr bwMode="gray">
          <a:xfrm>
            <a:off x="936171" y="4206684"/>
            <a:ext cx="8685267" cy="2961133"/>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2"/>
            <a:r>
              <a:rPr lang="en-US" dirty="0">
                <a:highlight>
                  <a:srgbClr val="FFFFFF"/>
                </a:highlight>
              </a:rPr>
              <a:t>Riders not Drivers: assuming close, MotoGP will move into focus. Liberty touch will take time to play out</a:t>
            </a:r>
          </a:p>
          <a:p>
            <a:pPr lvl="2"/>
            <a:r>
              <a:rPr lang="en-US" dirty="0">
                <a:highlight>
                  <a:srgbClr val="FFFFFF"/>
                </a:highlight>
              </a:rPr>
              <a:t>US media rights: reporting suggests ESPN wants to renew. Base case view continues to be F1 stays with DIS at a 1.5x step-up and a 3-yr agreement</a:t>
            </a:r>
          </a:p>
          <a:p>
            <a:pPr lvl="2"/>
            <a:r>
              <a:rPr lang="en-US" i="1" dirty="0">
                <a:highlight>
                  <a:srgbClr val="FFFFFF"/>
                </a:highlight>
              </a:rPr>
              <a:t>F1: </a:t>
            </a:r>
            <a:r>
              <a:rPr lang="en-US" dirty="0">
                <a:highlight>
                  <a:srgbClr val="FFFFFF"/>
                </a:highlight>
              </a:rPr>
              <a:t>expect more </a:t>
            </a:r>
            <a:r>
              <a:rPr lang="en-US" i="1" dirty="0">
                <a:highlight>
                  <a:srgbClr val="FFFFFF"/>
                </a:highlight>
              </a:rPr>
              <a:t>Days of Thunder</a:t>
            </a:r>
            <a:r>
              <a:rPr lang="en-US" dirty="0">
                <a:highlight>
                  <a:srgbClr val="FFFFFF"/>
                </a:highlight>
              </a:rPr>
              <a:t> than </a:t>
            </a:r>
            <a:r>
              <a:rPr lang="en-US" i="1" dirty="0">
                <a:highlight>
                  <a:srgbClr val="FFFFFF"/>
                </a:highlight>
              </a:rPr>
              <a:t>Talladega Nights; </a:t>
            </a:r>
            <a:r>
              <a:rPr lang="en-US" dirty="0">
                <a:highlight>
                  <a:srgbClr val="FFFFFF"/>
                </a:highlight>
              </a:rPr>
              <a:t>could further elevate brand awareness</a:t>
            </a:r>
            <a:endParaRPr lang="en-US" i="1" dirty="0">
              <a:highlight>
                <a:srgbClr val="FFFFFF"/>
              </a:highlight>
            </a:endParaRPr>
          </a:p>
          <a:p>
            <a:pPr lvl="2"/>
            <a:r>
              <a:rPr lang="en-US" dirty="0">
                <a:highlight>
                  <a:srgbClr val="FFFFFF"/>
                </a:highlight>
              </a:rPr>
              <a:t>Revenue outlook: good visibility into medium-term growth with upside</a:t>
            </a:r>
          </a:p>
          <a:p>
            <a:pPr lvl="3"/>
            <a:r>
              <a:rPr lang="en-US" u="sng" dirty="0">
                <a:highlight>
                  <a:srgbClr val="FFFFFF"/>
                </a:highlight>
              </a:rPr>
              <a:t>Media rights</a:t>
            </a:r>
            <a:r>
              <a:rPr lang="en-US" dirty="0">
                <a:highlight>
                  <a:srgbClr val="FFFFFF"/>
                </a:highlight>
              </a:rPr>
              <a:t>: Americas regions up in 2024/2025; W. Europe mostly locked up for several years</a:t>
            </a:r>
          </a:p>
          <a:p>
            <a:pPr lvl="3"/>
            <a:r>
              <a:rPr lang="en-US" u="sng" dirty="0">
                <a:highlight>
                  <a:srgbClr val="FFFFFF"/>
                </a:highlight>
              </a:rPr>
              <a:t>Promotion</a:t>
            </a:r>
            <a:r>
              <a:rPr lang="en-US" dirty="0">
                <a:highlight>
                  <a:srgbClr val="FFFFFF"/>
                </a:highlight>
              </a:rPr>
              <a:t>: over half of promo agreements expire from 2024-2026; competition between cities</a:t>
            </a:r>
          </a:p>
          <a:p>
            <a:pPr lvl="3"/>
            <a:r>
              <a:rPr lang="en-US" u="sng" dirty="0">
                <a:highlight>
                  <a:srgbClr val="FFFFFF"/>
                </a:highlight>
              </a:rPr>
              <a:t>Sponsor</a:t>
            </a:r>
            <a:r>
              <a:rPr lang="en-US" dirty="0">
                <a:highlight>
                  <a:srgbClr val="FFFFFF"/>
                </a:highlight>
              </a:rPr>
              <a:t>: recent deals show traction for brand; see room to add more global/regional sponsors and license partners</a:t>
            </a:r>
          </a:p>
          <a:p>
            <a:pPr lvl="2"/>
            <a:r>
              <a:rPr lang="en-US" dirty="0">
                <a:highlight>
                  <a:srgbClr val="FFFFFF"/>
                </a:highlight>
              </a:rPr>
              <a:t>Concorde Agreement: expect renewal in 2025. Lowest F1 team value now at $1.02b (as per </a:t>
            </a:r>
            <a:r>
              <a:rPr lang="en-US" dirty="0" err="1">
                <a:highlight>
                  <a:srgbClr val="FFFFFF"/>
                </a:highlight>
              </a:rPr>
              <a:t>Sportico</a:t>
            </a:r>
            <a:r>
              <a:rPr lang="en-US" dirty="0">
                <a:highlight>
                  <a:srgbClr val="FFFFFF"/>
                </a:highlight>
              </a:rPr>
              <a:t>); massive increase since last cycle sets up for improvement in economics</a:t>
            </a:r>
          </a:p>
        </p:txBody>
      </p:sp>
      <p:pic>
        <p:nvPicPr>
          <p:cNvPr id="5" name="Picture 4">
            <a:extLst>
              <a:ext uri="{FF2B5EF4-FFF2-40B4-BE49-F238E27FC236}">
                <a16:creationId xmlns:a16="http://schemas.microsoft.com/office/drawing/2014/main" id="{533C58EE-DDAB-A33E-CF46-038A3A1EA559}"/>
              </a:ext>
            </a:extLst>
          </p:cNvPr>
          <p:cNvPicPr>
            <a:picLocks noChangeAspect="1"/>
          </p:cNvPicPr>
          <p:nvPr/>
        </p:nvPicPr>
        <p:blipFill>
          <a:blip r:embed="rId3"/>
          <a:stretch>
            <a:fillRect/>
          </a:stretch>
        </p:blipFill>
        <p:spPr>
          <a:xfrm>
            <a:off x="6823764" y="1827785"/>
            <a:ext cx="3190464" cy="2163455"/>
          </a:xfrm>
          <a:prstGeom prst="rect">
            <a:avLst/>
          </a:prstGeom>
        </p:spPr>
      </p:pic>
    </p:spTree>
    <p:extLst>
      <p:ext uri="{BB962C8B-B14F-4D97-AF65-F5344CB8AC3E}">
        <p14:creationId xmlns:p14="http://schemas.microsoft.com/office/powerpoint/2010/main" val="4293707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F7CD5D4-4EA3-4171-B097-BBED6AAB6F79}"/>
              </a:ext>
            </a:extLst>
          </p:cNvPr>
          <p:cNvSpPr txBox="1">
            <a:spLocks/>
          </p:cNvSpPr>
          <p:nvPr/>
        </p:nvSpPr>
        <p:spPr bwMode="auto">
          <a:xfrm>
            <a:off x="757238" y="528638"/>
            <a:ext cx="8226425" cy="6127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defTabSz="1019175" rtl="0" eaLnBrk="0" fontAlgn="base" hangingPunct="0">
              <a:lnSpc>
                <a:spcPts val="2788"/>
              </a:lnSpc>
              <a:spcBef>
                <a:spcPct val="0"/>
              </a:spcBef>
              <a:spcAft>
                <a:spcPct val="0"/>
              </a:spcAft>
              <a:defRPr sz="2200">
                <a:solidFill>
                  <a:schemeClr val="tx2"/>
                </a:solidFill>
                <a:latin typeface="+mj-lt"/>
                <a:ea typeface="+mj-ea"/>
                <a:cs typeface="+mj-cs"/>
              </a:defRPr>
            </a:lvl1pPr>
            <a:lvl2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2pPr>
            <a:lvl3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3pPr>
            <a:lvl4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4pPr>
            <a:lvl5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5pPr>
            <a:lvl6pPr marL="4572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6pPr>
            <a:lvl7pPr marL="9144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7pPr>
            <a:lvl8pPr marL="13716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8pPr>
            <a:lvl9pPr marL="18288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9pPr>
          </a:lstStyle>
          <a:p>
            <a:r>
              <a:rPr lang="en-US" u="sng" dirty="0">
                <a:solidFill>
                  <a:srgbClr val="000000"/>
                </a:solidFill>
                <a:highlight>
                  <a:srgbClr val="FFFFFF"/>
                </a:highlight>
              </a:rPr>
              <a:t>Film Exhibition</a:t>
            </a:r>
            <a:r>
              <a:rPr lang="en-US" dirty="0">
                <a:solidFill>
                  <a:srgbClr val="000000"/>
                </a:solidFill>
                <a:highlight>
                  <a:srgbClr val="FFFFFF"/>
                </a:highlight>
              </a:rPr>
              <a:t>: Expect an Up Box Office Year in 2025</a:t>
            </a:r>
            <a:r>
              <a:rPr lang="en-US" u="sng" kern="0" dirty="0">
                <a:solidFill>
                  <a:srgbClr val="000000"/>
                </a:solidFill>
              </a:rPr>
              <a:t> </a:t>
            </a:r>
            <a:endParaRPr lang="en-US" kern="0" dirty="0"/>
          </a:p>
        </p:txBody>
      </p:sp>
      <p:sp>
        <p:nvSpPr>
          <p:cNvPr id="4" name="Rectangle 3"/>
          <p:cNvSpPr txBox="1">
            <a:spLocks noChangeArrowheads="1"/>
          </p:cNvSpPr>
          <p:nvPr/>
        </p:nvSpPr>
        <p:spPr bwMode="gray">
          <a:xfrm>
            <a:off x="768124" y="990602"/>
            <a:ext cx="8110911" cy="3067323"/>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2"/>
            <a:endParaRPr lang="en-US" kern="0" dirty="0">
              <a:highlight>
                <a:srgbClr val="FFFFFF"/>
              </a:highlight>
            </a:endParaRPr>
          </a:p>
        </p:txBody>
      </p:sp>
      <p:sp>
        <p:nvSpPr>
          <p:cNvPr id="3" name="TextBox 2">
            <a:extLst>
              <a:ext uri="{FF2B5EF4-FFF2-40B4-BE49-F238E27FC236}">
                <a16:creationId xmlns:a16="http://schemas.microsoft.com/office/drawing/2014/main" id="{F92810B0-B32B-EEE3-B83D-4088BFA03EBA}"/>
              </a:ext>
            </a:extLst>
          </p:cNvPr>
          <p:cNvSpPr txBox="1"/>
          <p:nvPr/>
        </p:nvSpPr>
        <p:spPr>
          <a:xfrm>
            <a:off x="6400800" y="5069116"/>
            <a:ext cx="3496272" cy="261610"/>
          </a:xfrm>
          <a:prstGeom prst="rect">
            <a:avLst/>
          </a:prstGeom>
          <a:solidFill>
            <a:schemeClr val="accent1"/>
          </a:solidFill>
        </p:spPr>
        <p:txBody>
          <a:bodyPr wrap="square" rtlCol="0">
            <a:spAutoFit/>
          </a:bodyPr>
          <a:lstStyle/>
          <a:p>
            <a:r>
              <a:rPr lang="en-US" b="1" dirty="0">
                <a:solidFill>
                  <a:schemeClr val="bg1"/>
                </a:solidFill>
              </a:rPr>
              <a:t>North  America Box Office ($m)</a:t>
            </a:r>
          </a:p>
        </p:txBody>
      </p:sp>
      <p:sp>
        <p:nvSpPr>
          <p:cNvPr id="9" name="TextBox 8">
            <a:extLst>
              <a:ext uri="{FF2B5EF4-FFF2-40B4-BE49-F238E27FC236}">
                <a16:creationId xmlns:a16="http://schemas.microsoft.com/office/drawing/2014/main" id="{6B6B8140-C3DF-1B91-640A-F8960DDED02A}"/>
              </a:ext>
            </a:extLst>
          </p:cNvPr>
          <p:cNvSpPr txBox="1"/>
          <p:nvPr/>
        </p:nvSpPr>
        <p:spPr>
          <a:xfrm>
            <a:off x="6400800" y="7175956"/>
            <a:ext cx="3299267" cy="215444"/>
          </a:xfrm>
          <a:prstGeom prst="rect">
            <a:avLst/>
          </a:prstGeom>
          <a:noFill/>
        </p:spPr>
        <p:txBody>
          <a:bodyPr wrap="square" rtlCol="0">
            <a:spAutoFit/>
          </a:bodyPr>
          <a:lstStyle/>
          <a:p>
            <a:pPr algn="l"/>
            <a:r>
              <a:rPr lang="en-US" sz="800" dirty="0">
                <a:latin typeface="Arial Narrow" panose="020B0606020202030204" pitchFamily="34" charset="0"/>
              </a:rPr>
              <a:t>Source: J.P. Morgan estimates, Box Office Mojo</a:t>
            </a:r>
          </a:p>
        </p:txBody>
      </p:sp>
      <p:graphicFrame>
        <p:nvGraphicFramePr>
          <p:cNvPr id="6" name="Chart 5">
            <a:extLst>
              <a:ext uri="{FF2B5EF4-FFF2-40B4-BE49-F238E27FC236}">
                <a16:creationId xmlns:a16="http://schemas.microsoft.com/office/drawing/2014/main" id="{EB54292F-225E-464D-A597-CF3120B13067}"/>
              </a:ext>
            </a:extLst>
          </p:cNvPr>
          <p:cNvGraphicFramePr>
            <a:graphicFrameLocks/>
          </p:cNvGraphicFramePr>
          <p:nvPr>
            <p:extLst>
              <p:ext uri="{D42A27DB-BD31-4B8C-83A1-F6EECF244321}">
                <p14:modId xmlns:p14="http://schemas.microsoft.com/office/powerpoint/2010/main" val="78978528"/>
              </p:ext>
            </p:extLst>
          </p:nvPr>
        </p:nvGraphicFramePr>
        <p:xfrm>
          <a:off x="6400800" y="5330726"/>
          <a:ext cx="3496272" cy="1845229"/>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5ACB8C58-D0B8-4E87-CCF9-EFD056600228}"/>
              </a:ext>
            </a:extLst>
          </p:cNvPr>
          <p:cNvSpPr txBox="1"/>
          <p:nvPr/>
        </p:nvSpPr>
        <p:spPr>
          <a:xfrm>
            <a:off x="6381750" y="5069117"/>
            <a:ext cx="3496272" cy="261610"/>
          </a:xfrm>
          <a:prstGeom prst="rect">
            <a:avLst/>
          </a:prstGeom>
          <a:solidFill>
            <a:schemeClr val="accent1"/>
          </a:solidFill>
        </p:spPr>
        <p:txBody>
          <a:bodyPr wrap="square" rtlCol="0">
            <a:spAutoFit/>
          </a:bodyPr>
          <a:lstStyle/>
          <a:p>
            <a:r>
              <a:rPr lang="en-US" b="1" dirty="0">
                <a:solidFill>
                  <a:schemeClr val="bg1"/>
                </a:solidFill>
              </a:rPr>
              <a:t>North  America Box Office ($m)</a:t>
            </a:r>
          </a:p>
        </p:txBody>
      </p:sp>
      <p:graphicFrame>
        <p:nvGraphicFramePr>
          <p:cNvPr id="7" name="Chart 6">
            <a:extLst>
              <a:ext uri="{FF2B5EF4-FFF2-40B4-BE49-F238E27FC236}">
                <a16:creationId xmlns:a16="http://schemas.microsoft.com/office/drawing/2014/main" id="{074FF511-A8C1-7F82-6899-BCE993B07B4C}"/>
              </a:ext>
            </a:extLst>
          </p:cNvPr>
          <p:cNvGraphicFramePr>
            <a:graphicFrameLocks/>
          </p:cNvGraphicFramePr>
          <p:nvPr>
            <p:extLst>
              <p:ext uri="{D42A27DB-BD31-4B8C-83A1-F6EECF244321}">
                <p14:modId xmlns:p14="http://schemas.microsoft.com/office/powerpoint/2010/main" val="3219369549"/>
              </p:ext>
            </p:extLst>
          </p:nvPr>
        </p:nvGraphicFramePr>
        <p:xfrm>
          <a:off x="6381750" y="5330727"/>
          <a:ext cx="3496272" cy="1845229"/>
        </p:xfrm>
        <a:graphic>
          <a:graphicData uri="http://schemas.openxmlformats.org/drawingml/2006/chart">
            <c:chart xmlns:c="http://schemas.openxmlformats.org/drawingml/2006/chart" xmlns:r="http://schemas.openxmlformats.org/officeDocument/2006/relationships" r:id="rId4"/>
          </a:graphicData>
        </a:graphic>
      </p:graphicFrame>
      <p:sp>
        <p:nvSpPr>
          <p:cNvPr id="8" name="Rectangle 3">
            <a:extLst>
              <a:ext uri="{FF2B5EF4-FFF2-40B4-BE49-F238E27FC236}">
                <a16:creationId xmlns:a16="http://schemas.microsoft.com/office/drawing/2014/main" id="{25ECBF63-92BD-D969-1E86-B7FC61B52FEB}"/>
              </a:ext>
            </a:extLst>
          </p:cNvPr>
          <p:cNvSpPr txBox="1">
            <a:spLocks noChangeArrowheads="1"/>
          </p:cNvSpPr>
          <p:nvPr/>
        </p:nvSpPr>
        <p:spPr bwMode="gray">
          <a:xfrm>
            <a:off x="914400" y="1403023"/>
            <a:ext cx="7548561" cy="29718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kern="0" dirty="0"/>
              <a:t>2024: North America box coming in at ~$8.75b.</a:t>
            </a:r>
          </a:p>
          <a:p>
            <a:pPr lvl="2"/>
            <a:r>
              <a:rPr lang="en-US" kern="0" dirty="0"/>
              <a:t>Grading ourselves: Jan estimate was $8.172b (+/- $400m depending on quality); beat mainly on intra-year slate adds (</a:t>
            </a:r>
            <a:r>
              <a:rPr lang="en-US" i="1" kern="0" dirty="0"/>
              <a:t>Moana 2</a:t>
            </a:r>
            <a:r>
              <a:rPr lang="en-US" kern="0" dirty="0"/>
              <a:t>). </a:t>
            </a:r>
            <a:r>
              <a:rPr lang="en-US" u="sng" kern="0" dirty="0"/>
              <a:t>Worked</a:t>
            </a:r>
            <a:r>
              <a:rPr lang="en-US" kern="0" dirty="0"/>
              <a:t>: Disney slate, strong IP (</a:t>
            </a:r>
            <a:r>
              <a:rPr lang="en-US" i="1" kern="0" dirty="0"/>
              <a:t>Wicked, Dune 2)</a:t>
            </a:r>
            <a:r>
              <a:rPr lang="en-US" kern="0" dirty="0"/>
              <a:t>, horror, animation. </a:t>
            </a:r>
            <a:r>
              <a:rPr lang="en-US" u="sng" kern="0" dirty="0"/>
              <a:t>Not as good</a:t>
            </a:r>
            <a:r>
              <a:rPr lang="en-US" kern="0" dirty="0"/>
              <a:t>: ill-conceived sequel/prequel (</a:t>
            </a:r>
            <a:r>
              <a:rPr lang="en-US" i="1" kern="0" dirty="0"/>
              <a:t>Furiosa</a:t>
            </a:r>
            <a:r>
              <a:rPr lang="en-US" kern="0" dirty="0"/>
              <a:t>, </a:t>
            </a:r>
            <a:r>
              <a:rPr lang="en-US" i="1" kern="0" dirty="0"/>
              <a:t>Joker 2</a:t>
            </a:r>
            <a:r>
              <a:rPr lang="en-US" kern="0" dirty="0"/>
              <a:t>), new IP (</a:t>
            </a:r>
            <a:r>
              <a:rPr lang="en-US" i="1" kern="0" dirty="0"/>
              <a:t>IF, </a:t>
            </a:r>
            <a:r>
              <a:rPr lang="en-US" i="1" kern="0" dirty="0" err="1"/>
              <a:t>Argylle</a:t>
            </a:r>
            <a:r>
              <a:rPr lang="en-US" i="1" kern="0" dirty="0"/>
              <a:t>)</a:t>
            </a:r>
            <a:endParaRPr lang="en-US" kern="0" dirty="0"/>
          </a:p>
          <a:p>
            <a:pPr lvl="1"/>
            <a:r>
              <a:rPr lang="en-US" kern="0" dirty="0"/>
              <a:t>2025: view remains NA BO at $9.435bn (+8% y/y)</a:t>
            </a:r>
          </a:p>
          <a:p>
            <a:pPr lvl="2"/>
            <a:r>
              <a:rPr lang="en-US" kern="0" dirty="0"/>
              <a:t>Currently tracking 103 wide releases in 2025 (JPMe 111) vs. ~98 in ’24</a:t>
            </a:r>
          </a:p>
          <a:p>
            <a:pPr lvl="2"/>
            <a:r>
              <a:rPr lang="en-US" kern="0" dirty="0"/>
              <a:t>Bottoms-up 1H forecast is $4.04b, +14% y/y; room to flex up or down based on quality</a:t>
            </a:r>
          </a:p>
          <a:p>
            <a:pPr lvl="3"/>
            <a:r>
              <a:rPr lang="en-US" kern="0" dirty="0"/>
              <a:t>Historically, BO is ~50/50 for 1H/2H. Implies 2H needs to be ~$5.4b to hit our forecast which is within 5% of pre-pandemic levels. Very early Q3 view is ~$2.6b. Upshot: loftier expectations may have to adjust. Will have better view as slate fills out</a:t>
            </a:r>
          </a:p>
          <a:p>
            <a:pPr lvl="2"/>
            <a:r>
              <a:rPr lang="en-US" kern="0" dirty="0">
                <a:highlight>
                  <a:srgbClr val="FFFFFF"/>
                </a:highlight>
              </a:rPr>
              <a:t>2026: strong slate; will get better view of real long-term supply and whether incremental films from streamers/indies can make up for prior studio consolidation</a:t>
            </a:r>
          </a:p>
          <a:p>
            <a:pPr lvl="2"/>
            <a:endParaRPr lang="en-US" kern="0" dirty="0">
              <a:highlight>
                <a:srgbClr val="FFFFFF"/>
              </a:highlight>
            </a:endParaRPr>
          </a:p>
          <a:p>
            <a:pPr marL="1588" lvl="1" indent="0">
              <a:buNone/>
            </a:pPr>
            <a:endParaRPr lang="en-US" kern="0" dirty="0"/>
          </a:p>
        </p:txBody>
      </p:sp>
      <p:sp>
        <p:nvSpPr>
          <p:cNvPr id="10" name="Rectangle 3">
            <a:extLst>
              <a:ext uri="{FF2B5EF4-FFF2-40B4-BE49-F238E27FC236}">
                <a16:creationId xmlns:a16="http://schemas.microsoft.com/office/drawing/2014/main" id="{4F9D44F3-D5C9-4DAB-E763-3819AE9DC12B}"/>
              </a:ext>
            </a:extLst>
          </p:cNvPr>
          <p:cNvSpPr txBox="1">
            <a:spLocks noChangeArrowheads="1"/>
          </p:cNvSpPr>
          <p:nvPr/>
        </p:nvSpPr>
        <p:spPr bwMode="gray">
          <a:xfrm>
            <a:off x="914400" y="4883477"/>
            <a:ext cx="5119687" cy="29718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b="1" kern="0" dirty="0">
                <a:highlight>
                  <a:srgbClr val="FFFFFF"/>
                </a:highlight>
              </a:rPr>
              <a:t>CNK (N, $29 PT): </a:t>
            </a:r>
            <a:r>
              <a:rPr lang="en-US" kern="0" dirty="0">
                <a:highlight>
                  <a:srgbClr val="FFFFFF"/>
                </a:highlight>
              </a:rPr>
              <a:t>Neutral view reflects forward valuation toward high-end of historical range, concern on 2025 box office expectations; need more conviction on 2026</a:t>
            </a:r>
          </a:p>
          <a:p>
            <a:pPr lvl="2"/>
            <a:r>
              <a:rPr lang="en-US" kern="0" dirty="0">
                <a:highlight>
                  <a:srgbClr val="FFFFFF"/>
                </a:highlight>
              </a:rPr>
              <a:t>Market share gains have been impressive, but could be more muted ahead; expect dividend, not buyback initially</a:t>
            </a:r>
          </a:p>
          <a:p>
            <a:pPr lvl="1"/>
            <a:r>
              <a:rPr lang="en-US" b="1" kern="0" dirty="0">
                <a:highlight>
                  <a:srgbClr val="FFFFFF"/>
                </a:highlight>
              </a:rPr>
              <a:t>IMAX (N, $21 PT): </a:t>
            </a:r>
            <a:r>
              <a:rPr lang="en-US" kern="0" dirty="0">
                <a:highlight>
                  <a:srgbClr val="FFFFFF"/>
                </a:highlight>
              </a:rPr>
              <a:t>Potential for indexing (cameras, footprint buildout) means less exposed to box office risk. Still have some concern on China within $1.2b BO forecast</a:t>
            </a:r>
          </a:p>
          <a:p>
            <a:pPr lvl="2"/>
            <a:r>
              <a:rPr lang="en-US" kern="0" dirty="0">
                <a:highlight>
                  <a:srgbClr val="FFFFFF"/>
                </a:highlight>
              </a:rPr>
              <a:t>Could become interesting ahead of tentpole driven 2026</a:t>
            </a:r>
          </a:p>
          <a:p>
            <a:pPr marL="1588" lvl="1" indent="0">
              <a:buNone/>
            </a:pPr>
            <a:endParaRPr lang="en-US" kern="0" dirty="0"/>
          </a:p>
        </p:txBody>
      </p:sp>
    </p:spTree>
    <p:extLst>
      <p:ext uri="{BB962C8B-B14F-4D97-AF65-F5344CB8AC3E}">
        <p14:creationId xmlns:p14="http://schemas.microsoft.com/office/powerpoint/2010/main" val="3190073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7238" y="528638"/>
            <a:ext cx="8537575" cy="612775"/>
          </a:xfrm>
        </p:spPr>
        <p:txBody>
          <a:bodyPr/>
          <a:lstStyle/>
          <a:p>
            <a:r>
              <a:rPr lang="en-US" u="sng" dirty="0">
                <a:solidFill>
                  <a:srgbClr val="000000"/>
                </a:solidFill>
                <a:highlight>
                  <a:srgbClr val="FFFFFF"/>
                </a:highlight>
              </a:rPr>
              <a:t>News &amp; Information</a:t>
            </a:r>
            <a:r>
              <a:rPr lang="en-US" dirty="0">
                <a:solidFill>
                  <a:srgbClr val="000000"/>
                </a:solidFill>
                <a:highlight>
                  <a:srgbClr val="FFFFFF"/>
                </a:highlight>
              </a:rPr>
              <a:t>: New York Times Co (NYT) – OW, $62 PT</a:t>
            </a:r>
            <a:endParaRPr lang="en-US" dirty="0">
              <a:highlight>
                <a:srgbClr val="FFFFFF"/>
              </a:highlight>
            </a:endParaRPr>
          </a:p>
        </p:txBody>
      </p:sp>
      <p:sp>
        <p:nvSpPr>
          <p:cNvPr id="4" name="Rectangle 3"/>
          <p:cNvSpPr txBox="1">
            <a:spLocks noChangeArrowheads="1"/>
          </p:cNvSpPr>
          <p:nvPr/>
        </p:nvSpPr>
        <p:spPr bwMode="gray">
          <a:xfrm>
            <a:off x="914401" y="1447800"/>
            <a:ext cx="5181600" cy="32766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b="1" kern="0" dirty="0">
                <a:highlight>
                  <a:srgbClr val="FFFFFF"/>
                </a:highlight>
              </a:rPr>
              <a:t>Key issues</a:t>
            </a:r>
          </a:p>
          <a:p>
            <a:pPr lvl="2"/>
            <a:r>
              <a:rPr lang="en-US" kern="0" dirty="0"/>
              <a:t>Graduation of bundle subs to higher price points</a:t>
            </a:r>
          </a:p>
          <a:p>
            <a:pPr lvl="2"/>
            <a:r>
              <a:rPr lang="en-US" kern="0" dirty="0"/>
              <a:t>News cycle after presidential election </a:t>
            </a:r>
          </a:p>
          <a:p>
            <a:pPr lvl="2"/>
            <a:r>
              <a:rPr lang="en-US" kern="0" dirty="0"/>
              <a:t>Advertising potential at NYTG and The Athletic  </a:t>
            </a:r>
          </a:p>
          <a:p>
            <a:pPr lvl="2"/>
            <a:r>
              <a:rPr lang="en-US" kern="0" dirty="0"/>
              <a:t>Outcome of lawsuit against OpenAI and Microsoft</a:t>
            </a:r>
          </a:p>
          <a:p>
            <a:pPr lvl="1"/>
            <a:r>
              <a:rPr lang="en-US" b="1" kern="0" dirty="0">
                <a:highlight>
                  <a:srgbClr val="FFFFFF"/>
                </a:highlight>
              </a:rPr>
              <a:t>Our take: </a:t>
            </a:r>
          </a:p>
          <a:p>
            <a:pPr lvl="2"/>
            <a:r>
              <a:rPr lang="en-US" dirty="0"/>
              <a:t>Two quarters of Bundle + Multiproduct ARPU growth demonstrates traction in core strategy of migrating subs to higher tiers. </a:t>
            </a:r>
          </a:p>
          <a:p>
            <a:pPr lvl="3"/>
            <a:r>
              <a:rPr lang="en-US" dirty="0"/>
              <a:t>Don’t view moving subs to higher tiers as tied to news cycle but rather to engagement and value which are supported by a refreshed app and more features</a:t>
            </a:r>
          </a:p>
          <a:p>
            <a:pPr lvl="2"/>
            <a:endParaRPr lang="en-US" dirty="0"/>
          </a:p>
        </p:txBody>
      </p:sp>
      <p:pic>
        <p:nvPicPr>
          <p:cNvPr id="3" name="Picture 2">
            <a:extLst>
              <a:ext uri="{FF2B5EF4-FFF2-40B4-BE49-F238E27FC236}">
                <a16:creationId xmlns:a16="http://schemas.microsoft.com/office/drawing/2014/main" id="{2D0894B1-7EE4-6EEA-45AF-C3C95AB586DF}"/>
              </a:ext>
            </a:extLst>
          </p:cNvPr>
          <p:cNvPicPr>
            <a:picLocks noChangeAspect="1"/>
          </p:cNvPicPr>
          <p:nvPr/>
        </p:nvPicPr>
        <p:blipFill>
          <a:blip r:embed="rId3"/>
          <a:stretch>
            <a:fillRect/>
          </a:stretch>
        </p:blipFill>
        <p:spPr>
          <a:xfrm>
            <a:off x="6172200" y="1777504"/>
            <a:ext cx="3744468" cy="2250167"/>
          </a:xfrm>
          <a:prstGeom prst="rect">
            <a:avLst/>
          </a:prstGeom>
        </p:spPr>
      </p:pic>
      <p:sp>
        <p:nvSpPr>
          <p:cNvPr id="5" name="TextBox 4">
            <a:extLst>
              <a:ext uri="{FF2B5EF4-FFF2-40B4-BE49-F238E27FC236}">
                <a16:creationId xmlns:a16="http://schemas.microsoft.com/office/drawing/2014/main" id="{7F28F2E4-43E2-6066-576D-BDEF8115DEBA}"/>
              </a:ext>
            </a:extLst>
          </p:cNvPr>
          <p:cNvSpPr txBox="1"/>
          <p:nvPr/>
        </p:nvSpPr>
        <p:spPr>
          <a:xfrm>
            <a:off x="6172200" y="1524000"/>
            <a:ext cx="3744468" cy="261610"/>
          </a:xfrm>
          <a:prstGeom prst="rect">
            <a:avLst/>
          </a:prstGeom>
          <a:solidFill>
            <a:schemeClr val="accent1"/>
          </a:solidFill>
        </p:spPr>
        <p:txBody>
          <a:bodyPr wrap="square" rtlCol="0">
            <a:spAutoFit/>
          </a:bodyPr>
          <a:lstStyle/>
          <a:p>
            <a:r>
              <a:rPr lang="en-US" b="1" dirty="0">
                <a:solidFill>
                  <a:schemeClr val="bg1"/>
                </a:solidFill>
              </a:rPr>
              <a:t>NYTimes.com Monthly Visits Growth Y/Y</a:t>
            </a:r>
          </a:p>
        </p:txBody>
      </p:sp>
      <p:sp>
        <p:nvSpPr>
          <p:cNvPr id="6" name="TextBox 5">
            <a:extLst>
              <a:ext uri="{FF2B5EF4-FFF2-40B4-BE49-F238E27FC236}">
                <a16:creationId xmlns:a16="http://schemas.microsoft.com/office/drawing/2014/main" id="{90F830A6-B778-6745-2E25-AF4AAD9C572F}"/>
              </a:ext>
            </a:extLst>
          </p:cNvPr>
          <p:cNvSpPr txBox="1"/>
          <p:nvPr/>
        </p:nvSpPr>
        <p:spPr>
          <a:xfrm>
            <a:off x="6118699" y="4065731"/>
            <a:ext cx="3299267" cy="215444"/>
          </a:xfrm>
          <a:prstGeom prst="rect">
            <a:avLst/>
          </a:prstGeom>
          <a:noFill/>
        </p:spPr>
        <p:txBody>
          <a:bodyPr wrap="square" rtlCol="0">
            <a:spAutoFit/>
          </a:bodyPr>
          <a:lstStyle/>
          <a:p>
            <a:pPr algn="l"/>
            <a:r>
              <a:rPr lang="en-US" sz="800" dirty="0">
                <a:latin typeface="Arial Narrow" panose="020B0606020202030204" pitchFamily="34" charset="0"/>
              </a:rPr>
              <a:t>Source: JPM estimates, </a:t>
            </a:r>
            <a:r>
              <a:rPr lang="en-US" sz="800" dirty="0" err="1">
                <a:latin typeface="Arial Narrow" panose="020B0606020202030204" pitchFamily="34" charset="0"/>
              </a:rPr>
              <a:t>SimilarWeb</a:t>
            </a:r>
            <a:endParaRPr lang="en-US" sz="800" dirty="0">
              <a:latin typeface="Arial Narrow" panose="020B0606020202030204" pitchFamily="34" charset="0"/>
            </a:endParaRPr>
          </a:p>
        </p:txBody>
      </p:sp>
      <p:sp>
        <p:nvSpPr>
          <p:cNvPr id="7" name="Rectangle 3">
            <a:extLst>
              <a:ext uri="{FF2B5EF4-FFF2-40B4-BE49-F238E27FC236}">
                <a16:creationId xmlns:a16="http://schemas.microsoft.com/office/drawing/2014/main" id="{8C142D83-8AEE-A0F0-412B-7DEA5B68E117}"/>
              </a:ext>
            </a:extLst>
          </p:cNvPr>
          <p:cNvSpPr txBox="1">
            <a:spLocks noChangeArrowheads="1"/>
          </p:cNvSpPr>
          <p:nvPr/>
        </p:nvSpPr>
        <p:spPr bwMode="gray">
          <a:xfrm>
            <a:off x="950069" y="4724400"/>
            <a:ext cx="9166697" cy="60198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2"/>
            <a:r>
              <a:rPr lang="en-US" dirty="0"/>
              <a:t>Will 2025 news cycle decelerate? Next year will lack election, but cycle has defied predictions of a slowdown. Worth noting that 2017 digital subscription adds outpaced 2016</a:t>
            </a:r>
          </a:p>
          <a:p>
            <a:pPr lvl="3"/>
            <a:r>
              <a:rPr lang="en-US" dirty="0"/>
              <a:t>Times investment in lifestyle verticals and games an under-appreciated factor</a:t>
            </a:r>
          </a:p>
          <a:p>
            <a:pPr lvl="2"/>
            <a:r>
              <a:rPr lang="en-US" dirty="0"/>
              <a:t>Digital advertising: susceptible to macro factors, but NYT seeing traction on new inventory at games, The Athletic</a:t>
            </a:r>
          </a:p>
          <a:p>
            <a:pPr lvl="2"/>
            <a:r>
              <a:rPr lang="en-US" dirty="0"/>
              <a:t>Other revenue: has consistently surprised to the upside, led by </a:t>
            </a:r>
            <a:r>
              <a:rPr lang="en-US" dirty="0" err="1"/>
              <a:t>Wirecutter</a:t>
            </a:r>
            <a:endParaRPr lang="en-US" dirty="0"/>
          </a:p>
          <a:p>
            <a:pPr lvl="2"/>
            <a:r>
              <a:rPr lang="en-US" dirty="0"/>
              <a:t>OpenAI lawsuit: option value that does not appear to be built into forecasts or valuation</a:t>
            </a:r>
          </a:p>
          <a:p>
            <a:pPr lvl="2"/>
            <a:r>
              <a:rPr lang="en-US" dirty="0"/>
              <a:t>At ~17x forward consensus EBITDA, trades at premium to most of our coverage. We see valuation as justified given global leadership position in digital subscription news, with a low penetration into a global TAM. Still trades at a discount other leaders (NFLX on EV/EBTIDA or SPOT on EV/GP)</a:t>
            </a:r>
            <a:endParaRPr lang="en-US" dirty="0">
              <a:highlight>
                <a:srgbClr val="FFFF00"/>
              </a:highlight>
            </a:endParaRPr>
          </a:p>
          <a:p>
            <a:pPr lvl="2"/>
            <a:endParaRPr lang="en-US" dirty="0"/>
          </a:p>
        </p:txBody>
      </p:sp>
    </p:spTree>
    <p:extLst>
      <p:ext uri="{BB962C8B-B14F-4D97-AF65-F5344CB8AC3E}">
        <p14:creationId xmlns:p14="http://schemas.microsoft.com/office/powerpoint/2010/main" val="1386667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000000"/>
                </a:solidFill>
              </a:rPr>
              <a:t>News and Information</a:t>
            </a:r>
            <a:r>
              <a:rPr lang="en-US" dirty="0">
                <a:solidFill>
                  <a:srgbClr val="000000"/>
                </a:solidFill>
              </a:rPr>
              <a:t>: News Corp (NWSA) – Overweight, $40 PT</a:t>
            </a:r>
            <a:endParaRPr lang="en-US" dirty="0"/>
          </a:p>
        </p:txBody>
      </p:sp>
      <p:sp>
        <p:nvSpPr>
          <p:cNvPr id="4" name="Rectangle 3"/>
          <p:cNvSpPr txBox="1">
            <a:spLocks noChangeArrowheads="1"/>
          </p:cNvSpPr>
          <p:nvPr/>
        </p:nvSpPr>
        <p:spPr bwMode="gray">
          <a:xfrm>
            <a:off x="914400" y="1514954"/>
            <a:ext cx="4652961" cy="30480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b="1" kern="0" dirty="0"/>
              <a:t>Key issues</a:t>
            </a:r>
            <a:endParaRPr lang="en-US" kern="0" dirty="0"/>
          </a:p>
          <a:p>
            <a:pPr lvl="2"/>
            <a:r>
              <a:rPr lang="en-US" kern="0" dirty="0"/>
              <a:t>Action on strategic review and catalyst to close gap to underlying value</a:t>
            </a:r>
          </a:p>
          <a:p>
            <a:pPr lvl="2"/>
            <a:r>
              <a:rPr lang="en-US" kern="0" dirty="0"/>
              <a:t>Fundamental performance</a:t>
            </a:r>
          </a:p>
          <a:p>
            <a:pPr lvl="1"/>
            <a:r>
              <a:rPr lang="en-US" b="1" kern="0" dirty="0"/>
              <a:t>Our take: remains cheap with improving fundamentals</a:t>
            </a:r>
            <a:endParaRPr lang="en-US" dirty="0"/>
          </a:p>
          <a:p>
            <a:pPr lvl="2"/>
            <a:r>
              <a:rPr lang="en-US" dirty="0"/>
              <a:t>Non-REA market cap is ~$4.0b which is approximately flat y/y. We see as much value in Book Publishing, Realtor, SVS and News Media net of corporate costs; no implied value for Dow Jones</a:t>
            </a:r>
          </a:p>
          <a:p>
            <a:pPr lvl="2"/>
            <a:r>
              <a:rPr lang="en-US" dirty="0"/>
              <a:t>Encouraged by third-party interest in Foxtel and press reports confirming this. Demonstrates traction on strategic review</a:t>
            </a:r>
          </a:p>
          <a:p>
            <a:pPr lvl="2"/>
            <a:endParaRPr lang="en-US" dirty="0"/>
          </a:p>
          <a:p>
            <a:pPr lvl="2"/>
            <a:endParaRPr lang="en-US" kern="0" dirty="0"/>
          </a:p>
        </p:txBody>
      </p:sp>
      <p:sp>
        <p:nvSpPr>
          <p:cNvPr id="3" name="TextBox 2">
            <a:extLst>
              <a:ext uri="{FF2B5EF4-FFF2-40B4-BE49-F238E27FC236}">
                <a16:creationId xmlns:a16="http://schemas.microsoft.com/office/drawing/2014/main" id="{39FB46B6-DB48-6231-A7E4-4BDCAB32C5CA}"/>
              </a:ext>
            </a:extLst>
          </p:cNvPr>
          <p:cNvSpPr txBox="1"/>
          <p:nvPr/>
        </p:nvSpPr>
        <p:spPr>
          <a:xfrm>
            <a:off x="6086434" y="1514954"/>
            <a:ext cx="3819566" cy="261610"/>
          </a:xfrm>
          <a:prstGeom prst="rect">
            <a:avLst/>
          </a:prstGeom>
          <a:solidFill>
            <a:schemeClr val="accent1"/>
          </a:solidFill>
        </p:spPr>
        <p:txBody>
          <a:bodyPr wrap="square" rtlCol="0">
            <a:spAutoFit/>
          </a:bodyPr>
          <a:lstStyle/>
          <a:p>
            <a:r>
              <a:rPr lang="en-US" b="1" dirty="0">
                <a:solidFill>
                  <a:schemeClr val="bg1"/>
                </a:solidFill>
              </a:rPr>
              <a:t>NWSA Market Cap Ex-REA Ownership</a:t>
            </a:r>
          </a:p>
        </p:txBody>
      </p:sp>
      <p:sp>
        <p:nvSpPr>
          <p:cNvPr id="5" name="TextBox 4">
            <a:extLst>
              <a:ext uri="{FF2B5EF4-FFF2-40B4-BE49-F238E27FC236}">
                <a16:creationId xmlns:a16="http://schemas.microsoft.com/office/drawing/2014/main" id="{4BA9BC10-7893-1F78-A96B-9D0EC169F233}"/>
              </a:ext>
            </a:extLst>
          </p:cNvPr>
          <p:cNvSpPr txBox="1"/>
          <p:nvPr/>
        </p:nvSpPr>
        <p:spPr>
          <a:xfrm>
            <a:off x="6031327" y="4109009"/>
            <a:ext cx="3299267" cy="215444"/>
          </a:xfrm>
          <a:prstGeom prst="rect">
            <a:avLst/>
          </a:prstGeom>
          <a:noFill/>
        </p:spPr>
        <p:txBody>
          <a:bodyPr wrap="square" rtlCol="0">
            <a:spAutoFit/>
          </a:bodyPr>
          <a:lstStyle/>
          <a:p>
            <a:pPr algn="l"/>
            <a:r>
              <a:rPr lang="en-US" sz="800" dirty="0">
                <a:latin typeface="Arial Narrow" panose="020B0606020202030204" pitchFamily="34" charset="0"/>
              </a:rPr>
              <a:t>Source: JPM estimates, company reports, Bloomberg Finance L.P. </a:t>
            </a:r>
          </a:p>
        </p:txBody>
      </p:sp>
      <p:pic>
        <p:nvPicPr>
          <p:cNvPr id="7" name="Picture 6">
            <a:extLst>
              <a:ext uri="{FF2B5EF4-FFF2-40B4-BE49-F238E27FC236}">
                <a16:creationId xmlns:a16="http://schemas.microsoft.com/office/drawing/2014/main" id="{72B20AB1-F71A-CDC6-DA1C-F1AC1360CCD1}"/>
              </a:ext>
            </a:extLst>
          </p:cNvPr>
          <p:cNvPicPr>
            <a:picLocks noChangeAspect="1"/>
          </p:cNvPicPr>
          <p:nvPr/>
        </p:nvPicPr>
        <p:blipFill>
          <a:blip r:embed="rId3"/>
          <a:stretch>
            <a:fillRect/>
          </a:stretch>
        </p:blipFill>
        <p:spPr>
          <a:xfrm>
            <a:off x="6086434" y="1905000"/>
            <a:ext cx="3843980" cy="2244070"/>
          </a:xfrm>
          <a:prstGeom prst="rect">
            <a:avLst/>
          </a:prstGeom>
        </p:spPr>
      </p:pic>
      <p:sp>
        <p:nvSpPr>
          <p:cNvPr id="9" name="Rectangle 3">
            <a:extLst>
              <a:ext uri="{FF2B5EF4-FFF2-40B4-BE49-F238E27FC236}">
                <a16:creationId xmlns:a16="http://schemas.microsoft.com/office/drawing/2014/main" id="{68D1EC66-AFD9-9640-3C74-7CC3BEA2B412}"/>
              </a:ext>
            </a:extLst>
          </p:cNvPr>
          <p:cNvSpPr txBox="1">
            <a:spLocks noChangeArrowheads="1"/>
          </p:cNvSpPr>
          <p:nvPr/>
        </p:nvSpPr>
        <p:spPr bwMode="gray">
          <a:xfrm>
            <a:off x="914400" y="4936495"/>
            <a:ext cx="8691561" cy="30480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2"/>
            <a:r>
              <a:rPr lang="en-US" dirty="0"/>
              <a:t>Action on Foxtel + a separation of real estate assets would in theory open door for value unlock given where Dow Jones business and consumer comps trade</a:t>
            </a:r>
          </a:p>
          <a:p>
            <a:pPr lvl="2"/>
            <a:r>
              <a:rPr lang="en-US" dirty="0"/>
              <a:t>Fundamentals inflecting higher for the core segments:</a:t>
            </a:r>
          </a:p>
          <a:p>
            <a:pPr lvl="3"/>
            <a:r>
              <a:rPr lang="en-US" dirty="0"/>
              <a:t>DJ: PIB Risk &amp; Compliance and Dow Jones Energy have pricing power. At Consumer, expect circulation growth on ARPU, in addition to OpenAI benefit</a:t>
            </a:r>
          </a:p>
          <a:p>
            <a:pPr lvl="3"/>
            <a:r>
              <a:rPr lang="en-US" dirty="0"/>
              <a:t>Publishing: expect steady growth and margin expansion, partly helped by audiobooks</a:t>
            </a:r>
          </a:p>
          <a:p>
            <a:pPr lvl="3"/>
            <a:r>
              <a:rPr lang="en-US" dirty="0"/>
              <a:t>Realtor: Fed cuts should drive pent-up demand for home buying</a:t>
            </a:r>
          </a:p>
          <a:p>
            <a:pPr lvl="2"/>
            <a:endParaRPr lang="en-US" dirty="0"/>
          </a:p>
          <a:p>
            <a:pPr lvl="2"/>
            <a:endParaRPr lang="en-US" kern="0" dirty="0"/>
          </a:p>
        </p:txBody>
      </p:sp>
    </p:spTree>
    <p:extLst>
      <p:ext uri="{BB962C8B-B14F-4D97-AF65-F5344CB8AC3E}">
        <p14:creationId xmlns:p14="http://schemas.microsoft.com/office/powerpoint/2010/main" val="1706150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gray">
          <a:xfrm>
            <a:off x="867569" y="1447800"/>
            <a:ext cx="8005762" cy="60960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b="1" kern="0" dirty="0"/>
              <a:t>Key issues</a:t>
            </a:r>
            <a:endParaRPr lang="en-US" kern="0" dirty="0"/>
          </a:p>
          <a:p>
            <a:pPr lvl="2"/>
            <a:r>
              <a:rPr lang="en-US" kern="0" dirty="0"/>
              <a:t>Pricing: upside potential (wholesale/PSMs, segmentation, </a:t>
            </a:r>
            <a:r>
              <a:rPr lang="en-US" kern="0" dirty="0" err="1"/>
              <a:t>etc</a:t>
            </a:r>
            <a:r>
              <a:rPr lang="en-US" kern="0" dirty="0"/>
              <a:t>) vs. participation threatened by DSP bundling actions</a:t>
            </a:r>
          </a:p>
          <a:p>
            <a:pPr lvl="2"/>
            <a:r>
              <a:rPr lang="en-US" kern="0" dirty="0"/>
              <a:t>Subscription: WMG provides long-term guide, though growth could decelerate near-term</a:t>
            </a:r>
          </a:p>
          <a:p>
            <a:pPr lvl="2"/>
            <a:r>
              <a:rPr lang="en-US" kern="0" dirty="0"/>
              <a:t>Ad-supported: audio ad market sluggish </a:t>
            </a:r>
          </a:p>
          <a:p>
            <a:pPr lvl="1"/>
            <a:r>
              <a:rPr lang="en-US" b="1" kern="0" dirty="0"/>
              <a:t>Our take: market overly bearish on key debate; remains strong LT growth story</a:t>
            </a:r>
          </a:p>
          <a:p>
            <a:pPr lvl="2"/>
            <a:r>
              <a:rPr lang="en-US" kern="0" dirty="0"/>
              <a:t>Pricing:</a:t>
            </a:r>
          </a:p>
          <a:p>
            <a:pPr lvl="3"/>
            <a:r>
              <a:rPr lang="en-US" kern="0" dirty="0"/>
              <a:t>Labels + DSPs in theory should be aligned on price increases</a:t>
            </a:r>
          </a:p>
          <a:p>
            <a:pPr lvl="3"/>
            <a:r>
              <a:rPr lang="en-US" kern="0" dirty="0"/>
              <a:t>WMG comments on PSM escalators and wholesale rates indicate more proactive stance. Investors will have degree of skepticism and practical implementation could take time, but at this point common action among label peers looks under-appreciated</a:t>
            </a:r>
          </a:p>
          <a:p>
            <a:pPr lvl="3"/>
            <a:r>
              <a:rPr lang="en-US" kern="0" dirty="0"/>
              <a:t>Superfan tiers show opportunity for consumer segmentation (super premium, physical); eyeing Tencent SVIP as a comp (8% of subs and growing)</a:t>
            </a:r>
          </a:p>
          <a:p>
            <a:pPr lvl="3"/>
            <a:r>
              <a:rPr lang="en-US" kern="0" dirty="0"/>
              <a:t>WMG additionally focused on reducing family plan discounts</a:t>
            </a:r>
          </a:p>
          <a:p>
            <a:pPr lvl="2"/>
            <a:r>
              <a:rPr lang="en-US" kern="0" dirty="0"/>
              <a:t>Subscription: on volume, streaming penetration remains low in both EMs (LDD % of global smartphone users) and DMs (30% in US vs. SVOD 50%)</a:t>
            </a:r>
          </a:p>
          <a:p>
            <a:pPr lvl="3"/>
            <a:r>
              <a:rPr lang="en-US" kern="0" dirty="0"/>
              <a:t>LT guide is HSD growth with upside from super premium or price optimization. Near-term could decelerate as price increases are lapped </a:t>
            </a:r>
          </a:p>
          <a:p>
            <a:pPr lvl="2"/>
            <a:r>
              <a:rPr lang="en-US" kern="0" dirty="0"/>
              <a:t>Ad-supported: recent trends challenged, but significant long-term opportunity</a:t>
            </a:r>
          </a:p>
          <a:p>
            <a:pPr lvl="3"/>
            <a:r>
              <a:rPr lang="en-US" kern="0" dirty="0"/>
              <a:t>Ad market still underdeveloped. Growth opportunities long-term in ESP monetization/renewals, MAU growth (ad monetization scales with audience), Spotify programmatic. </a:t>
            </a:r>
          </a:p>
          <a:p>
            <a:pPr lvl="2"/>
            <a:r>
              <a:rPr lang="en-US" kern="0" dirty="0"/>
              <a:t>Valuation: at 13x F25, attractive way to play music growth relative to peers and DSPs</a:t>
            </a:r>
          </a:p>
          <a:p>
            <a:pPr marL="211138" lvl="2" indent="0">
              <a:buNone/>
            </a:pPr>
            <a:endParaRPr lang="en-US" kern="0" dirty="0"/>
          </a:p>
          <a:p>
            <a:pPr lvl="3"/>
            <a:endParaRPr lang="en-US" kern="0" dirty="0">
              <a:highlight>
                <a:srgbClr val="FFFF00"/>
              </a:highlight>
            </a:endParaRPr>
          </a:p>
          <a:p>
            <a:pPr lvl="3"/>
            <a:endParaRPr lang="en-US" kern="0" dirty="0">
              <a:highlight>
                <a:srgbClr val="FFFF00"/>
              </a:highlight>
            </a:endParaRPr>
          </a:p>
          <a:p>
            <a:pPr lvl="3"/>
            <a:endParaRPr lang="en-US" kern="0" dirty="0">
              <a:highlight>
                <a:srgbClr val="FFFF00"/>
              </a:highlight>
            </a:endParaRPr>
          </a:p>
          <a:p>
            <a:pPr lvl="2"/>
            <a:endParaRPr lang="en-US" kern="0" dirty="0">
              <a:highlight>
                <a:srgbClr val="FFFF00"/>
              </a:highlight>
            </a:endParaRPr>
          </a:p>
          <a:p>
            <a:pPr lvl="2"/>
            <a:endParaRPr lang="en-US" dirty="0"/>
          </a:p>
          <a:p>
            <a:pPr lvl="2"/>
            <a:endParaRPr lang="en-US" dirty="0"/>
          </a:p>
        </p:txBody>
      </p:sp>
      <p:sp>
        <p:nvSpPr>
          <p:cNvPr id="3" name="Title 1">
            <a:extLst>
              <a:ext uri="{FF2B5EF4-FFF2-40B4-BE49-F238E27FC236}">
                <a16:creationId xmlns:a16="http://schemas.microsoft.com/office/drawing/2014/main" id="{B1EFFE93-A8E0-EF09-0B38-8AF0A4010E00}"/>
              </a:ext>
            </a:extLst>
          </p:cNvPr>
          <p:cNvSpPr txBox="1">
            <a:spLocks/>
          </p:cNvSpPr>
          <p:nvPr/>
        </p:nvSpPr>
        <p:spPr bwMode="auto">
          <a:xfrm>
            <a:off x="757238" y="528638"/>
            <a:ext cx="8226425" cy="6127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defTabSz="1019175" rtl="0" eaLnBrk="0" fontAlgn="base" hangingPunct="0">
              <a:lnSpc>
                <a:spcPts val="2788"/>
              </a:lnSpc>
              <a:spcBef>
                <a:spcPct val="0"/>
              </a:spcBef>
              <a:spcAft>
                <a:spcPct val="0"/>
              </a:spcAft>
              <a:defRPr sz="2200">
                <a:solidFill>
                  <a:schemeClr val="tx2"/>
                </a:solidFill>
                <a:latin typeface="+mj-lt"/>
                <a:ea typeface="+mj-ea"/>
                <a:cs typeface="+mj-cs"/>
              </a:defRPr>
            </a:lvl1pPr>
            <a:lvl2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2pPr>
            <a:lvl3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3pPr>
            <a:lvl4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4pPr>
            <a:lvl5pPr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5pPr>
            <a:lvl6pPr marL="4572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6pPr>
            <a:lvl7pPr marL="9144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7pPr>
            <a:lvl8pPr marL="13716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8pPr>
            <a:lvl9pPr marL="1828800" algn="l" defTabSz="1019175" rtl="0" eaLnBrk="0" fontAlgn="base" hangingPunct="0">
              <a:lnSpc>
                <a:spcPts val="2788"/>
              </a:lnSpc>
              <a:spcBef>
                <a:spcPct val="0"/>
              </a:spcBef>
              <a:spcAft>
                <a:spcPct val="0"/>
              </a:spcAft>
              <a:defRPr sz="2200">
                <a:solidFill>
                  <a:schemeClr val="tx2"/>
                </a:solidFill>
                <a:latin typeface="Arial" charset="0"/>
                <a:ea typeface="LF_Kai"/>
                <a:cs typeface="LF_Kai"/>
              </a:defRPr>
            </a:lvl9pPr>
          </a:lstStyle>
          <a:p>
            <a:r>
              <a:rPr lang="en-US" u="sng" dirty="0">
                <a:solidFill>
                  <a:srgbClr val="000000"/>
                </a:solidFill>
              </a:rPr>
              <a:t>Music</a:t>
            </a:r>
            <a:r>
              <a:rPr lang="en-US" dirty="0">
                <a:solidFill>
                  <a:srgbClr val="000000"/>
                </a:solidFill>
              </a:rPr>
              <a:t>: Warner Music Group (WMG) – OW , $40 PT</a:t>
            </a:r>
            <a:endParaRPr lang="en-US" kern="0" dirty="0"/>
          </a:p>
        </p:txBody>
      </p:sp>
    </p:spTree>
    <p:extLst>
      <p:ext uri="{BB962C8B-B14F-4D97-AF65-F5344CB8AC3E}">
        <p14:creationId xmlns:p14="http://schemas.microsoft.com/office/powerpoint/2010/main" val="3503215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000000"/>
                </a:solidFill>
              </a:rPr>
              <a:t>Outdoor Advertising</a:t>
            </a:r>
            <a:endParaRPr lang="en-US" u="sng" dirty="0"/>
          </a:p>
        </p:txBody>
      </p:sp>
      <p:sp>
        <p:nvSpPr>
          <p:cNvPr id="4" name="Rectangle 3"/>
          <p:cNvSpPr txBox="1">
            <a:spLocks noChangeArrowheads="1"/>
          </p:cNvSpPr>
          <p:nvPr/>
        </p:nvSpPr>
        <p:spPr bwMode="gray">
          <a:xfrm>
            <a:off x="914400" y="1447800"/>
            <a:ext cx="8386762" cy="5486400"/>
          </a:xfrm>
          <a:prstGeom prst="rect">
            <a:avLst/>
          </a:prstGeom>
          <a:noFill/>
          <a:ln w="9525">
            <a:noFill/>
            <a:miter lim="800000"/>
            <a:headEnd/>
            <a:tailEnd/>
          </a:ln>
        </p:spPr>
        <p:txBody>
          <a:bodyPr vert="horz" wrap="square" lIns="91429" tIns="36572" rIns="36572" bIns="36572" numCol="1" anchor="t" anchorCtr="0" compatLnSpc="1">
            <a:prstTxWarp prst="textNoShape">
              <a:avLst/>
            </a:prstTxWarp>
          </a:bodyPr>
          <a:lstStyle>
            <a:lvl1pPr marL="342900" indent="-342900" algn="l" defTabSz="1019175" rtl="0" eaLnBrk="0" fontAlgn="base" hangingPunct="0">
              <a:lnSpc>
                <a:spcPct val="110000"/>
              </a:lnSpc>
              <a:spcBef>
                <a:spcPct val="70000"/>
              </a:spcBef>
              <a:spcAft>
                <a:spcPct val="0"/>
              </a:spcAft>
              <a:buClr>
                <a:srgbClr val="C0C0C0"/>
              </a:buClr>
              <a:buSzPct val="92000"/>
              <a:buFont typeface="Wingdings" pitchFamily="2" charset="2"/>
              <a:defRPr sz="1400">
                <a:solidFill>
                  <a:srgbClr val="000000"/>
                </a:solidFill>
                <a:latin typeface="+mn-lt"/>
                <a:ea typeface="+mn-ea"/>
                <a:cs typeface="+mn-cs"/>
              </a:defRPr>
            </a:lvl1pPr>
            <a:lvl2pPr marL="207963" indent="-206375" algn="l" defTabSz="1019175" rtl="0" eaLnBrk="0" fontAlgn="base" hangingPunct="0">
              <a:lnSpc>
                <a:spcPct val="110000"/>
              </a:lnSpc>
              <a:spcBef>
                <a:spcPct val="70000"/>
              </a:spcBef>
              <a:spcAft>
                <a:spcPct val="0"/>
              </a:spcAft>
              <a:buClr>
                <a:srgbClr val="7397BC"/>
              </a:buClr>
              <a:buSzPct val="92000"/>
              <a:buFont typeface="Wingdings" pitchFamily="2" charset="2"/>
              <a:buChar char="n"/>
              <a:defRPr sz="1400">
                <a:solidFill>
                  <a:srgbClr val="000000"/>
                </a:solidFill>
                <a:latin typeface="+mn-lt"/>
                <a:ea typeface="+mn-ea"/>
                <a:cs typeface="+mn-cs"/>
              </a:defRPr>
            </a:lvl2pPr>
            <a:lvl3pPr marL="423863" indent="-212725" algn="l" defTabSz="1019175" rtl="0" eaLnBrk="0" fontAlgn="base" hangingPunct="0">
              <a:lnSpc>
                <a:spcPct val="110000"/>
              </a:lnSpc>
              <a:spcBef>
                <a:spcPct val="20000"/>
              </a:spcBef>
              <a:spcAft>
                <a:spcPct val="0"/>
              </a:spcAft>
              <a:buClr>
                <a:srgbClr val="969696"/>
              </a:buClr>
              <a:buSzPct val="92000"/>
              <a:buFont typeface="Wingdings" pitchFamily="2" charset="2"/>
              <a:buChar char="n"/>
              <a:defRPr sz="1400">
                <a:solidFill>
                  <a:srgbClr val="000000"/>
                </a:solidFill>
                <a:latin typeface="+mn-lt"/>
                <a:ea typeface="+mn-ea"/>
                <a:cs typeface="+mn-cs"/>
              </a:defRPr>
            </a:lvl3pPr>
            <a:lvl4pPr marL="652463"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4pPr>
            <a:lvl5pPr marL="8794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5pPr>
            <a:lvl6pPr marL="13366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6pPr>
            <a:lvl7pPr marL="17938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7pPr>
            <a:lvl8pPr marL="22510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8pPr>
            <a:lvl9pPr marL="2708275" indent="-225425" algn="l" defTabSz="1019175" rtl="0" eaLnBrk="0" fontAlgn="base" hangingPunct="0">
              <a:lnSpc>
                <a:spcPct val="110000"/>
              </a:lnSpc>
              <a:spcBef>
                <a:spcPct val="0"/>
              </a:spcBef>
              <a:spcAft>
                <a:spcPct val="0"/>
              </a:spcAft>
              <a:buClr>
                <a:srgbClr val="969696"/>
              </a:buClr>
              <a:buFont typeface="Arial" charset="0"/>
              <a:buChar char="–"/>
              <a:defRPr sz="1400">
                <a:solidFill>
                  <a:srgbClr val="000000"/>
                </a:solidFill>
                <a:latin typeface="+mn-lt"/>
                <a:ea typeface="+mn-ea"/>
                <a:cs typeface="+mn-cs"/>
              </a:defRPr>
            </a:lvl9pPr>
          </a:lstStyle>
          <a:p>
            <a:pPr lvl="1"/>
            <a:r>
              <a:rPr lang="en-US" b="1" kern="0" dirty="0"/>
              <a:t>Key issues: </a:t>
            </a:r>
          </a:p>
          <a:p>
            <a:pPr lvl="2"/>
            <a:r>
              <a:rPr lang="en-US" kern="0" dirty="0"/>
              <a:t>National: continues to lag – macro, category, or other factors?</a:t>
            </a:r>
          </a:p>
          <a:p>
            <a:pPr lvl="2"/>
            <a:r>
              <a:rPr lang="en-US" kern="0" dirty="0"/>
              <a:t>M&amp;A: 2025 looks like tuck-ins rather than large deals</a:t>
            </a:r>
          </a:p>
          <a:p>
            <a:pPr lvl="2"/>
            <a:r>
              <a:rPr lang="en-US" kern="0" dirty="0"/>
              <a:t>Verticals: media hasn’t rebounded as expected after the strikes, but companies innovating with ways to attract novel sectors (e.g. pharma, CPG) to fill inventory</a:t>
            </a:r>
          </a:p>
          <a:p>
            <a:pPr lvl="1"/>
            <a:r>
              <a:rPr lang="en-US" b="1" kern="0" dirty="0"/>
              <a:t>Our take: </a:t>
            </a:r>
          </a:p>
          <a:p>
            <a:pPr lvl="2"/>
            <a:r>
              <a:rPr lang="en-US" kern="0" dirty="0"/>
              <a:t>MAGNA: US OOH forecast is 5.1% in 2025, vs. 5.4% in 2024</a:t>
            </a:r>
          </a:p>
          <a:p>
            <a:pPr lvl="2"/>
            <a:r>
              <a:rPr lang="en-US" kern="0" dirty="0"/>
              <a:t>National: we believe agencies moving to principal model leading to greater concentration of spend with certain media owners, potentially limiting incremental allocation to other channels; on positive side, comps easy and entertainment category should improve with content market and box office</a:t>
            </a:r>
          </a:p>
          <a:p>
            <a:pPr lvl="2"/>
            <a:r>
              <a:rPr lang="en-US" kern="0" dirty="0"/>
              <a:t>Local: we expect a relatively steady trend, with some modest offset from political comp</a:t>
            </a:r>
          </a:p>
          <a:p>
            <a:pPr lvl="2"/>
            <a:r>
              <a:rPr lang="en-US" kern="0" dirty="0"/>
              <a:t>Expect more modest returns following period of multiple expansion; prefer OUT to LAMR on valuation, possible transit upside should initiatives gain traction</a:t>
            </a:r>
          </a:p>
          <a:p>
            <a:pPr lvl="2"/>
            <a:r>
              <a:rPr lang="en-US" kern="0" dirty="0"/>
              <a:t>LAMR (N, PT $129): steady local performer but reflected in valuation at ~16x EBITDA. Plans to ramp pace of digital conversion indicate less large M&amp;A on the table as was hoped</a:t>
            </a:r>
          </a:p>
          <a:p>
            <a:pPr lvl="2"/>
            <a:r>
              <a:rPr lang="en-US" kern="0" dirty="0"/>
              <a:t>OUT (N, PT $19): revenue growth will have headwind of MTA billboard contract loss (limited EBITDA impact), though expect underlying billboard trend to be steady. Forecast deceleration in Transit, however MTA upside would flow through at high incremental margin</a:t>
            </a:r>
          </a:p>
          <a:p>
            <a:pPr lvl="2"/>
            <a:r>
              <a:rPr lang="en-US" kern="0" dirty="0"/>
              <a:t>CCO (UW): Americas reported revenue will benefit from win of MTA billboard contract. High leverage, a lack of a clear path to de-levering, and an elongated process to selling Europe/</a:t>
            </a:r>
            <a:r>
              <a:rPr lang="en-US" kern="0" dirty="0" err="1"/>
              <a:t>Latam</a:t>
            </a:r>
            <a:r>
              <a:rPr lang="en-US" kern="0" dirty="0"/>
              <a:t> assets reinforce our view</a:t>
            </a:r>
          </a:p>
        </p:txBody>
      </p:sp>
    </p:spTree>
    <p:extLst>
      <p:ext uri="{BB962C8B-B14F-4D97-AF65-F5344CB8AC3E}">
        <p14:creationId xmlns:p14="http://schemas.microsoft.com/office/powerpoint/2010/main" val="1045072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7238" y="528638"/>
            <a:ext cx="8537575" cy="612775"/>
          </a:xfrm>
        </p:spPr>
        <p:txBody>
          <a:bodyPr/>
          <a:lstStyle/>
          <a:p>
            <a:r>
              <a:rPr lang="en-US" dirty="0">
                <a:solidFill>
                  <a:srgbClr val="000000"/>
                </a:solidFill>
              </a:rPr>
              <a:t>Media Valuation Summary</a:t>
            </a:r>
            <a:endParaRPr lang="en-US" dirty="0"/>
          </a:p>
        </p:txBody>
      </p:sp>
      <p:pic>
        <p:nvPicPr>
          <p:cNvPr id="3" name="Picture 2">
            <a:extLst>
              <a:ext uri="{FF2B5EF4-FFF2-40B4-BE49-F238E27FC236}">
                <a16:creationId xmlns:a16="http://schemas.microsoft.com/office/drawing/2014/main" id="{89FB37A7-C54A-2AC8-036E-40184D32B355}"/>
              </a:ext>
            </a:extLst>
          </p:cNvPr>
          <p:cNvPicPr>
            <a:picLocks noChangeAspect="1"/>
          </p:cNvPicPr>
          <p:nvPr/>
        </p:nvPicPr>
        <p:blipFill>
          <a:blip r:embed="rId3"/>
          <a:stretch>
            <a:fillRect/>
          </a:stretch>
        </p:blipFill>
        <p:spPr>
          <a:xfrm>
            <a:off x="914400" y="1524000"/>
            <a:ext cx="9040163" cy="4972832"/>
          </a:xfrm>
          <a:prstGeom prst="rect">
            <a:avLst/>
          </a:prstGeom>
        </p:spPr>
      </p:pic>
    </p:spTree>
    <p:extLst>
      <p:ext uri="{BB962C8B-B14F-4D97-AF65-F5344CB8AC3E}">
        <p14:creationId xmlns:p14="http://schemas.microsoft.com/office/powerpoint/2010/main" val="651164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JPM_TAG_REFRESH_CUSTOM" val="0100"/>
  <p:tag name="JPM_ACTIVE_TEMPLATE" val="Pitchbook-US.pot"/>
  <p:tag name="JPM_AGENDA_PAGE_TITLE" val="Agenda"/>
  <p:tag name="JPM_APPENDIX_PAGE_TITLE" val=" "/>
  <p:tag name="JPM_BASE_TEMPLATE" val="Pitchbook-US.pot"/>
  <p:tag name="JPM_BRAND" val="J.P.Morgan"/>
  <p:tag name="JPM_CONTINUOUS_NUMBERING" val="True"/>
  <p:tag name="JPM_RESTART_NUMBERS" val="False"/>
  <p:tag name="JPM_PAGE_NUMBERS" val="True"/>
  <p:tag name="JPM_SECTION_NUMBERS" val="False"/>
  <p:tag name="JPM_TRACKERS" val="True"/>
  <p:tag name="JPM_NUMBER_PAGES" val="True"/>
  <p:tag name="JPM_TRACKER_FILENAME_ONLY" val="False"/>
  <p:tag name="JPM_TRACKER_FULL_PATH" val="True"/>
  <p:tag name="JPM_TRACKER_USER_PATH" val="False"/>
  <p:tag name="JPM_TRACKER_USER_PATH_TEXT" val=" "/>
  <p:tag name="JPM_TRACKER_NONE" val="False"/>
  <p:tag name="JPM_LANGUAGE" val="1033"/>
  <p:tag name="MSOFFICE_VERSION" val="10.0"/>
  <p:tag name="MMPROD_NEXTUNIQUEID" val="10012"/>
  <p:tag name="MMPROD_UIDATA" val="&lt;database version=&quot;7.0&quot;&gt;&lt;object type=&quot;1&quot; unique_id=&quot;10001&quot;&gt;&lt;object type=&quot;8&quot; unique_id=&quot;10201&quot;&gt;&lt;/object&gt;&lt;object type=&quot;2&quot; unique_id=&quot;10202&quot;&gt;&lt;object type=&quot;3&quot; unique_id=&quot;10203&quot;&gt;&lt;property id=&quot;20148&quot; value=&quot;5&quot;/&gt;&lt;property id=&quot;20300&quot; value=&quot;Slide 1&quot;/&gt;&lt;property id=&quot;20307&quot; value=&quot;256&quot;/&gt;&lt;/object&gt;&lt;object type=&quot;3&quot; unique_id=&quot;10204&quot;&gt;&lt;property id=&quot;20148&quot; value=&quot;5&quot;/&gt;&lt;property id=&quot;20300&quot; value=&quot;Slide 2&quot;/&gt;&lt;property id=&quot;20307&quot; value=&quot;265&quot;/&gt;&lt;/object&gt;&lt;object type=&quot;3&quot; unique_id=&quot;10205&quot;&gt;&lt;property id=&quot;20148&quot; value=&quot;5&quot;/&gt;&lt;property id=&quot;20300&quot; value=&quot;Slide 3 - &amp;quot;Heading&amp;quot;&quot;/&gt;&lt;property id=&quot;20307&quot; value=&quot;261&quot;/&gt;&lt;/object&gt;&lt;object type=&quot;3&quot; unique_id=&quot;10206&quot;&gt;&lt;property id=&quot;20148&quot; value=&quot;5&quot;/&gt;&lt;property id=&quot;20300&quot; value=&quot;Slide 4 - &amp;quot;Disclosures&amp;quot;&quot;/&gt;&lt;property id=&quot;20307&quot; value=&quot;267&quot;/&gt;&lt;/object&gt;&lt;object type=&quot;3&quot; unique_id=&quot;16417&quot;&gt;&lt;property id=&quot;20148&quot; value=&quot;5&quot;/&gt;&lt;property id=&quot;20300&quot; value=&quot;Slide 5 - &amp;quot;Disclosures&amp;quot;&quot;/&gt;&lt;property id=&quot;20307&quot; value=&quot;268&quot;/&gt;&lt;/object&gt;&lt;object type=&quot;3&quot; unique_id=&quot;16418&quot;&gt;&lt;property id=&quot;20148&quot; value=&quot;5&quot;/&gt;&lt;property id=&quot;20300&quot; value=&quot;Slide 6 - &amp;quot;Disclosures&amp;quot;&quot;/&gt;&lt;property id=&quot;20307&quot; value=&quot;269&quot;/&gt;&lt;/object&gt;&lt;object type=&quot;3&quot; unique_id=&quot;16419&quot;&gt;&lt;property id=&quot;20148&quot; value=&quot;5&quot;/&gt;&lt;property id=&quot;20300&quot; value=&quot;Slide 7 - &amp;quot;Disclosures&amp;quot;&quot;/&gt;&lt;property id=&quot;20307&quot; value=&quot;270&quot;/&gt;&lt;/objec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JPM_TABLE_TYPE" val="Standard"/>
  <p:tag name="JPM_TABLE_LEFT" val="59.76"/>
  <p:tag name="JPM_TABLE_TOP" val="162"/>
  <p:tag name="JPM_TABLE_WIDTH" val="336.24"/>
  <p:tag name="JPM_TABLE_HEIGHT" val="144"/>
</p:tagLst>
</file>

<file path=ppt/tags/tag3.xml><?xml version="1.0" encoding="utf-8"?>
<p:tagLst xmlns:a="http://schemas.openxmlformats.org/drawingml/2006/main" xmlns:r="http://schemas.openxmlformats.org/officeDocument/2006/relationships" xmlns:p="http://schemas.openxmlformats.org/presentationml/2006/main">
  <p:tag name="JPM_BRAND" val="J.P.Morgan"/>
  <p:tag name="JPM_OBJECT_NAME" val="jpmBrandMaster"/>
</p:tagLst>
</file>

<file path=ppt/tags/tag4.xml><?xml version="1.0" encoding="utf-8"?>
<p:tagLst xmlns:a="http://schemas.openxmlformats.org/drawingml/2006/main" xmlns:r="http://schemas.openxmlformats.org/officeDocument/2006/relationships" xmlns:p="http://schemas.openxmlformats.org/presentationml/2006/main">
  <p:tag name="JPM_OBJECT_NAME" val="jpmClientName"/>
</p:tagLst>
</file>

<file path=ppt/tags/tag5.xml><?xml version="1.0" encoding="utf-8"?>
<p:tagLst xmlns:a="http://schemas.openxmlformats.org/drawingml/2006/main" xmlns:r="http://schemas.openxmlformats.org/officeDocument/2006/relationships" xmlns:p="http://schemas.openxmlformats.org/presentationml/2006/main">
  <p:tag name="JPM_OBJECT_NAME" val="jpmSlideMasterVerticalRule"/>
</p:tagLst>
</file>

<file path=ppt/tags/tag6.xml><?xml version="1.0" encoding="utf-8"?>
<p:tagLst xmlns:a="http://schemas.openxmlformats.org/drawingml/2006/main" xmlns:r="http://schemas.openxmlformats.org/officeDocument/2006/relationships" xmlns:p="http://schemas.openxmlformats.org/presentationml/2006/main">
  <p:tag name="JPM_OBJECT_NAME" val="jpmPageNumber"/>
</p:tagLst>
</file>

<file path=ppt/tags/tag7.xml><?xml version="1.0" encoding="utf-8"?>
<p:tagLst xmlns:a="http://schemas.openxmlformats.org/drawingml/2006/main" xmlns:r="http://schemas.openxmlformats.org/officeDocument/2006/relationships" xmlns:p="http://schemas.openxmlformats.org/presentationml/2006/main">
  <p:tag name="JPM_OBJECT_NAME" val="jpmBrandCover"/>
  <p:tag name="JPM_BRAND" val="J.P.Morgan"/>
</p:tagLst>
</file>

<file path=ppt/tags/tag8.xml><?xml version="1.0" encoding="utf-8"?>
<p:tagLst xmlns:a="http://schemas.openxmlformats.org/drawingml/2006/main" xmlns:r="http://schemas.openxmlformats.org/officeDocument/2006/relationships" xmlns:p="http://schemas.openxmlformats.org/presentationml/2006/main">
  <p:tag name="JPM_OBJECT_NAME" val="jpmBrandCover"/>
  <p:tag name="JPM_BRAND" val="J.P.Morgan Asset Management"/>
</p:tagLst>
</file>

<file path=ppt/tags/tag9.xml><?xml version="1.0" encoding="utf-8"?>
<p:tagLst xmlns:a="http://schemas.openxmlformats.org/drawingml/2006/main" xmlns:r="http://schemas.openxmlformats.org/officeDocument/2006/relationships" xmlns:p="http://schemas.openxmlformats.org/presentationml/2006/main">
  <p:tag name="JPM_OBJECT_NAME" val="jpmBrandCover"/>
  <p:tag name="JPM_BRAND" val="Bear Stearns"/>
</p:tagLst>
</file>

<file path=ppt/tags/tag10.xml><?xml version="1.0" encoding="utf-8"?>
<p:tagLst xmlns:a="http://schemas.openxmlformats.org/drawingml/2006/main" xmlns:r="http://schemas.openxmlformats.org/officeDocument/2006/relationships" xmlns:p="http://schemas.openxmlformats.org/presentationml/2006/main">
  <p:tag name="JPM_OBJECT_NAME" val="jpmBrandCover"/>
  <p:tag name="JPM_BRAND" val="Chase"/>
</p:tagLst>
</file>

<file path=ppt/tags/tag11.xml><?xml version="1.0" encoding="utf-8"?>
<p:tagLst xmlns:a="http://schemas.openxmlformats.org/drawingml/2006/main" xmlns:r="http://schemas.openxmlformats.org/officeDocument/2006/relationships" xmlns:p="http://schemas.openxmlformats.org/presentationml/2006/main">
  <p:tag name="JPM_OBJECT_NAME" val="jpmBrandCover"/>
  <p:tag name="JPM_BRAND" val="JPMorgan Chase &amp; Co."/>
</p:tagLst>
</file>

<file path=ppt/tags/tag12.xml><?xml version="1.0" encoding="utf-8"?>
<p:tagLst xmlns:a="http://schemas.openxmlformats.org/drawingml/2006/main" xmlns:r="http://schemas.openxmlformats.org/officeDocument/2006/relationships" xmlns:p="http://schemas.openxmlformats.org/presentationml/2006/main">
  <p:tag name="JPM_OBJECT_NAME" val="jpmBrandCover"/>
  <p:tag name="JPM_BRAND" val="J.P.Morgan China"/>
</p:tagLst>
</file>

<file path=ppt/tags/tag13.xml><?xml version="1.0" encoding="utf-8"?>
<p:tagLst xmlns:a="http://schemas.openxmlformats.org/drawingml/2006/main" xmlns:r="http://schemas.openxmlformats.org/officeDocument/2006/relationships" xmlns:p="http://schemas.openxmlformats.org/presentationml/2006/main">
  <p:tag name="JPM_BRAND" val="J.P.Morgan Cazenove"/>
  <p:tag name="JPM_OBJECT_NAME" val="jpmBrandCover"/>
</p:tagLst>
</file>

<file path=ppt/tags/tag14.xml><?xml version="1.0" encoding="utf-8"?>
<p:tagLst xmlns:a="http://schemas.openxmlformats.org/drawingml/2006/main" xmlns:r="http://schemas.openxmlformats.org/officeDocument/2006/relationships" xmlns:p="http://schemas.openxmlformats.org/presentationml/2006/main">
  <p:tag name="JPM_BRAND" val="J.P.Morgan"/>
  <p:tag name="JPM_OBJECT_NAME" val="jpmBrandMaster"/>
</p:tagLst>
</file>

<file path=ppt/tags/tag15.xml><?xml version="1.0" encoding="utf-8"?>
<p:tagLst xmlns:a="http://schemas.openxmlformats.org/drawingml/2006/main" xmlns:r="http://schemas.openxmlformats.org/officeDocument/2006/relationships" xmlns:p="http://schemas.openxmlformats.org/presentationml/2006/main">
  <p:tag name="JPM_OBJECT_NAME" val="jpmBrandCover"/>
  <p:tag name="JPM_BRAND" val="Cazenove"/>
</p:tagLst>
</file>

<file path=ppt/tags/tag16.xml><?xml version="1.0" encoding="utf-8"?>
<p:tagLst xmlns:a="http://schemas.openxmlformats.org/drawingml/2006/main" xmlns:r="http://schemas.openxmlformats.org/officeDocument/2006/relationships" xmlns:p="http://schemas.openxmlformats.org/presentationml/2006/main">
  <p:tag name="JPM_OBJECT_NAME" val="jpmAgendaPageTitle"/>
</p:tagLst>
</file>

<file path=ppt/tags/tag17.xml><?xml version="1.0" encoding="utf-8"?>
<p:tagLst xmlns:a="http://schemas.openxmlformats.org/drawingml/2006/main" xmlns:r="http://schemas.openxmlformats.org/officeDocument/2006/relationships" xmlns:p="http://schemas.openxmlformats.org/presentationml/2006/main">
  <p:tag name="JPM_OBJECT_NAME" val="jpmAgendaNumberHeading"/>
</p:tagLst>
</file>

<file path=ppt/tags/tag18.xml><?xml version="1.0" encoding="utf-8"?>
<p:tagLst xmlns:a="http://schemas.openxmlformats.org/drawingml/2006/main" xmlns:r="http://schemas.openxmlformats.org/officeDocument/2006/relationships" xmlns:p="http://schemas.openxmlformats.org/presentationml/2006/main">
  <p:tag name="JPM_OBJECT_NAME" val="jpmClientName"/>
</p:tagLst>
</file>

<file path=ppt/tags/tag19.xml><?xml version="1.0" encoding="utf-8"?>
<p:tagLst xmlns:a="http://schemas.openxmlformats.org/drawingml/2006/main" xmlns:r="http://schemas.openxmlformats.org/officeDocument/2006/relationships" xmlns:p="http://schemas.openxmlformats.org/presentationml/2006/main">
  <p:tag name="JPM_OBJECT_NAME" val="jpmTitleMasterVerticalRule"/>
</p:tagLst>
</file>

<file path=ppt/tags/tag20.xml><?xml version="1.0" encoding="utf-8"?>
<p:tagLst xmlns:a="http://schemas.openxmlformats.org/drawingml/2006/main" xmlns:r="http://schemas.openxmlformats.org/officeDocument/2006/relationships" xmlns:p="http://schemas.openxmlformats.org/presentationml/2006/main">
  <p:tag name="JPM_OBJECT_NAME" val="jpmPageNumber"/>
</p:tagLst>
</file>

<file path=ppt/tags/tag21.xml><?xml version="1.0" encoding="utf-8"?>
<p:tagLst xmlns:a="http://schemas.openxmlformats.org/drawingml/2006/main" xmlns:r="http://schemas.openxmlformats.org/officeDocument/2006/relationships" xmlns:p="http://schemas.openxmlformats.org/presentationml/2006/main">
  <p:tag name="JPM_TABLE_TYPE" val="Standard"/>
  <p:tag name="JPM_TABLE_LEFT" val="59.76"/>
  <p:tag name="JPM_TABLE_TOP" val="162"/>
  <p:tag name="JPM_TABLE_WIDTH" val="336.24"/>
  <p:tag name="JPM_TABLE_HEIGHT" val="144"/>
</p:tagLst>
</file>

<file path=ppt/tags/tag22.xml><?xml version="1.0" encoding="utf-8"?>
<p:tagLst xmlns:a="http://schemas.openxmlformats.org/drawingml/2006/main" xmlns:r="http://schemas.openxmlformats.org/officeDocument/2006/relationships" xmlns:p="http://schemas.openxmlformats.org/presentationml/2006/main">
  <p:tag name="JPM_BRAND" val="J.P.Morgan"/>
  <p:tag name="JPM_OBJECT_NAME" val="jpmBrandMaster"/>
</p:tagLst>
</file>

<file path=ppt/tags/tag23.xml><?xml version="1.0" encoding="utf-8"?>
<p:tagLst xmlns:a="http://schemas.openxmlformats.org/drawingml/2006/main" xmlns:r="http://schemas.openxmlformats.org/officeDocument/2006/relationships" xmlns:p="http://schemas.openxmlformats.org/presentationml/2006/main">
  <p:tag name="JPM_OBJECT_NAME" val="jpmClientName"/>
</p:tagLst>
</file>

<file path=ppt/tags/tag24.xml><?xml version="1.0" encoding="utf-8"?>
<p:tagLst xmlns:a="http://schemas.openxmlformats.org/drawingml/2006/main" xmlns:r="http://schemas.openxmlformats.org/officeDocument/2006/relationships" xmlns:p="http://schemas.openxmlformats.org/presentationml/2006/main">
  <p:tag name="JPM_OBJECT_NAME" val="jpmSlideMasterVerticalRule"/>
</p:tagLst>
</file>

<file path=ppt/tags/tag25.xml><?xml version="1.0" encoding="utf-8"?>
<p:tagLst xmlns:a="http://schemas.openxmlformats.org/drawingml/2006/main" xmlns:r="http://schemas.openxmlformats.org/officeDocument/2006/relationships" xmlns:p="http://schemas.openxmlformats.org/presentationml/2006/main">
  <p:tag name="JPM_OBJECT_NAME" val="jpmBrandCover"/>
  <p:tag name="JPM_BRAND" val="J.P.Morgan"/>
</p:tagLst>
</file>

<file path=ppt/tags/tag26.xml><?xml version="1.0" encoding="utf-8"?>
<p:tagLst xmlns:a="http://schemas.openxmlformats.org/drawingml/2006/main" xmlns:r="http://schemas.openxmlformats.org/officeDocument/2006/relationships" xmlns:p="http://schemas.openxmlformats.org/presentationml/2006/main">
  <p:tag name="JPM_OBJECT_NAME" val="jpmBrandCover"/>
  <p:tag name="JPM_BRAND" val="J.P.Morgan Asset Management"/>
</p:tagLst>
</file>

<file path=ppt/tags/tag27.xml><?xml version="1.0" encoding="utf-8"?>
<p:tagLst xmlns:a="http://schemas.openxmlformats.org/drawingml/2006/main" xmlns:r="http://schemas.openxmlformats.org/officeDocument/2006/relationships" xmlns:p="http://schemas.openxmlformats.org/presentationml/2006/main">
  <p:tag name="JPM_OBJECT_NAME" val="jpmBrandCover"/>
  <p:tag name="JPM_BRAND" val="Bear Stearns"/>
</p:tagLst>
</file>

<file path=ppt/tags/tag28.xml><?xml version="1.0" encoding="utf-8"?>
<p:tagLst xmlns:a="http://schemas.openxmlformats.org/drawingml/2006/main" xmlns:r="http://schemas.openxmlformats.org/officeDocument/2006/relationships" xmlns:p="http://schemas.openxmlformats.org/presentationml/2006/main">
  <p:tag name="JPM_OBJECT_NAME" val="jpmBrandCover"/>
  <p:tag name="JPM_BRAND" val="Chase"/>
</p:tagLst>
</file>

<file path=ppt/tags/tag29.xml><?xml version="1.0" encoding="utf-8"?>
<p:tagLst xmlns:a="http://schemas.openxmlformats.org/drawingml/2006/main" xmlns:r="http://schemas.openxmlformats.org/officeDocument/2006/relationships" xmlns:p="http://schemas.openxmlformats.org/presentationml/2006/main">
  <p:tag name="JPM_OBJECT_NAME" val="jpmBrandCover"/>
  <p:tag name="JPM_BRAND" val="JPMorgan Chase &amp; Co."/>
</p:tagLst>
</file>

<file path=ppt/tags/tag30.xml><?xml version="1.0" encoding="utf-8"?>
<p:tagLst xmlns:a="http://schemas.openxmlformats.org/drawingml/2006/main" xmlns:r="http://schemas.openxmlformats.org/officeDocument/2006/relationships" xmlns:p="http://schemas.openxmlformats.org/presentationml/2006/main">
  <p:tag name="JPM_OBJECT_NAME" val="jpmBrandCover"/>
  <p:tag name="JPM_BRAND" val="J.P.Morgan China"/>
</p:tagLst>
</file>

<file path=ppt/tags/tag31.xml><?xml version="1.0" encoding="utf-8"?>
<p:tagLst xmlns:a="http://schemas.openxmlformats.org/drawingml/2006/main" xmlns:r="http://schemas.openxmlformats.org/officeDocument/2006/relationships" xmlns:p="http://schemas.openxmlformats.org/presentationml/2006/main">
  <p:tag name="JPM_BRAND" val="J.P.Morgan Cazenove"/>
  <p:tag name="JPM_OBJECT_NAME" val="jpmBrandCover"/>
</p:tagLst>
</file>

<file path=ppt/tags/tag32.xml><?xml version="1.0" encoding="utf-8"?>
<p:tagLst xmlns:a="http://schemas.openxmlformats.org/drawingml/2006/main" xmlns:r="http://schemas.openxmlformats.org/officeDocument/2006/relationships" xmlns:p="http://schemas.openxmlformats.org/presentationml/2006/main">
  <p:tag name="JPM_BRAND" val="J.P.Morgan"/>
  <p:tag name="JPM_OBJECT_NAME" val="jpmBrandMaster"/>
</p:tagLst>
</file>

<file path=ppt/tags/tag33.xml><?xml version="1.0" encoding="utf-8"?>
<p:tagLst xmlns:a="http://schemas.openxmlformats.org/drawingml/2006/main" xmlns:r="http://schemas.openxmlformats.org/officeDocument/2006/relationships" xmlns:p="http://schemas.openxmlformats.org/presentationml/2006/main">
  <p:tag name="JPM_OBJECT_NAME" val="jpmBrandCover"/>
  <p:tag name="JPM_BRAND" val="Cazenove"/>
</p:tagLst>
</file>

<file path=ppt/tags/tag34.xml><?xml version="1.0" encoding="utf-8"?>
<p:tagLst xmlns:a="http://schemas.openxmlformats.org/drawingml/2006/main" xmlns:r="http://schemas.openxmlformats.org/officeDocument/2006/relationships" xmlns:p="http://schemas.openxmlformats.org/presentationml/2006/main">
  <p:tag name="JPM_OBJECT_NAME" val="jpmAgendaPageTitle"/>
</p:tagLst>
</file>

<file path=ppt/tags/tag35.xml><?xml version="1.0" encoding="utf-8"?>
<p:tagLst xmlns:a="http://schemas.openxmlformats.org/drawingml/2006/main" xmlns:r="http://schemas.openxmlformats.org/officeDocument/2006/relationships" xmlns:p="http://schemas.openxmlformats.org/presentationml/2006/main">
  <p:tag name="JPM_OBJECT_NAME" val="jpmAgendaNumberHeading"/>
</p:tagLst>
</file>

<file path=ppt/tags/tag36.xml><?xml version="1.0" encoding="utf-8"?>
<p:tagLst xmlns:a="http://schemas.openxmlformats.org/drawingml/2006/main" xmlns:r="http://schemas.openxmlformats.org/officeDocument/2006/relationships" xmlns:p="http://schemas.openxmlformats.org/presentationml/2006/main">
  <p:tag name="JPM_OBJECT_NAME" val="jpmClientName"/>
</p:tagLst>
</file>

<file path=ppt/tags/tag37.xml><?xml version="1.0" encoding="utf-8"?>
<p:tagLst xmlns:a="http://schemas.openxmlformats.org/drawingml/2006/main" xmlns:r="http://schemas.openxmlformats.org/officeDocument/2006/relationships" xmlns:p="http://schemas.openxmlformats.org/presentationml/2006/main">
  <p:tag name="JPM_OBJECT_NAME" val="jpmTitleMasterVerticalRule"/>
</p:tagLst>
</file>

<file path=ppt/tags/tag38.xml><?xml version="1.0" encoding="utf-8"?>
<p:tagLst xmlns:a="http://schemas.openxmlformats.org/drawingml/2006/main" xmlns:r="http://schemas.openxmlformats.org/officeDocument/2006/relationships" xmlns:p="http://schemas.openxmlformats.org/presentationml/2006/main">
  <p:tag name="JPM_OBJECT_NAME" val="jpmPageNumber"/>
</p:tagLst>
</file>

<file path=ppt/tags/tag39.xml><?xml version="1.0" encoding="utf-8"?>
<p:tagLst xmlns:a="http://schemas.openxmlformats.org/drawingml/2006/main" xmlns:r="http://schemas.openxmlformats.org/officeDocument/2006/relationships" xmlns:p="http://schemas.openxmlformats.org/presentationml/2006/main">
  <p:tag name="JPM_SLIDE_ROLE" val="jpmCover"/>
</p:tagLst>
</file>

<file path=ppt/tags/tag40.xml><?xml version="1.0" encoding="utf-8"?>
<p:tagLst xmlns:a="http://schemas.openxmlformats.org/drawingml/2006/main" xmlns:r="http://schemas.openxmlformats.org/officeDocument/2006/relationships" xmlns:p="http://schemas.openxmlformats.org/presentationml/2006/main">
  <p:tag name="JPM_OBJECT_NAME" val="jpmSubtitle"/>
</p:tagLst>
</file>

<file path=ppt/tags/tag41.xml><?xml version="1.0" encoding="utf-8"?>
<p:tagLst xmlns:a="http://schemas.openxmlformats.org/drawingml/2006/main" xmlns:r="http://schemas.openxmlformats.org/officeDocument/2006/relationships" xmlns:p="http://schemas.openxmlformats.org/presentationml/2006/main">
  <p:tag name="JPM_BRAND" val="J.P.Morgan"/>
  <p:tag name="JPM_OBJECT_NAME" val="jpmBrandCover"/>
</p:tagLst>
</file>

<file path=ppt/tags/tag42.xml><?xml version="1.0" encoding="utf-8"?>
<p:tagLst xmlns:a="http://schemas.openxmlformats.org/drawingml/2006/main" xmlns:r="http://schemas.openxmlformats.org/officeDocument/2006/relationships" xmlns:p="http://schemas.openxmlformats.org/presentationml/2006/main">
  <p:tag name="JPM_OBJECT_NAME" val="jpmDate"/>
</p:tagLst>
</file>

<file path=ppt/tags/tag43.xml><?xml version="1.0" encoding="utf-8"?>
<p:tagLst xmlns:a="http://schemas.openxmlformats.org/drawingml/2006/main" xmlns:r="http://schemas.openxmlformats.org/officeDocument/2006/relationships" xmlns:p="http://schemas.openxmlformats.org/presentationml/2006/main">
  <p:tag name="JPM_SLIDE_ROLE" val="jpmSection"/>
  <p:tag name="JPMSUBSECTION" val="jpmSubSection"/>
  <p:tag name="JPMSUBSECTIONSTART" val="jpmSubSectionStart"/>
</p:tagLst>
</file>

<file path=ppt/tags/tag44.xml><?xml version="1.0" encoding="utf-8"?>
<p:tagLst xmlns:a="http://schemas.openxmlformats.org/drawingml/2006/main" xmlns:r="http://schemas.openxmlformats.org/officeDocument/2006/relationships" xmlns:p="http://schemas.openxmlformats.org/presentationml/2006/main">
  <p:tag name="JPM_OBJECT_NAME" val="jpmAgendaTitle"/>
</p:tagLst>
</file>

<file path=ppt/tags/tag45.xml><?xml version="1.0" encoding="utf-8"?>
<p:tagLst xmlns:a="http://schemas.openxmlformats.org/drawingml/2006/main" xmlns:r="http://schemas.openxmlformats.org/officeDocument/2006/relationships" xmlns:p="http://schemas.openxmlformats.org/presentationml/2006/main">
  <p:tag name="JPM_OBJECT_NAME" val="jpmAgendaItem"/>
</p:tagLst>
</file>

<file path=ppt/tags/tag46.xml><?xml version="1.0" encoding="utf-8"?>
<p:tagLst xmlns:a="http://schemas.openxmlformats.org/drawingml/2006/main" xmlns:r="http://schemas.openxmlformats.org/officeDocument/2006/relationships" xmlns:p="http://schemas.openxmlformats.org/presentationml/2006/main">
  <p:tag name="JPM_OBJECT_NAME" val="jpmDocTracker"/>
</p:tagLst>
</file>

<file path=ppt/tags/tag47.xml><?xml version="1.0" encoding="utf-8"?>
<p:tagLst xmlns:a="http://schemas.openxmlformats.org/drawingml/2006/main" xmlns:r="http://schemas.openxmlformats.org/officeDocument/2006/relationships" xmlns:p="http://schemas.openxmlformats.org/presentationml/2006/main">
  <p:tag name="JPM_SLIDE_ROLE" val="jpmPage"/>
</p:tagLst>
</file>

<file path=ppt/tags/tag48.xml><?xml version="1.0" encoding="utf-8"?>
<p:tagLst xmlns:a="http://schemas.openxmlformats.org/drawingml/2006/main" xmlns:r="http://schemas.openxmlformats.org/officeDocument/2006/relationships" xmlns:p="http://schemas.openxmlformats.org/presentationml/2006/main">
  <p:tag name="JPM_OBJECT_NAME" val="jpmDocTracker"/>
</p:tagLst>
</file>

<file path=ppt/tags/tag49.xml><?xml version="1.0" encoding="utf-8"?>
<p:tagLst xmlns:a="http://schemas.openxmlformats.org/drawingml/2006/main" xmlns:r="http://schemas.openxmlformats.org/officeDocument/2006/relationships" xmlns:p="http://schemas.openxmlformats.org/presentationml/2006/main">
  <p:tag name="JPM_SLIDE_ROLE" val="jpmPage"/>
</p:tagLst>
</file>

<file path=ppt/tags/tag50.xml><?xml version="1.0" encoding="utf-8"?>
<p:tagLst xmlns:a="http://schemas.openxmlformats.org/drawingml/2006/main" xmlns:r="http://schemas.openxmlformats.org/officeDocument/2006/relationships" xmlns:p="http://schemas.openxmlformats.org/presentationml/2006/main">
  <p:tag name="JPM_OBJECT_NAME" val="jpmDocTracker"/>
</p:tagLst>
</file>

<file path=ppt/theme/theme1.xml><?xml version="1.0" encoding="utf-8"?>
<a:theme xmlns:a="http://schemas.openxmlformats.org/drawingml/2006/main" name="JPM Research New Presentation Shell">
  <a:themeElements>
    <a:clrScheme name="Custom 27">
      <a:dk1>
        <a:sysClr val="windowText" lastClr="000000"/>
      </a:dk1>
      <a:lt1>
        <a:sysClr val="window" lastClr="FFFFFF"/>
      </a:lt1>
      <a:dk2>
        <a:srgbClr val="000000"/>
      </a:dk2>
      <a:lt2>
        <a:srgbClr val="F8F8F8"/>
      </a:lt2>
      <a:accent1>
        <a:srgbClr val="4E8ABE"/>
      </a:accent1>
      <a:accent2>
        <a:srgbClr val="616265"/>
      </a:accent2>
      <a:accent3>
        <a:srgbClr val="333333"/>
      </a:accent3>
      <a:accent4>
        <a:srgbClr val="969696"/>
      </a:accent4>
      <a:accent5>
        <a:srgbClr val="9AB0CB"/>
      </a:accent5>
      <a:accent6>
        <a:srgbClr val="4D4D4D"/>
      </a:accent6>
      <a:hlink>
        <a:srgbClr val="181DF6"/>
      </a:hlink>
      <a:folHlink>
        <a:srgbClr val="919191"/>
      </a:folHlink>
    </a:clrScheme>
    <a:fontScheme name="JPM Research New Presentation Shell">
      <a:majorFont>
        <a:latin typeface="Arial"/>
        <a:ea typeface="LF_Kai"/>
        <a:cs typeface="LF_Kai"/>
      </a:majorFont>
      <a:minorFont>
        <a:latin typeface="Arial"/>
        <a:ea typeface="LF_Kai"/>
        <a:cs typeface="LF_Ka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808080"/>
          </a:solidFill>
          <a:prstDash val="solid"/>
          <a:round/>
          <a:headEnd type="none" w="med" len="med"/>
          <a:tailEnd type="none" w="med" len="med"/>
        </a:ln>
        <a:effectLst/>
      </a:spPr>
      <a:bodyPr vert="horz" wrap="none" lIns="45720" tIns="45720" rIns="45720" bIns="45720"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11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rgbClr val="808080"/>
          </a:solidFill>
          <a:prstDash val="solid"/>
          <a:round/>
          <a:headEnd type="none" w="med" len="med"/>
          <a:tailEnd type="none" w="med" len="med"/>
        </a:ln>
        <a:effectLst/>
      </a:spPr>
      <a:bodyPr vert="horz" wrap="none" lIns="45720" tIns="45720" rIns="45720" bIns="45720"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1100" b="0" i="0" u="none" strike="noStrike" cap="none" normalizeH="0" baseline="0" smtClean="0">
            <a:ln>
              <a:noFill/>
            </a:ln>
            <a:solidFill>
              <a:schemeClr val="tx1"/>
            </a:solidFill>
            <a:effectLst/>
            <a:latin typeface="Arial" charset="0"/>
          </a:defRPr>
        </a:defPPr>
      </a:lstStyle>
    </a:lnDef>
  </a:objectDefaults>
  <a:extraClrSchemeLst>
    <a:extraClrScheme>
      <a:clrScheme name="JPM Research New Presentation Shell 1">
        <a:dk1>
          <a:srgbClr val="000000"/>
        </a:dk1>
        <a:lt1>
          <a:srgbClr val="FFFFFF"/>
        </a:lt1>
        <a:dk2>
          <a:srgbClr val="6D6E71"/>
        </a:dk2>
        <a:lt2>
          <a:srgbClr val="7397BC"/>
        </a:lt2>
        <a:accent1>
          <a:srgbClr val="6490CB"/>
        </a:accent1>
        <a:accent2>
          <a:srgbClr val="5FA364"/>
        </a:accent2>
        <a:accent3>
          <a:srgbClr val="FFFFFF"/>
        </a:accent3>
        <a:accent4>
          <a:srgbClr val="000000"/>
        </a:accent4>
        <a:accent5>
          <a:srgbClr val="B8C6E2"/>
        </a:accent5>
        <a:accent6>
          <a:srgbClr val="55935A"/>
        </a:accent6>
        <a:hlink>
          <a:srgbClr val="D6BC38"/>
        </a:hlink>
        <a:folHlink>
          <a:srgbClr val="9579A1"/>
        </a:folHlink>
      </a:clrScheme>
      <a:clrMap bg1="lt1" tx1="dk1" bg2="lt2" tx2="dk2" accent1="accent1" accent2="accent2" accent3="accent3" accent4="accent4" accent5="accent5" accent6="accent6" hlink="hlink" folHlink="folHlink"/>
    </a:extraClrScheme>
    <a:extraClrScheme>
      <a:clrScheme name="JPM Research New Presentation Shell 2">
        <a:dk1>
          <a:srgbClr val="000000"/>
        </a:dk1>
        <a:lt1>
          <a:srgbClr val="DDDDDD"/>
        </a:lt1>
        <a:dk2>
          <a:srgbClr val="000000"/>
        </a:dk2>
        <a:lt2>
          <a:srgbClr val="7397BC"/>
        </a:lt2>
        <a:accent1>
          <a:srgbClr val="6490CB"/>
        </a:accent1>
        <a:accent2>
          <a:srgbClr val="5FA364"/>
        </a:accent2>
        <a:accent3>
          <a:srgbClr val="EBEBEB"/>
        </a:accent3>
        <a:accent4>
          <a:srgbClr val="000000"/>
        </a:accent4>
        <a:accent5>
          <a:srgbClr val="B8C6E2"/>
        </a:accent5>
        <a:accent6>
          <a:srgbClr val="55935A"/>
        </a:accent6>
        <a:hlink>
          <a:srgbClr val="D6BC38"/>
        </a:hlink>
        <a:folHlink>
          <a:srgbClr val="9579A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isclosures">
  <a:themeElements>
    <a:clrScheme name="Custom 28">
      <a:dk1>
        <a:srgbClr val="000000"/>
      </a:dk1>
      <a:lt1>
        <a:srgbClr val="FFFFFF"/>
      </a:lt1>
      <a:dk2>
        <a:srgbClr val="6D6E71"/>
      </a:dk2>
      <a:lt2>
        <a:srgbClr val="93B1CC"/>
      </a:lt2>
      <a:accent1>
        <a:srgbClr val="6490CB"/>
      </a:accent1>
      <a:accent2>
        <a:srgbClr val="5FA364"/>
      </a:accent2>
      <a:accent3>
        <a:srgbClr val="FFFFFF"/>
      </a:accent3>
      <a:accent4>
        <a:srgbClr val="000000"/>
      </a:accent4>
      <a:accent5>
        <a:srgbClr val="B8C6E2"/>
      </a:accent5>
      <a:accent6>
        <a:srgbClr val="55935A"/>
      </a:accent6>
      <a:hlink>
        <a:srgbClr val="0070C0"/>
      </a:hlink>
      <a:folHlink>
        <a:srgbClr val="9579A1"/>
      </a:folHlink>
    </a:clrScheme>
    <a:fontScheme name="Disclosures">
      <a:majorFont>
        <a:latin typeface="Arial"/>
        <a:ea typeface="LF_Kai"/>
        <a:cs typeface="LF_Kai"/>
      </a:majorFont>
      <a:minorFont>
        <a:latin typeface="Arial"/>
        <a:ea typeface="LF_Kai"/>
        <a:cs typeface="LF_Ka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808080"/>
          </a:solidFill>
          <a:prstDash val="solid"/>
          <a:round/>
          <a:headEnd type="none" w="med" len="med"/>
          <a:tailEnd type="none" w="med" len="med"/>
        </a:ln>
        <a:effectLst/>
      </a:spPr>
      <a:bodyPr vert="horz" wrap="none" lIns="45720" tIns="45720" rIns="45720" bIns="45720"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11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rgbClr val="808080"/>
          </a:solidFill>
          <a:prstDash val="solid"/>
          <a:round/>
          <a:headEnd type="none" w="med" len="med"/>
          <a:tailEnd type="none" w="med" len="med"/>
        </a:ln>
        <a:effectLst/>
      </a:spPr>
      <a:bodyPr vert="horz" wrap="none" lIns="45720" tIns="45720" rIns="45720" bIns="45720"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1100" b="0" i="0" u="none" strike="noStrike" cap="none" normalizeH="0" baseline="0" smtClean="0">
            <a:ln>
              <a:noFill/>
            </a:ln>
            <a:solidFill>
              <a:schemeClr val="tx1"/>
            </a:solidFill>
            <a:effectLst/>
            <a:latin typeface="Arial" charset="0"/>
          </a:defRPr>
        </a:defPPr>
      </a:lstStyle>
    </a:lnDef>
  </a:objectDefaults>
  <a:extraClrSchemeLst>
    <a:extraClrScheme>
      <a:clrScheme name="Disclosures 1">
        <a:dk1>
          <a:srgbClr val="000000"/>
        </a:dk1>
        <a:lt1>
          <a:srgbClr val="FFFFFF"/>
        </a:lt1>
        <a:dk2>
          <a:srgbClr val="6D6E71"/>
        </a:dk2>
        <a:lt2>
          <a:srgbClr val="93B1CC"/>
        </a:lt2>
        <a:accent1>
          <a:srgbClr val="6490CB"/>
        </a:accent1>
        <a:accent2>
          <a:srgbClr val="5FA364"/>
        </a:accent2>
        <a:accent3>
          <a:srgbClr val="FFFFFF"/>
        </a:accent3>
        <a:accent4>
          <a:srgbClr val="000000"/>
        </a:accent4>
        <a:accent5>
          <a:srgbClr val="B8C6E2"/>
        </a:accent5>
        <a:accent6>
          <a:srgbClr val="55935A"/>
        </a:accent6>
        <a:hlink>
          <a:srgbClr val="D6BC38"/>
        </a:hlink>
        <a:folHlink>
          <a:srgbClr val="9579A1"/>
        </a:folHlink>
      </a:clrScheme>
      <a:clrMap bg1="lt1" tx1="dk1" bg2="lt2" tx2="dk2" accent1="accent1" accent2="accent2" accent3="accent3" accent4="accent4" accent5="accent5" accent6="accent6" hlink="hlink" folHlink="folHlink"/>
    </a:extraClrScheme>
    <a:extraClrScheme>
      <a:clrScheme name="Disclosures 2">
        <a:dk1>
          <a:srgbClr val="000000"/>
        </a:dk1>
        <a:lt1>
          <a:srgbClr val="DDDDDD"/>
        </a:lt1>
        <a:dk2>
          <a:srgbClr val="000000"/>
        </a:dk2>
        <a:lt2>
          <a:srgbClr val="5381AC"/>
        </a:lt2>
        <a:accent1>
          <a:srgbClr val="6490CB"/>
        </a:accent1>
        <a:accent2>
          <a:srgbClr val="5FA364"/>
        </a:accent2>
        <a:accent3>
          <a:srgbClr val="EBEBEB"/>
        </a:accent3>
        <a:accent4>
          <a:srgbClr val="000000"/>
        </a:accent4>
        <a:accent5>
          <a:srgbClr val="B8C6E2"/>
        </a:accent5>
        <a:accent6>
          <a:srgbClr val="55935A"/>
        </a:accent6>
        <a:hlink>
          <a:srgbClr val="D6BC38"/>
        </a:hlink>
        <a:folHlink>
          <a:srgbClr val="9579A1"/>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E6EAD0"/>
      </a:dk2>
      <a:lt2>
        <a:srgbClr val="2C5280"/>
      </a:lt2>
      <a:accent1>
        <a:srgbClr val="799656"/>
      </a:accent1>
      <a:accent2>
        <a:srgbClr val="D6BC38"/>
      </a:accent2>
      <a:accent3>
        <a:srgbClr val="FFFFFF"/>
      </a:accent3>
      <a:accent4>
        <a:srgbClr val="000000"/>
      </a:accent4>
      <a:accent5>
        <a:srgbClr val="BEC9B4"/>
      </a:accent5>
      <a:accent6>
        <a:srgbClr val="C2AA32"/>
      </a:accent6>
      <a:hlink>
        <a:srgbClr val="6490CB"/>
      </a:hlink>
      <a:folHlink>
        <a:srgbClr val="9579A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
    <Synchronization>Synchronous</Synchronization>
    <Type>1</Type>
    <SequenceNumber>10000</SequenceNumber>
    <Url/>
    <Assembly>Jpmc.Sps.RecordsManagement, Version=1.0.0.0, Culture=neutral, PublicKeyToken=e8ead3752bfbf1f9</Assembly>
    <Class>Jpmc.Sps.RecordsManagement.EventReceivers.RecordContentTypeEventReceiver</Class>
    <Data/>
    <Filter/>
  </Receiver>
  <Receiver>
    <Name/>
    <Synchronization>Synchronous</Synchronization>
    <Type>10001</Type>
    <SequenceNumber>10000</SequenceNumber>
    <Url/>
    <Assembly>Jpmc.Sps.RecordsManagement, Version=1.0.0.0, Culture=neutral, PublicKeyToken=e8ead3752bfbf1f9</Assembly>
    <Class>Jpmc.Sps.RecordsManagement.EventReceivers.RecordContentTypeEventReceiver</Class>
    <Data/>
    <Filter/>
  </Receiver>
  <Receiver>
    <Name/>
    <Synchronization>Synchronous</Synchronization>
    <Type>10002</Type>
    <SequenceNumber>10000</SequenceNumber>
    <Url/>
    <Assembly>Jpmc.Sps.RecordsManagement, Version=1.0.0.0, Culture=neutral, PublicKeyToken=e8ead3752bfbf1f9</Assembly>
    <Class>Jpmc.Sps.RecordsManagement.EventReceivers.RecordContentTypeEventReceiver</Class>
    <Data/>
    <Filter/>
  </Receiver>
  <Receiver>
    <Name/>
    <Synchronization>Synchronous</Synchronization>
    <Type>3</Type>
    <SequenceNumber>10000</SequenceNumber>
    <Url/>
    <Assembly>Jpmc.Sps.RecordsManagement, Version=1.0.0.0, Culture=neutral, PublicKeyToken=e8ead3752bfbf1f9</Assembly>
    <Class>Jpmc.Sps.RecordsManagement.EventReceivers.RecordContentTypeEventReceiver</Class>
    <Data/>
    <Filter/>
  </Receiver>
  <Receiver>
    <Name/>
    <Synchronization>Synchronous</Synchronization>
    <Type>10009</Type>
    <SequenceNumber>10000</SequenceNumber>
    <Url/>
    <Assembly>Jpmc.Sps.RecordsManagement, Version=1.0.0.0, Culture=neutral, PublicKeyToken=e8ead3752bfbf1f9</Assembly>
    <Class>Jpmc.Sps.RecordsManagement.EventReceivers.RecordContentTypeEventReceiver</Class>
    <Data/>
    <Filter/>
  </Receiver>
  <Receiver>
    <Name/>
    <Synchronization>Synchronous</Synchronization>
    <Type>2</Type>
    <SequenceNumber>10000</SequenceNumber>
    <Url/>
    <Assembly>Jpmc.Sps.RecordsManagement, Version=1.0.0.0, Culture=neutral, PublicKeyToken=e8ead3752bfbf1f9</Assembly>
    <Class>Jpmc.Sps.RecordsManagement.EventReceivers.RecordContentTypeEventReceiver</Class>
    <Data/>
    <Filter/>
  </Receiver>
  <Receiver>
    <Name/>
    <Synchronization>Synchronous</Synchronization>
    <Type>11</Type>
    <SequenceNumber>10000</SequenceNumber>
    <Url/>
    <Assembly>Jpmc.Sps.RecordsManagement, Version=1.0.0.0, Culture=neutral, PublicKeyToken=e8ead3752bfbf1f9</Assembly>
    <Class>Jpmc.Sps.RecordsManagement.EventReceivers.RecordContentTypeEventReceiver</Class>
    <Data/>
    <Filter/>
  </Receiver>
  <Receiver>
    <Name/>
    <Synchronization>Synchronous</Synchronization>
    <Type>10003</Type>
    <SequenceNumber>10000</SequenceNumber>
    <Url/>
    <Assembly>Jpmc.Sps.RecordsManagement, Version=1.0.0.0, Culture=neutral, PublicKeyToken=e8ead3752bfbf1f9</Assembly>
    <Class>Jpmc.Sps.RecordsManagement.EventReceivers.RecordContentTypeEventReceiver</Class>
    <Data/>
    <Filter/>
  </Receiver>
  <Receiver>
    <Name/>
    <Synchronization>Synchronous</Synchronization>
    <Type>9</Type>
    <SequenceNumber>10000</SequenceNumber>
    <Url/>
    <Assembly>Jpmc.Sps.RecordsManagement, Version=1.0.0.0, Culture=neutral, PublicKeyToken=e8ead3752bfbf1f9</Assembly>
    <Class>Jpmc.Sps.RecordsManagement.EventReceivers.RecordContentTypeEventReceiver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Record_x0020_Owner xmlns="352f5fd5-693b-45c4-9993-79f3a922ec34">
      <UserInfo>
        <DisplayName>Contes, Tracey</DisplayName>
        <AccountId>1</AccountId>
        <AccountType/>
      </UserInfo>
    </Record_x0020_Owner>
    <Record_x0020_Class_x0020_Code xmlns="352f5fd5-693b-45c4-9993-79f3a922ec34">US: BIZ010Y</Record_x0020_Class_x0020_Code>
    <Record_x0020_Status xmlns="352f5fd5-693b-45c4-9993-79f3a922ec34">Work In Progress</Record_x0020_Status>
    <Record_x0020_ID xmlns="352f5fd5-693b-45c4-9993-79f3a922ec34">5555569</Record_x0020_ID>
    <Record_x0020_Retention_x0020_Start_x0020_Date xmlns="352f5fd5-693b-45c4-9993-79f3a922ec34">2021-10-18T04:00:00+00:00</Record_x0020_Retention_x0020_Start_x0020_Date>
    <Record_x0020_Class_x0020_Code_x0020_Local xmlns="352f5fd5-693b-45c4-9993-79f3a922ec34">BIZ010Y</Record_x0020_Class_x0020_Code_x0020_Local>
    <Record_x0020_Retention_x0020_End_x0020_Date xmlns="352f5fd5-693b-45c4-9993-79f3a922ec34">2031-10-18T04:00:00+00:00</Record_x0020_Retention_x0020_End_x0020_Date>
    <Record_x0020_Legal_x0020_Hold xmlns="352f5fd5-693b-45c4-9993-79f3a922ec34">false</Record_x0020_Legal_x0020_Hold>
    <Record_x0020_Class_x0020_Code_x0020_Country xmlns="352f5fd5-693b-45c4-9993-79f3a922ec34">United States</Record_x0020_Class_x0020_Code_x0020_Country>
    <Record_x0020_Retention_x0020_Type xmlns="352f5fd5-693b-45c4-9993-79f3a922ec34">Flat</Record_x0020_Retention_x0020_Type>
    <Record_x0020_Finalized_x0020_By xmlns="352f5fd5-693b-45c4-9993-79f3a922ec34">
      <UserInfo>
        <DisplayName/>
        <AccountId xsi:nil="true"/>
        <AccountType/>
      </UserInfo>
    </Record_x0020_Finalized_x0020_By>
    <Record_x0020_Finalized_x0020_On xmlns="352f5fd5-693b-45c4-9993-79f3a922ec3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JPMC Record" ma:contentTypeID="0x010100B04218B855DC944F9A559450E98DF040007418F244D03A1E4ABBDE41D2541C395E" ma:contentTypeVersion="23" ma:contentTypeDescription="Create a new record in this library." ma:contentTypeScope="" ma:versionID="8057f3fde344aa7843231dcccd586e0e">
  <xsd:schema xmlns:xsd="http://www.w3.org/2001/XMLSchema" xmlns:xs="http://www.w3.org/2001/XMLSchema" xmlns:p="http://schemas.microsoft.com/office/2006/metadata/properties" xmlns:ns2="352f5fd5-693b-45c4-9993-79f3a922ec34" targetNamespace="http://schemas.microsoft.com/office/2006/metadata/properties" ma:root="true" ma:fieldsID="b76563d3c7cbf9d87783ac3893f13d12" ns2:_="">
    <xsd:import namespace="352f5fd5-693b-45c4-9993-79f3a922ec34"/>
    <xsd:element name="properties">
      <xsd:complexType>
        <xsd:sequence>
          <xsd:element name="documentManagement">
            <xsd:complexType>
              <xsd:all>
                <xsd:element ref="ns2:Record_x0020_ID" minOccurs="0"/>
                <xsd:element ref="ns2:Record_x0020_Status" minOccurs="0"/>
                <xsd:element ref="ns2:Record_x0020_Class_x0020_Code" minOccurs="0"/>
                <xsd:element ref="ns2:Record_x0020_Class_x0020_Code_x0020_Country" minOccurs="0"/>
                <xsd:element ref="ns2:Record_x0020_Class_x0020_Code_x0020_Local" minOccurs="0"/>
                <xsd:element ref="ns2:Record_x0020_Owner" minOccurs="0"/>
                <xsd:element ref="ns2:Record_x0020_Finalized_x0020_By" minOccurs="0"/>
                <xsd:element ref="ns2:Record_x0020_Finalized_x0020_On" minOccurs="0"/>
                <xsd:element ref="ns2:Record_x0020_Retention_x0020_Type" minOccurs="0"/>
                <xsd:element ref="ns2:Record_x0020_Retention_x0020_Start_x0020_Date" minOccurs="0"/>
                <xsd:element ref="ns2:Record_x0020_Retention_x0020_End_x0020_Date" minOccurs="0"/>
                <xsd:element ref="ns2:Record_x0020_Legal_x0020_Ho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2f5fd5-693b-45c4-9993-79f3a922ec34" elementFormDefault="qualified">
    <xsd:import namespace="http://schemas.microsoft.com/office/2006/documentManagement/types"/>
    <xsd:import namespace="http://schemas.microsoft.com/office/infopath/2007/PartnerControls"/>
    <xsd:element name="Record_x0020_ID" ma:index="8" nillable="true" ma:displayName="Record ID" ma:description="Record ID" ma:internalName="Record_x0020_ID" ma:readOnly="true">
      <xsd:simpleType>
        <xsd:restriction base="dms:Text"/>
      </xsd:simpleType>
    </xsd:element>
    <xsd:element name="Record_x0020_Status" ma:index="9" nillable="true" ma:displayName="Record Status" ma:description="Record Status" ma:internalName="Record_x0020_Status" ma:readOnly="true">
      <xsd:simpleType>
        <xsd:restriction base="dms:Text"/>
      </xsd:simpleType>
    </xsd:element>
    <xsd:element name="Record_x0020_Class_x0020_Code" ma:index="10" nillable="true" ma:displayName="Record Class Code" ma:description="Record Class Code" ma:internalName="Record_x0020_Class_x0020_Code" ma:readOnly="true">
      <xsd:simpleType>
        <xsd:restriction base="dms:Text"/>
      </xsd:simpleType>
    </xsd:element>
    <xsd:element name="Record_x0020_Class_x0020_Code_x0020_Country" ma:index="11" nillable="true" ma:displayName="Record Class Code Country" ma:description="Record Class Code Country" ma:internalName="Record_x0020_Class_x0020_Code_x0020_Country" ma:readOnly="true">
      <xsd:simpleType>
        <xsd:restriction base="dms:Text"/>
      </xsd:simpleType>
    </xsd:element>
    <xsd:element name="Record_x0020_Class_x0020_Code_x0020_Local" ma:index="12" nillable="true" ma:displayName="Record Class Code Local" ma:description="Record Class Code Local" ma:internalName="Record_x0020_Class_x0020_Code_x0020_Local" ma:readOnly="true">
      <xsd:simpleType>
        <xsd:restriction base="dms:Text"/>
      </xsd:simpleType>
    </xsd:element>
    <xsd:element name="Record_x0020_Owner" ma:index="13" nillable="true" ma:displayName="Record Owner" ma:description="Record Owner" ma:list="UserInfo" ma:internalName="Record_x0020_Owner"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cord_x0020_Finalized_x0020_By" ma:index="14" nillable="true" ma:displayName="Record Finalized By" ma:description="Record Finalized By" ma:list="UserInfo" ma:internalName="Record_x0020_Finalized_x0020_By"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cord_x0020_Finalized_x0020_On" ma:index="15" nillable="true" ma:displayName="Record Finalized On" ma:description="Record Finalized On" ma:format="DateOnly" ma:internalName="Record_x0020_Finalized_x0020_On" ma:readOnly="true">
      <xsd:simpleType>
        <xsd:restriction base="dms:DateTime"/>
      </xsd:simpleType>
    </xsd:element>
    <xsd:element name="Record_x0020_Retention_x0020_Type" ma:index="16" nillable="true" ma:displayName="Record Retention Type" ma:description="Record Retention Type" ma:internalName="Record_x0020_Retention_x0020_Type" ma:readOnly="true">
      <xsd:simpleType>
        <xsd:restriction base="dms:Text"/>
      </xsd:simpleType>
    </xsd:element>
    <xsd:element name="Record_x0020_Retention_x0020_Start_x0020_Date" ma:index="17" nillable="true" ma:displayName="Record Retention Start Date" ma:description="Record Retention Start Date" ma:format="DateOnly" ma:internalName="Record_x0020_Retention_x0020_Start_x0020_Date" ma:readOnly="true">
      <xsd:simpleType>
        <xsd:restriction base="dms:DateTime"/>
      </xsd:simpleType>
    </xsd:element>
    <xsd:element name="Record_x0020_Retention_x0020_End_x0020_Date" ma:index="18" nillable="true" ma:displayName="Record Retention End Date" ma:description="Record Retention End Date" ma:format="DateOnly" ma:internalName="Record_x0020_Retention_x0020_End_x0020_Date" ma:readOnly="true">
      <xsd:simpleType>
        <xsd:restriction base="dms:DateTime"/>
      </xsd:simpleType>
    </xsd:element>
    <xsd:element name="Record_x0020_Legal_x0020_Hold" ma:index="19" nillable="true" ma:displayName="Record Legal Hold" ma:description="Record Legal Hold" ma:internalName="Record_x0020_Legal_x0020_Hol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C2DF88-6A81-4117-85B6-5C2A132482CE}">
  <ds:schemaRefs>
    <ds:schemaRef ds:uri="http://schemas.microsoft.com/sharepoint/events"/>
  </ds:schemaRefs>
</ds:datastoreItem>
</file>

<file path=customXml/itemProps2.xml><?xml version="1.0" encoding="utf-8"?>
<ds:datastoreItem xmlns:ds="http://schemas.openxmlformats.org/officeDocument/2006/customXml" ds:itemID="{8C8AF4F6-099F-461D-ABA1-3ABE99CA53DF}">
  <ds:schemaRefs>
    <ds:schemaRef ds:uri="http://schemas.microsoft.com/office/infopath/2007/PartnerControls"/>
    <ds:schemaRef ds:uri="http://schemas.microsoft.com/office/2006/documentManagement/types"/>
    <ds:schemaRef ds:uri="352f5fd5-693b-45c4-9993-79f3a922ec34"/>
    <ds:schemaRef ds:uri="http://schemas.microsoft.com/office/2006/metadata/properties"/>
    <ds:schemaRef ds:uri="http://purl.org/dc/elements/1.1/"/>
    <ds:schemaRef ds:uri="http://schemas.openxmlformats.org/package/2006/metadata/core-properties"/>
    <ds:schemaRef ds:uri="http://purl.org/dc/terms/"/>
    <ds:schemaRef ds:uri="http://www.w3.org/XML/1998/namespace"/>
    <ds:schemaRef ds:uri="http://purl.org/dc/dcmitype/"/>
  </ds:schemaRefs>
</ds:datastoreItem>
</file>

<file path=customXml/itemProps3.xml><?xml version="1.0" encoding="utf-8"?>
<ds:datastoreItem xmlns:ds="http://schemas.openxmlformats.org/officeDocument/2006/customXml" ds:itemID="{93E27BE4-8127-4986-B906-8DA47DDF759C}">
  <ds:schemaRefs>
    <ds:schemaRef ds:uri="http://schemas.microsoft.com/sharepoint/v3/contenttype/forms"/>
  </ds:schemaRefs>
</ds:datastoreItem>
</file>

<file path=customXml/itemProps4.xml><?xml version="1.0" encoding="utf-8"?>
<ds:datastoreItem xmlns:ds="http://schemas.openxmlformats.org/officeDocument/2006/customXml" ds:itemID="{100798D0-B4A0-4337-B31C-73BCC3F16F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52f5fd5-693b-45c4-9993-79f3a922ec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JPM Research New Presentation Shell</Template>
  <TotalTime>0</TotalTime>
  <Words>6037</Words>
  <Application>Microsoft Office PowerPoint</Application>
  <PresentationFormat>Custom</PresentationFormat>
  <Paragraphs>386</Paragraphs>
  <Slides>27</Slides>
  <Notes>25</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35" baseType="lpstr">
      <vt:lpstr>LF_Kai</vt:lpstr>
      <vt:lpstr>Arial</vt:lpstr>
      <vt:lpstr>Arial Narrow</vt:lpstr>
      <vt:lpstr>Trebuchet MS</vt:lpstr>
      <vt:lpstr>Wingdings</vt:lpstr>
      <vt:lpstr>JPM Research New Presentation Shell</vt:lpstr>
      <vt:lpstr>Disclosures</vt:lpstr>
      <vt:lpstr>Document</vt:lpstr>
      <vt:lpstr>PowerPoint Presentation</vt:lpstr>
      <vt:lpstr>J.P. Morgan 2025 Media, Entertainment, and Advertising Outlook </vt:lpstr>
      <vt:lpstr>2024 Year in Review</vt:lpstr>
      <vt:lpstr>Consensus Estimate Revisions Since January 2024</vt:lpstr>
      <vt:lpstr>Looking Ahead to 2025</vt:lpstr>
      <vt:lpstr>2025 HIGHLIGHTED STOCKS </vt:lpstr>
      <vt:lpstr>Media Themes for 2025</vt:lpstr>
      <vt:lpstr>Media Themes: Everything is on the table in 2025…but is it really?</vt:lpstr>
      <vt:lpstr>Media: Disney (DIS) – OW, $128 PT</vt:lpstr>
      <vt:lpstr>Media: WBD – N, $9 PT, FOXA – N, $42 PT</vt:lpstr>
      <vt:lpstr>Media: PARA, LGF/A: Structural Changes Bring Fresh Look?</vt:lpstr>
      <vt:lpstr>Broadcasters: Easier Regulatory Environment Could Provide Relief Amid Challenged Long-term Trends</vt:lpstr>
      <vt:lpstr>Ad Agencies and Advertising Outlook</vt:lpstr>
      <vt:lpstr>Ad Agencies and Advertising Outlook</vt:lpstr>
      <vt:lpstr>Ad Agencies: Omnicom Group (OMC) – OW, $119 PT; (IPG – N)</vt:lpstr>
      <vt:lpstr>Ad Agencies: Omnicom Group (OMC) – IPG Acquisition</vt:lpstr>
      <vt:lpstr>Entertainment: Live Nation (LYV) – Overweight, $150 PT</vt:lpstr>
      <vt:lpstr>Entertainment: Sphere Entertainment (SPHR) – OW, $57 PT</vt:lpstr>
      <vt:lpstr>Sports Rights Update</vt:lpstr>
      <vt:lpstr>Sports: TKO Group Holdings (TKO) – Overweight, $158 PT</vt:lpstr>
      <vt:lpstr>Sports: Liberty Formula One (FWONK) – Overweight, $96 PT</vt:lpstr>
      <vt:lpstr>PowerPoint Presentation</vt:lpstr>
      <vt:lpstr>News &amp; Information: New York Times Co (NYT) – OW, $62 PT</vt:lpstr>
      <vt:lpstr>News and Information: News Corp (NWSA) – Overweight, $40 PT</vt:lpstr>
      <vt:lpstr>PowerPoint Presentation</vt:lpstr>
      <vt:lpstr>Outdoor Advertising</vt:lpstr>
      <vt:lpstr>Media Valuation Summary</vt:lpstr>
    </vt:vector>
  </TitlesOfParts>
  <Company>JPMorgan Chase &amp; 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u008186</dc:creator>
  <cp:lastModifiedBy>Wardlaw, Douglas (CIB Global Research, USA)</cp:lastModifiedBy>
  <cp:revision>507</cp:revision>
  <cp:lastPrinted>2002-05-20T22:18:19Z</cp:lastPrinted>
  <dcterms:created xsi:type="dcterms:W3CDTF">2009-08-28T16:40:26Z</dcterms:created>
  <dcterms:modified xsi:type="dcterms:W3CDTF">2024-12-11T22:34:00Z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Original">
    <vt:lpwstr>3.0.0</vt:lpwstr>
  </property>
  <property fmtid="{D5CDD505-2E9C-101B-9397-08002B2CF9AE}" pid="3" name="VersionCurrent">
    <vt:lpwstr>3.1.0</vt:lpwstr>
  </property>
  <property fmtid="{D5CDD505-2E9C-101B-9397-08002B2CF9AE}" pid="4" name="ProductID">
    <vt:lpwstr>3.1.0</vt:lpwstr>
  </property>
  <property fmtid="{D5CDD505-2E9C-101B-9397-08002B2CF9AE}" pid="5" name="ContentTypeId">
    <vt:lpwstr>0x010100B04218B855DC944F9A559450E98DF040007418F244D03A1E4ABBDE41D2541C395E</vt:lpwstr>
  </property>
</Properties>
</file>