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Ex1.xml" ContentType="application/vnd.ms-office.chartex+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3" r:id="rId2"/>
  </p:sldIdLst>
  <p:sldSz cx="6858000" cy="9906000" type="A4"/>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024" userDrawn="1">
          <p15:clr>
            <a:srgbClr val="A4A3A4"/>
          </p15:clr>
        </p15:guide>
        <p15:guide id="2" pos="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CECE"/>
    <a:srgbClr val="A5A5A5"/>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45" autoAdjust="0"/>
    <p:restoredTop sz="94660"/>
  </p:normalViewPr>
  <p:slideViewPr>
    <p:cSldViewPr snapToGrid="0" showGuides="1">
      <p:cViewPr varScale="1">
        <p:scale>
          <a:sx n="42" d="100"/>
          <a:sy n="42" d="100"/>
        </p:scale>
        <p:origin x="2640" y="270"/>
      </p:cViewPr>
      <p:guideLst>
        <p:guide orient="horz" pos="6024"/>
        <p:guide pos="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Microsoft_Excel_Worksheet.xlsx"/></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Sheet1!$A$2:$A$5</cx:f>
        <cx:lvl ptCount="4">
          <cx:pt idx="0">G&amp;A</cx:pt>
          <cx:pt idx="1">Capital Expense</cx:pt>
          <cx:pt idx="2">Field Operations Expense</cx:pt>
        </cx:lvl>
      </cx:strDim>
      <cx:numDim type="size">
        <cx:f>Sheet1!$B$2:$B$5</cx:f>
        <cx:lvl ptCount="4" formatCode="0%">
          <cx:pt idx="0">0.12</cx:pt>
          <cx:pt idx="1">0.79000000000000004</cx:pt>
          <cx:pt idx="2">0.080000000000000002</cx:pt>
        </cx:lvl>
      </cx:numDim>
    </cx:data>
  </cx:chartData>
  <cx:chart>
    <cx:plotArea>
      <cx:plotAreaRegion>
        <cx:series layoutId="sunburst" uniqueId="{0434D308-81CF-491E-9785-8D0E9396AF45}">
          <cx:tx>
            <cx:txData>
              <cx:f>Sheet1!$B$1</cx:f>
              <cx:v>Use of Funds</cx:v>
            </cx:txData>
          </cx:tx>
          <cx:dataLabels>
            <cx:txPr>
              <a:bodyPr spcFirstLastPara="1" vertOverflow="ellipsis" horzOverflow="overflow" wrap="square" lIns="38100" tIns="19050" rIns="38100" bIns="19050" anchor="ctr" anchorCtr="1">
                <a:spAutoFit/>
              </a:bodyPr>
              <a:lstStyle/>
              <a:p>
                <a:pPr algn="ctr" rtl="0">
                  <a:defRPr sz="700"/>
                </a:pPr>
                <a:endParaRPr lang="en-US" sz="700" b="0" i="0" u="none" strike="noStrike" baseline="0">
                  <a:solidFill>
                    <a:prstClr val="black">
                      <a:lumMod val="75000"/>
                      <a:lumOff val="25000"/>
                    </a:prstClr>
                  </a:solidFill>
                  <a:latin typeface="Calibri" panose="020F0502020204030204"/>
                </a:endParaRPr>
              </a:p>
            </cx:txPr>
            <cx:visibility seriesName="0" categoryName="0" value="1"/>
            <cx:separator>, </cx:separator>
          </cx:dataLabels>
          <cx:dataId val="0"/>
        </cx:series>
      </cx:plotAreaRegion>
    </cx:plotArea>
    <cx:legend pos="r" align="min" overlay="0">
      <cx:spPr>
        <a:ln>
          <a:noFill/>
        </a:ln>
      </cx:spPr>
      <cx:txPr>
        <a:bodyPr spcFirstLastPara="1" vertOverflow="ellipsis" horzOverflow="overflow" wrap="square" lIns="0" tIns="0" rIns="0" bIns="0" anchor="ctr" anchorCtr="1"/>
        <a:lstStyle/>
        <a:p>
          <a:pPr algn="ctr" rtl="0">
            <a:defRPr sz="600"/>
          </a:pPr>
          <a:endParaRPr lang="en-US" sz="600" b="0" i="0" u="none" strike="noStrike" baseline="0">
            <a:solidFill>
              <a:prstClr val="black">
                <a:lumMod val="65000"/>
                <a:lumOff val="35000"/>
              </a:prstClr>
            </a:solidFill>
            <a:latin typeface="Calibri" panose="020F0502020204030204"/>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82">
  <cs:axisTitle>
    <cs:lnRef idx="0"/>
    <cs:fillRef idx="0"/>
    <cs:effectRef idx="0"/>
    <cs:fontRef idx="minor">
      <a:schemeClr val="tx1">
        <a:lumMod val="50000"/>
        <a:lumOff val="50000"/>
      </a:schemeClr>
    </cs:fontRef>
    <cs:defRPr sz="1197"/>
  </cs:axisTitle>
  <cs:categoryAxis>
    <cs:lnRef idx="0"/>
    <cs:fillRef idx="0"/>
    <cs:effectRef idx="0"/>
    <cs:fontRef idx="minor">
      <a:schemeClr val="tx1">
        <a:lumMod val="50000"/>
        <a:lumOff val="50000"/>
      </a:schemeClr>
    </cs:fontRef>
    <cs:spPr>
      <a:ln w="19050" cap="flat" cmpd="sng" algn="ctr">
        <a:solidFill>
          <a:schemeClr val="tx1">
            <a:lumMod val="25000"/>
            <a:lumOff val="75000"/>
          </a:schemeClr>
        </a:solidFill>
        <a:round/>
      </a:ln>
    </cs:spPr>
    <cs:defRPr sz="1197"/>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cs:chartArea>
  <cs:dataLabel>
    <cs:lnRef idx="0"/>
    <cs:fillRef idx="0"/>
    <cs:effectRef idx="0"/>
    <cs:fontRef idx="minor">
      <a:schemeClr val="dk1">
        <a:lumMod val="75000"/>
        <a:lumOff val="25000"/>
      </a:schemeClr>
    </cs:fontRef>
    <cs:defRPr sz="1197"/>
    <cs:bodyPr lIns="38100" tIns="19050" rIns="38100" bIns="19050">
      <a:spAutoFit/>
    </cs:bodyPr>
  </cs:dataLabel>
  <cs:dataLabelCallout>
    <cs:lnRef idx="0"/>
    <cs:fillRef idx="0"/>
    <cs:effectRef idx="0"/>
    <cs:fontRef idx="minor">
      <a:schemeClr val="dk1">
        <a:lumMod val="50000"/>
        <a:lumOff val="50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9525">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solidFill>
        <a:schemeClr val="phClr"/>
      </a:solidFill>
      <a:ln w="9525">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lumOff val="10000"/>
          </a:schemeClr>
        </a:solidFill>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19050" cap="flat" cmpd="sng" algn="ctr">
        <a:solidFill>
          <a:schemeClr val="tx1">
            <a:lumMod val="25000"/>
            <a:lumOff val="75000"/>
          </a:schemeClr>
        </a:solidFill>
        <a:round/>
      </a:ln>
    </cs:spPr>
    <cs:defRPr sz="1197"/>
  </cs:seriesAxis>
  <cs:seriesLine>
    <cs:lnRef idx="0"/>
    <cs:fillRef idx="0"/>
    <cs:effectRef idx="0"/>
    <cs:fontRef idx="minor">
      <a:schemeClr val="dk1"/>
    </cs:fontRef>
    <cs:spPr>
      <a:ln w="9525" cap="flat">
        <a:solidFill>
          <a:srgbClr val="D9D9D9"/>
        </a:solidFill>
        <a:round/>
      </a:ln>
    </cs:spPr>
  </cs:seriesLine>
  <cs:title>
    <cs:lnRef idx="0"/>
    <cs:fillRef idx="0"/>
    <cs:effectRef idx="0"/>
    <cs:fontRef idx="minor">
      <a:schemeClr val="tx1">
        <a:lumMod val="50000"/>
        <a:lumOff val="50000"/>
      </a:schemeClr>
    </cs:fontRef>
    <cs:defRPr sz="2200" b="1" cap="all" spc="15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50000"/>
        <a:lumOff val="50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50000"/>
        <a:lumOff val="50000"/>
      </a:schemeClr>
    </cs:fontRef>
    <cs:defRPr sz="1197"/>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592192-4F45-4987-84B3-FA26B66D6602}"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040E72-78D3-47F1-A895-48E03D408849}" type="slidenum">
              <a:rPr lang="en-US" smtClean="0"/>
              <a:t>‹#›</a:t>
            </a:fld>
            <a:endParaRPr lang="en-US"/>
          </a:p>
        </p:txBody>
      </p:sp>
    </p:spTree>
    <p:extLst>
      <p:ext uri="{BB962C8B-B14F-4D97-AF65-F5344CB8AC3E}">
        <p14:creationId xmlns:p14="http://schemas.microsoft.com/office/powerpoint/2010/main" val="3102909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592192-4F45-4987-84B3-FA26B66D6602}"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040E72-78D3-47F1-A895-48E03D408849}" type="slidenum">
              <a:rPr lang="en-US" smtClean="0"/>
              <a:t>‹#›</a:t>
            </a:fld>
            <a:endParaRPr lang="en-US"/>
          </a:p>
        </p:txBody>
      </p:sp>
    </p:spTree>
    <p:extLst>
      <p:ext uri="{BB962C8B-B14F-4D97-AF65-F5344CB8AC3E}">
        <p14:creationId xmlns:p14="http://schemas.microsoft.com/office/powerpoint/2010/main" val="3547123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592192-4F45-4987-84B3-FA26B66D6602}"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040E72-78D3-47F1-A895-48E03D408849}" type="slidenum">
              <a:rPr lang="en-US" smtClean="0"/>
              <a:t>‹#›</a:t>
            </a:fld>
            <a:endParaRPr lang="en-US"/>
          </a:p>
        </p:txBody>
      </p:sp>
    </p:spTree>
    <p:extLst>
      <p:ext uri="{BB962C8B-B14F-4D97-AF65-F5344CB8AC3E}">
        <p14:creationId xmlns:p14="http://schemas.microsoft.com/office/powerpoint/2010/main" val="2304440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592192-4F45-4987-84B3-FA26B66D6602}"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040E72-78D3-47F1-A895-48E03D408849}" type="slidenum">
              <a:rPr lang="en-US" smtClean="0"/>
              <a:t>‹#›</a:t>
            </a:fld>
            <a:endParaRPr lang="en-US"/>
          </a:p>
        </p:txBody>
      </p:sp>
    </p:spTree>
    <p:extLst>
      <p:ext uri="{BB962C8B-B14F-4D97-AF65-F5344CB8AC3E}">
        <p14:creationId xmlns:p14="http://schemas.microsoft.com/office/powerpoint/2010/main" val="2742850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592192-4F45-4987-84B3-FA26B66D6602}"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040E72-78D3-47F1-A895-48E03D408849}" type="slidenum">
              <a:rPr lang="en-US" smtClean="0"/>
              <a:t>‹#›</a:t>
            </a:fld>
            <a:endParaRPr lang="en-US"/>
          </a:p>
        </p:txBody>
      </p:sp>
    </p:spTree>
    <p:extLst>
      <p:ext uri="{BB962C8B-B14F-4D97-AF65-F5344CB8AC3E}">
        <p14:creationId xmlns:p14="http://schemas.microsoft.com/office/powerpoint/2010/main" val="1382487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592192-4F45-4987-84B3-FA26B66D6602}"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040E72-78D3-47F1-A895-48E03D408849}" type="slidenum">
              <a:rPr lang="en-US" smtClean="0"/>
              <a:t>‹#›</a:t>
            </a:fld>
            <a:endParaRPr lang="en-US"/>
          </a:p>
        </p:txBody>
      </p:sp>
    </p:spTree>
    <p:extLst>
      <p:ext uri="{BB962C8B-B14F-4D97-AF65-F5344CB8AC3E}">
        <p14:creationId xmlns:p14="http://schemas.microsoft.com/office/powerpoint/2010/main" val="300206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592192-4F45-4987-84B3-FA26B66D6602}"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040E72-78D3-47F1-A895-48E03D408849}" type="slidenum">
              <a:rPr lang="en-US" smtClean="0"/>
              <a:t>‹#›</a:t>
            </a:fld>
            <a:endParaRPr lang="en-US"/>
          </a:p>
        </p:txBody>
      </p:sp>
    </p:spTree>
    <p:extLst>
      <p:ext uri="{BB962C8B-B14F-4D97-AF65-F5344CB8AC3E}">
        <p14:creationId xmlns:p14="http://schemas.microsoft.com/office/powerpoint/2010/main" val="3792320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1592192-4F45-4987-84B3-FA26B66D6602}"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040E72-78D3-47F1-A895-48E03D408849}" type="slidenum">
              <a:rPr lang="en-US" smtClean="0"/>
              <a:t>‹#›</a:t>
            </a:fld>
            <a:endParaRPr lang="en-US"/>
          </a:p>
        </p:txBody>
      </p:sp>
    </p:spTree>
    <p:extLst>
      <p:ext uri="{BB962C8B-B14F-4D97-AF65-F5344CB8AC3E}">
        <p14:creationId xmlns:p14="http://schemas.microsoft.com/office/powerpoint/2010/main" val="3700733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1592192-4F45-4987-84B3-FA26B66D6602}"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040E72-78D3-47F1-A895-48E03D408849}" type="slidenum">
              <a:rPr lang="en-US" smtClean="0"/>
              <a:t>‹#›</a:t>
            </a:fld>
            <a:endParaRPr lang="en-US"/>
          </a:p>
        </p:txBody>
      </p:sp>
    </p:spTree>
    <p:extLst>
      <p:ext uri="{BB962C8B-B14F-4D97-AF65-F5344CB8AC3E}">
        <p14:creationId xmlns:p14="http://schemas.microsoft.com/office/powerpoint/2010/main" val="1055083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592192-4F45-4987-84B3-FA26B66D6602}"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040E72-78D3-47F1-A895-48E03D408849}" type="slidenum">
              <a:rPr lang="en-US" smtClean="0"/>
              <a:t>‹#›</a:t>
            </a:fld>
            <a:endParaRPr lang="en-US"/>
          </a:p>
        </p:txBody>
      </p:sp>
    </p:spTree>
    <p:extLst>
      <p:ext uri="{BB962C8B-B14F-4D97-AF65-F5344CB8AC3E}">
        <p14:creationId xmlns:p14="http://schemas.microsoft.com/office/powerpoint/2010/main" val="4030069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592192-4F45-4987-84B3-FA26B66D6602}"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040E72-78D3-47F1-A895-48E03D408849}" type="slidenum">
              <a:rPr lang="en-US" smtClean="0"/>
              <a:t>‹#›</a:t>
            </a:fld>
            <a:endParaRPr lang="en-US"/>
          </a:p>
        </p:txBody>
      </p:sp>
    </p:spTree>
    <p:extLst>
      <p:ext uri="{BB962C8B-B14F-4D97-AF65-F5344CB8AC3E}">
        <p14:creationId xmlns:p14="http://schemas.microsoft.com/office/powerpoint/2010/main" val="2692900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41592192-4F45-4987-84B3-FA26B66D6602}" type="datetimeFigureOut">
              <a:rPr lang="en-US" smtClean="0"/>
              <a:t>1/22/2025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AE040E72-78D3-47F1-A895-48E03D408849}" type="slidenum">
              <a:rPr lang="en-US" smtClean="0"/>
              <a:t>‹#›</a:t>
            </a:fld>
            <a:endParaRPr lang="en-US"/>
          </a:p>
        </p:txBody>
      </p:sp>
    </p:spTree>
    <p:extLst>
      <p:ext uri="{BB962C8B-B14F-4D97-AF65-F5344CB8AC3E}">
        <p14:creationId xmlns:p14="http://schemas.microsoft.com/office/powerpoint/2010/main" val="41974937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png"/><Relationship Id="rId3" Type="http://schemas.microsoft.com/office/2014/relationships/chartEx" Target="../charts/chartEx1.xml"/><Relationship Id="rId7" Type="http://schemas.openxmlformats.org/officeDocument/2006/relationships/image" Target="../media/image5.svg"/><Relationship Id="rId12" Type="http://schemas.openxmlformats.org/officeDocument/2006/relationships/image" Target="../media/image9.png"/><Relationship Id="rId2" Type="http://schemas.openxmlformats.org/officeDocument/2006/relationships/image" Target="../media/image1.png"/><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hyperlink" Target="https://en.wikipedia.org/wiki/EOG_Resources" TargetMode="External"/><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F967969-574A-3B90-138F-8C3B4CC640C1}"/>
              </a:ext>
            </a:extLst>
          </p:cNvPr>
          <p:cNvPicPr>
            <a:picLocks noChangeAspect="1"/>
          </p:cNvPicPr>
          <p:nvPr/>
        </p:nvPicPr>
        <p:blipFill>
          <a:blip r:embed="rId2"/>
          <a:stretch>
            <a:fillRect/>
          </a:stretch>
        </p:blipFill>
        <p:spPr>
          <a:xfrm>
            <a:off x="6221421" y="17803"/>
            <a:ext cx="618798" cy="448629"/>
          </a:xfrm>
          <a:prstGeom prst="rect">
            <a:avLst/>
          </a:prstGeom>
        </p:spPr>
      </p:pic>
      <p:sp>
        <p:nvSpPr>
          <p:cNvPr id="106" name="Rectangle 105">
            <a:extLst>
              <a:ext uri="{FF2B5EF4-FFF2-40B4-BE49-F238E27FC236}">
                <a16:creationId xmlns:a16="http://schemas.microsoft.com/office/drawing/2014/main" id="{AD1BEEF0-478D-F7C5-72CA-495B6554AFC8}"/>
              </a:ext>
            </a:extLst>
          </p:cNvPr>
          <p:cNvSpPr/>
          <p:nvPr/>
        </p:nvSpPr>
        <p:spPr>
          <a:xfrm>
            <a:off x="2346137" y="1342475"/>
            <a:ext cx="4403135" cy="4195137"/>
          </a:xfrm>
          <a:prstGeom prst="rect">
            <a:avLst/>
          </a:prstGeom>
          <a:solidFill>
            <a:schemeClr val="lt2">
              <a:tint val="95000"/>
              <a:satMod val="170000"/>
            </a:schemeClr>
          </a:solidFill>
          <a:ln>
            <a:noFill/>
          </a:ln>
        </p:spPr>
        <p:style>
          <a:lnRef idx="0">
            <a:scrgbClr r="0" g="0" b="0"/>
          </a:lnRef>
          <a:fillRef idx="1002">
            <a:schemeClr val="lt2"/>
          </a:fillRef>
          <a:effectRef idx="0">
            <a:scrgbClr r="0" g="0" b="0"/>
          </a:effectRef>
          <a:fontRef idx="minor">
            <a:schemeClr val="accent1"/>
          </a:fontRef>
        </p:style>
        <p:txBody>
          <a:bodyPr rtlCol="0" anchor="ctr"/>
          <a:lstStyle/>
          <a:p>
            <a:pPr algn="ctr"/>
            <a:endParaRPr lang="en-IN" dirty="0"/>
          </a:p>
        </p:txBody>
      </p:sp>
      <p:sp>
        <p:nvSpPr>
          <p:cNvPr id="4" name="Line"/>
          <p:cNvSpPr/>
          <p:nvPr/>
        </p:nvSpPr>
        <p:spPr>
          <a:xfrm>
            <a:off x="0" y="466432"/>
            <a:ext cx="6860402" cy="0"/>
          </a:xfrm>
          <a:prstGeom prst="line">
            <a:avLst/>
          </a:prstGeom>
          <a:ln w="12700">
            <a:solidFill>
              <a:srgbClr val="D7AD2A"/>
            </a:solidFill>
            <a:miter lim="400000"/>
          </a:ln>
        </p:spPr>
        <p:txBody>
          <a:bodyPr lIns="71437" tIns="71437" rIns="71437" bIns="71437" anchor="ctr"/>
          <a:lstStyle/>
          <a:p>
            <a:pPr>
              <a:defRPr sz="3000">
                <a:solidFill>
                  <a:srgbClr val="FFFFFF"/>
                </a:solidFill>
                <a:latin typeface="+mn-lt"/>
                <a:ea typeface="+mn-ea"/>
                <a:cs typeface="+mn-cs"/>
                <a:sym typeface="Helvetica Neue Medium"/>
              </a:defRPr>
            </a:pPr>
            <a:endParaRPr/>
          </a:p>
        </p:txBody>
      </p:sp>
      <p:sp>
        <p:nvSpPr>
          <p:cNvPr id="17" name="Line"/>
          <p:cNvSpPr/>
          <p:nvPr/>
        </p:nvSpPr>
        <p:spPr>
          <a:xfrm>
            <a:off x="-7620" y="8996090"/>
            <a:ext cx="6865620" cy="26503"/>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71437" tIns="71437" rIns="71437" bIns="71437" anchor="ctr"/>
          <a:lstStyle/>
          <a:p>
            <a:pPr>
              <a:defRPr sz="3000">
                <a:solidFill>
                  <a:srgbClr val="FFFFFF"/>
                </a:solidFill>
                <a:latin typeface="+mn-lt"/>
                <a:ea typeface="+mn-ea"/>
                <a:cs typeface="+mn-cs"/>
                <a:sym typeface="Helvetica Neue Medium"/>
              </a:defRPr>
            </a:pPr>
            <a:endParaRPr/>
          </a:p>
        </p:txBody>
      </p:sp>
      <p:sp>
        <p:nvSpPr>
          <p:cNvPr id="59" name="Rectangle 58"/>
          <p:cNvSpPr/>
          <p:nvPr/>
        </p:nvSpPr>
        <p:spPr>
          <a:xfrm>
            <a:off x="2346137" y="1349955"/>
            <a:ext cx="4403135" cy="327995"/>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rtlCol="0" anchor="t"/>
          <a:lstStyle/>
          <a:p>
            <a:pPr>
              <a:spcBef>
                <a:spcPts val="300"/>
              </a:spcBef>
              <a:spcAft>
                <a:spcPts val="300"/>
              </a:spcAft>
            </a:pPr>
            <a:r>
              <a:rPr lang="en-US" sz="1200" b="1" dirty="0">
                <a:solidFill>
                  <a:schemeClr val="tx1"/>
                </a:solidFill>
              </a:rPr>
              <a:t>Investment Opportunity: $30 Million Debt Funding Proposal</a:t>
            </a:r>
            <a:endParaRPr lang="en-IN" sz="1050" dirty="0"/>
          </a:p>
          <a:p>
            <a:pPr>
              <a:spcBef>
                <a:spcPts val="300"/>
              </a:spcBef>
              <a:spcAft>
                <a:spcPts val="300"/>
              </a:spcAft>
            </a:pPr>
            <a:endParaRPr lang="en-US" sz="1050" dirty="0">
              <a:solidFill>
                <a:schemeClr val="tx1"/>
              </a:solidFill>
            </a:endParaRPr>
          </a:p>
        </p:txBody>
      </p:sp>
      <p:sp>
        <p:nvSpPr>
          <p:cNvPr id="68" name="Contract…">
            <a:extLst>
              <a:ext uri="{FF2B5EF4-FFF2-40B4-BE49-F238E27FC236}">
                <a16:creationId xmlns:a16="http://schemas.microsoft.com/office/drawing/2014/main" id="{FFD113F3-9747-4A8B-BDC6-F6B947B2273D}"/>
              </a:ext>
            </a:extLst>
          </p:cNvPr>
          <p:cNvSpPr txBox="1"/>
          <p:nvPr/>
        </p:nvSpPr>
        <p:spPr>
          <a:xfrm>
            <a:off x="211407" y="4000835"/>
            <a:ext cx="365760" cy="138499"/>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defRPr sz="3000"/>
            </a:pPr>
            <a:endParaRPr sz="900" b="1" dirty="0"/>
          </a:p>
        </p:txBody>
      </p:sp>
      <p:sp>
        <p:nvSpPr>
          <p:cNvPr id="69" name="Contract…">
            <a:extLst>
              <a:ext uri="{FF2B5EF4-FFF2-40B4-BE49-F238E27FC236}">
                <a16:creationId xmlns:a16="http://schemas.microsoft.com/office/drawing/2014/main" id="{FFD113F3-9747-4A8B-BDC6-F6B947B2273D}"/>
              </a:ext>
            </a:extLst>
          </p:cNvPr>
          <p:cNvSpPr txBox="1"/>
          <p:nvPr/>
        </p:nvSpPr>
        <p:spPr>
          <a:xfrm>
            <a:off x="211407" y="4267813"/>
            <a:ext cx="365760" cy="138499"/>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defRPr sz="3000"/>
            </a:pPr>
            <a:endParaRPr sz="900" b="1" dirty="0"/>
          </a:p>
        </p:txBody>
      </p:sp>
      <p:sp>
        <p:nvSpPr>
          <p:cNvPr id="74" name="Contract…">
            <a:extLst>
              <a:ext uri="{FF2B5EF4-FFF2-40B4-BE49-F238E27FC236}">
                <a16:creationId xmlns:a16="http://schemas.microsoft.com/office/drawing/2014/main" id="{FFD113F3-9747-4A8B-BDC6-F6B947B2273D}"/>
              </a:ext>
            </a:extLst>
          </p:cNvPr>
          <p:cNvSpPr txBox="1"/>
          <p:nvPr/>
        </p:nvSpPr>
        <p:spPr>
          <a:xfrm>
            <a:off x="211407" y="4534791"/>
            <a:ext cx="365760" cy="138499"/>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defRPr sz="3000"/>
            </a:pPr>
            <a:endParaRPr sz="900" b="1" dirty="0"/>
          </a:p>
        </p:txBody>
      </p:sp>
      <p:sp>
        <p:nvSpPr>
          <p:cNvPr id="79" name="Contract…">
            <a:extLst>
              <a:ext uri="{FF2B5EF4-FFF2-40B4-BE49-F238E27FC236}">
                <a16:creationId xmlns:a16="http://schemas.microsoft.com/office/drawing/2014/main" id="{FFD113F3-9747-4A8B-BDC6-F6B947B2273D}"/>
              </a:ext>
            </a:extLst>
          </p:cNvPr>
          <p:cNvSpPr txBox="1"/>
          <p:nvPr/>
        </p:nvSpPr>
        <p:spPr>
          <a:xfrm>
            <a:off x="127587" y="5068747"/>
            <a:ext cx="365760" cy="138499"/>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defRPr sz="3000"/>
            </a:pPr>
            <a:endParaRPr sz="900" b="1" dirty="0"/>
          </a:p>
        </p:txBody>
      </p:sp>
      <p:sp>
        <p:nvSpPr>
          <p:cNvPr id="81" name="Contract…">
            <a:extLst>
              <a:ext uri="{FF2B5EF4-FFF2-40B4-BE49-F238E27FC236}">
                <a16:creationId xmlns:a16="http://schemas.microsoft.com/office/drawing/2014/main" id="{FFD113F3-9747-4A8B-BDC6-F6B947B2273D}"/>
              </a:ext>
            </a:extLst>
          </p:cNvPr>
          <p:cNvSpPr txBox="1"/>
          <p:nvPr/>
        </p:nvSpPr>
        <p:spPr>
          <a:xfrm>
            <a:off x="127587" y="5335725"/>
            <a:ext cx="365760" cy="138499"/>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defRPr sz="3000"/>
            </a:pPr>
            <a:endParaRPr sz="900" b="1" dirty="0"/>
          </a:p>
        </p:txBody>
      </p:sp>
      <p:sp>
        <p:nvSpPr>
          <p:cNvPr id="92" name="Contract…">
            <a:extLst>
              <a:ext uri="{FF2B5EF4-FFF2-40B4-BE49-F238E27FC236}">
                <a16:creationId xmlns:a16="http://schemas.microsoft.com/office/drawing/2014/main" id="{FFD113F3-9747-4A8B-BDC6-F6B947B2273D}"/>
              </a:ext>
            </a:extLst>
          </p:cNvPr>
          <p:cNvSpPr txBox="1"/>
          <p:nvPr/>
        </p:nvSpPr>
        <p:spPr>
          <a:xfrm>
            <a:off x="657567" y="4370261"/>
            <a:ext cx="1034566" cy="138499"/>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defRPr sz="3000"/>
            </a:pPr>
            <a:endParaRPr sz="900" dirty="0"/>
          </a:p>
        </p:txBody>
      </p:sp>
      <p:sp>
        <p:nvSpPr>
          <p:cNvPr id="111" name="Contract…">
            <a:extLst>
              <a:ext uri="{FF2B5EF4-FFF2-40B4-BE49-F238E27FC236}">
                <a16:creationId xmlns:a16="http://schemas.microsoft.com/office/drawing/2014/main" id="{FFD113F3-9747-4A8B-BDC6-F6B947B2273D}"/>
              </a:ext>
            </a:extLst>
          </p:cNvPr>
          <p:cNvSpPr txBox="1"/>
          <p:nvPr/>
        </p:nvSpPr>
        <p:spPr>
          <a:xfrm>
            <a:off x="566126" y="4974324"/>
            <a:ext cx="1162663" cy="138499"/>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defRPr sz="3000"/>
            </a:pPr>
            <a:endParaRPr lang="en-US" sz="900" b="1" dirty="0"/>
          </a:p>
        </p:txBody>
      </p:sp>
      <p:sp>
        <p:nvSpPr>
          <p:cNvPr id="112" name="Contract…">
            <a:extLst>
              <a:ext uri="{FF2B5EF4-FFF2-40B4-BE49-F238E27FC236}">
                <a16:creationId xmlns:a16="http://schemas.microsoft.com/office/drawing/2014/main" id="{FFD113F3-9747-4A8B-BDC6-F6B947B2273D}"/>
              </a:ext>
            </a:extLst>
          </p:cNvPr>
          <p:cNvSpPr txBox="1"/>
          <p:nvPr/>
        </p:nvSpPr>
        <p:spPr>
          <a:xfrm>
            <a:off x="571875" y="5214878"/>
            <a:ext cx="957909" cy="138499"/>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defRPr sz="3000"/>
            </a:pPr>
            <a:endParaRPr lang="en-US" sz="900" dirty="0"/>
          </a:p>
        </p:txBody>
      </p:sp>
      <p:sp>
        <p:nvSpPr>
          <p:cNvPr id="116" name="Contract…">
            <a:extLst>
              <a:ext uri="{FF2B5EF4-FFF2-40B4-BE49-F238E27FC236}">
                <a16:creationId xmlns:a16="http://schemas.microsoft.com/office/drawing/2014/main" id="{FFD113F3-9747-4A8B-BDC6-F6B947B2273D}"/>
              </a:ext>
            </a:extLst>
          </p:cNvPr>
          <p:cNvSpPr txBox="1"/>
          <p:nvPr/>
        </p:nvSpPr>
        <p:spPr>
          <a:xfrm>
            <a:off x="2465396" y="3843881"/>
            <a:ext cx="914400" cy="15388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ctr">
              <a:defRPr sz="3000"/>
            </a:pPr>
            <a:endParaRPr sz="1000" b="1" dirty="0"/>
          </a:p>
        </p:txBody>
      </p:sp>
      <p:sp>
        <p:nvSpPr>
          <p:cNvPr id="129" name="Rectangle 128"/>
          <p:cNvSpPr/>
          <p:nvPr/>
        </p:nvSpPr>
        <p:spPr>
          <a:xfrm>
            <a:off x="90697" y="5637300"/>
            <a:ext cx="3252854" cy="2908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pPr>
              <a:spcBef>
                <a:spcPts val="300"/>
              </a:spcBef>
              <a:spcAft>
                <a:spcPts val="300"/>
              </a:spcAft>
            </a:pPr>
            <a:r>
              <a:rPr lang="en-US" sz="1400" b="1" dirty="0">
                <a:solidFill>
                  <a:schemeClr val="tx1"/>
                </a:solidFill>
              </a:rPr>
              <a:t>Key Financials: </a:t>
            </a:r>
            <a:r>
              <a:rPr lang="en-IN" sz="1400" b="1" i="0" u="none" strike="noStrike" baseline="0" dirty="0">
                <a:solidFill>
                  <a:schemeClr val="tx1"/>
                </a:solidFill>
              </a:rPr>
              <a:t>Utah &amp; Kansas Combined</a:t>
            </a:r>
            <a:r>
              <a:rPr lang="en-IN" sz="1400" b="1" i="0" u="none" strike="noStrike" baseline="0" dirty="0"/>
              <a:t>&amp; Kansas Combined</a:t>
            </a:r>
          </a:p>
          <a:p>
            <a:pPr>
              <a:spcBef>
                <a:spcPts val="300"/>
              </a:spcBef>
              <a:spcAft>
                <a:spcPts val="300"/>
              </a:spcAft>
            </a:pPr>
            <a:endParaRPr lang="en-US" sz="1400" dirty="0">
              <a:solidFill>
                <a:schemeClr val="tx1"/>
              </a:solidFill>
            </a:endParaRPr>
          </a:p>
        </p:txBody>
      </p:sp>
      <p:sp>
        <p:nvSpPr>
          <p:cNvPr id="132" name="Line"/>
          <p:cNvSpPr/>
          <p:nvPr/>
        </p:nvSpPr>
        <p:spPr>
          <a:xfrm>
            <a:off x="23455" y="7892569"/>
            <a:ext cx="6858000"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71437" tIns="71437" rIns="71437" bIns="71437" anchor="ctr"/>
          <a:lstStyle/>
          <a:p>
            <a:endParaRPr sz="3000">
              <a:solidFill>
                <a:srgbClr val="FFFFFF"/>
              </a:solidFill>
            </a:endParaRPr>
          </a:p>
        </p:txBody>
      </p:sp>
      <p:sp>
        <p:nvSpPr>
          <p:cNvPr id="151" name="Contract…">
            <a:extLst>
              <a:ext uri="{FF2B5EF4-FFF2-40B4-BE49-F238E27FC236}">
                <a16:creationId xmlns:a16="http://schemas.microsoft.com/office/drawing/2014/main" id="{FFD113F3-9747-4A8B-BDC6-F6B947B2273D}"/>
              </a:ext>
            </a:extLst>
          </p:cNvPr>
          <p:cNvSpPr txBox="1"/>
          <p:nvPr/>
        </p:nvSpPr>
        <p:spPr>
          <a:xfrm>
            <a:off x="450754" y="8179009"/>
            <a:ext cx="1188720" cy="138499"/>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ctr">
              <a:defRPr sz="3000"/>
            </a:pPr>
            <a:endParaRPr sz="900" dirty="0"/>
          </a:p>
        </p:txBody>
      </p:sp>
      <p:sp>
        <p:nvSpPr>
          <p:cNvPr id="95" name="Google Shape;633;p35">
            <a:extLst>
              <a:ext uri="{FF2B5EF4-FFF2-40B4-BE49-F238E27FC236}">
                <a16:creationId xmlns:a16="http://schemas.microsoft.com/office/drawing/2014/main" id="{07E9355B-FABC-4B00-B9BD-5E2F84AC8FBE}"/>
              </a:ext>
            </a:extLst>
          </p:cNvPr>
          <p:cNvSpPr txBox="1"/>
          <p:nvPr/>
        </p:nvSpPr>
        <p:spPr>
          <a:xfrm>
            <a:off x="4309474" y="9281139"/>
            <a:ext cx="953076" cy="207216"/>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t"/>
          <a:lstStyle>
            <a:lvl1pPr indent="219456">
              <a:defRPr sz="2200">
                <a:solidFill>
                  <a:srgbClr val="000000"/>
                </a:solidFill>
                <a:latin typeface="Helvetica Neue"/>
                <a:ea typeface="Helvetica Neue"/>
                <a:cs typeface="Helvetica Neue"/>
                <a:sym typeface="Helvetica Neue"/>
              </a:defRPr>
            </a:lvl1pPr>
          </a:lstStyle>
          <a:p>
            <a:pPr indent="0" algn="ctr"/>
            <a:endParaRPr lang="en-IN" sz="700" dirty="0">
              <a:latin typeface="+mn-lt"/>
            </a:endParaRPr>
          </a:p>
        </p:txBody>
      </p:sp>
      <p:sp>
        <p:nvSpPr>
          <p:cNvPr id="13" name="TextBox 12">
            <a:extLst>
              <a:ext uri="{FF2B5EF4-FFF2-40B4-BE49-F238E27FC236}">
                <a16:creationId xmlns:a16="http://schemas.microsoft.com/office/drawing/2014/main" id="{38143361-871E-3E49-42BA-C997C433AAF3}"/>
              </a:ext>
            </a:extLst>
          </p:cNvPr>
          <p:cNvSpPr txBox="1"/>
          <p:nvPr/>
        </p:nvSpPr>
        <p:spPr>
          <a:xfrm>
            <a:off x="32390" y="108738"/>
            <a:ext cx="1927055" cy="338554"/>
          </a:xfrm>
          <a:prstGeom prst="rect">
            <a:avLst/>
          </a:prstGeom>
          <a:noFill/>
        </p:spPr>
        <p:txBody>
          <a:bodyPr wrap="square">
            <a:spAutoFit/>
          </a:bodyPr>
          <a:lstStyle/>
          <a:p>
            <a:pPr algn="l"/>
            <a:r>
              <a:rPr lang="en-IN" sz="1600" b="1" i="0" u="none" strike="noStrike" baseline="0" dirty="0">
                <a:solidFill>
                  <a:srgbClr val="FFC000"/>
                </a:solidFill>
                <a:ea typeface="MS Gothic" panose="020B0609070205080204" pitchFamily="49" charset="-128"/>
                <a:cs typeface="Times New Roman" panose="02020603050405020304" pitchFamily="18" charset="0"/>
              </a:rPr>
              <a:t>Bear River Energy</a:t>
            </a:r>
            <a:endParaRPr lang="en-IN" sz="1600" b="1" dirty="0">
              <a:solidFill>
                <a:srgbClr val="FFC000"/>
              </a:solidFill>
              <a:ea typeface="MS Gothic" panose="020B0609070205080204" pitchFamily="49" charset="-128"/>
              <a:cs typeface="Times New Roman" panose="02020603050405020304" pitchFamily="18" charset="0"/>
            </a:endParaRPr>
          </a:p>
        </p:txBody>
      </p:sp>
      <mc:AlternateContent xmlns:mc="http://schemas.openxmlformats.org/markup-compatibility/2006" xmlns:cx1="http://schemas.microsoft.com/office/drawing/2015/9/8/chartex">
        <mc:Choice Requires="cx1">
          <p:graphicFrame>
            <p:nvGraphicFramePr>
              <p:cNvPr id="41" name="Chart 40">
                <a:extLst>
                  <a:ext uri="{FF2B5EF4-FFF2-40B4-BE49-F238E27FC236}">
                    <a16:creationId xmlns:a16="http://schemas.microsoft.com/office/drawing/2014/main" id="{98C01B08-FB16-3F47-8695-557E7182CC7E}"/>
                  </a:ext>
                </a:extLst>
              </p:cNvPr>
              <p:cNvGraphicFramePr/>
              <p:nvPr>
                <p:extLst>
                  <p:ext uri="{D42A27DB-BD31-4B8C-83A1-F6EECF244321}">
                    <p14:modId xmlns:p14="http://schemas.microsoft.com/office/powerpoint/2010/main" val="1277576952"/>
                  </p:ext>
                </p:extLst>
              </p:nvPr>
            </p:nvGraphicFramePr>
            <p:xfrm>
              <a:off x="4511700" y="2802696"/>
              <a:ext cx="2179391" cy="128016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1" name="Chart 40">
                <a:extLst>
                  <a:ext uri="{FF2B5EF4-FFF2-40B4-BE49-F238E27FC236}">
                    <a16:creationId xmlns:a16="http://schemas.microsoft.com/office/drawing/2014/main" id="{98C01B08-FB16-3F47-8695-557E7182CC7E}"/>
                  </a:ext>
                </a:extLst>
              </p:cNvPr>
              <p:cNvPicPr>
                <a:picLocks noGrp="1" noRot="1" noChangeAspect="1" noMove="1" noResize="1" noEditPoints="1" noAdjustHandles="1" noChangeArrowheads="1" noChangeShapeType="1"/>
              </p:cNvPicPr>
              <p:nvPr/>
            </p:nvPicPr>
            <p:blipFill>
              <a:blip r:embed="rId4"/>
              <a:stretch>
                <a:fillRect/>
              </a:stretch>
            </p:blipFill>
            <p:spPr>
              <a:xfrm>
                <a:off x="4511700" y="2802696"/>
                <a:ext cx="2179391" cy="1280160"/>
              </a:xfrm>
              <a:prstGeom prst="rect">
                <a:avLst/>
              </a:prstGeom>
            </p:spPr>
          </p:pic>
        </mc:Fallback>
      </mc:AlternateContent>
      <p:sp>
        <p:nvSpPr>
          <p:cNvPr id="51" name="TextBox 50">
            <a:extLst>
              <a:ext uri="{FF2B5EF4-FFF2-40B4-BE49-F238E27FC236}">
                <a16:creationId xmlns:a16="http://schemas.microsoft.com/office/drawing/2014/main" id="{11FFAE25-3D09-7264-FA83-DDA6D9B7DD97}"/>
              </a:ext>
            </a:extLst>
          </p:cNvPr>
          <p:cNvSpPr txBox="1"/>
          <p:nvPr/>
        </p:nvSpPr>
        <p:spPr>
          <a:xfrm>
            <a:off x="2414679" y="3605714"/>
            <a:ext cx="1949275" cy="1923604"/>
          </a:xfrm>
          <a:prstGeom prst="rect">
            <a:avLst/>
          </a:prstGeom>
          <a:noFill/>
        </p:spPr>
        <p:txBody>
          <a:bodyPr wrap="square" rtlCol="0">
            <a:spAutoFit/>
          </a:bodyPr>
          <a:lstStyle/>
          <a:p>
            <a:pPr>
              <a:spcBef>
                <a:spcPts val="600"/>
              </a:spcBef>
              <a:spcAft>
                <a:spcPts val="600"/>
              </a:spcAft>
            </a:pPr>
            <a:r>
              <a:rPr lang="en-US" sz="900" b="1" dirty="0"/>
              <a:t>Strategic Orientation</a:t>
            </a:r>
          </a:p>
          <a:p>
            <a:pPr marL="171450" indent="-171450">
              <a:spcBef>
                <a:spcPts val="600"/>
              </a:spcBef>
              <a:spcAft>
                <a:spcPts val="600"/>
              </a:spcAft>
              <a:buFontTx/>
              <a:buChar char="−"/>
            </a:pPr>
            <a:r>
              <a:rPr lang="en-US" sz="800" b="0" i="0" dirty="0">
                <a:effectLst/>
                <a:latin typeface="Calibri (Body)"/>
              </a:rPr>
              <a:t>Revenue from initial wells used for debt servicing and funding next wells</a:t>
            </a:r>
            <a:r>
              <a:rPr lang="en-US" sz="800" dirty="0">
                <a:latin typeface="Calibri (Body)"/>
              </a:rPr>
              <a:t>, and the program will continue to self-fund until 75wells in Utah and 99 wells in Kansas have been drilled by Q 3rd of 2025.</a:t>
            </a:r>
            <a:endParaRPr lang="en-IN" sz="800" dirty="0">
              <a:latin typeface="Calibri (Body)"/>
            </a:endParaRPr>
          </a:p>
          <a:p>
            <a:pPr marL="171450" indent="-171450">
              <a:spcBef>
                <a:spcPts val="600"/>
              </a:spcBef>
              <a:spcAft>
                <a:spcPts val="600"/>
              </a:spcAft>
              <a:buFontTx/>
              <a:buChar char="−"/>
            </a:pPr>
            <a:r>
              <a:rPr lang="en-US" sz="800" dirty="0"/>
              <a:t>The projected net cash flow after debt service of $30 million at the end of 2025 is $639 million.</a:t>
            </a:r>
          </a:p>
          <a:p>
            <a:pPr>
              <a:spcBef>
                <a:spcPts val="600"/>
              </a:spcBef>
              <a:spcAft>
                <a:spcPts val="600"/>
              </a:spcAft>
            </a:pPr>
            <a:endParaRPr lang="en-IN" sz="800" dirty="0"/>
          </a:p>
        </p:txBody>
      </p:sp>
      <p:sp>
        <p:nvSpPr>
          <p:cNvPr id="52" name="Line">
            <a:extLst>
              <a:ext uri="{FF2B5EF4-FFF2-40B4-BE49-F238E27FC236}">
                <a16:creationId xmlns:a16="http://schemas.microsoft.com/office/drawing/2014/main" id="{8842C388-2B7C-9338-A3A9-F15D9F98D030}"/>
              </a:ext>
            </a:extLst>
          </p:cNvPr>
          <p:cNvSpPr/>
          <p:nvPr/>
        </p:nvSpPr>
        <p:spPr>
          <a:xfrm flipV="1">
            <a:off x="4426362" y="1751268"/>
            <a:ext cx="34635" cy="3614840"/>
          </a:xfrm>
          <a:prstGeom prst="line">
            <a:avLst/>
          </a:prstGeom>
          <a:ln w="12700">
            <a:solidFill>
              <a:schemeClr val="accent3">
                <a:lumMod val="20000"/>
                <a:lumOff val="80000"/>
              </a:schemeClr>
            </a:solidFill>
            <a:miter lim="400000"/>
          </a:ln>
        </p:spPr>
        <p:txBody>
          <a:bodyPr lIns="71437" tIns="71437" rIns="71437" bIns="71437" anchor="ctr"/>
          <a:lstStyle/>
          <a:p>
            <a:pPr>
              <a:defRPr sz="3000">
                <a:solidFill>
                  <a:srgbClr val="FFFFFF"/>
                </a:solidFill>
                <a:latin typeface="+mn-lt"/>
                <a:ea typeface="+mn-ea"/>
                <a:cs typeface="+mn-cs"/>
                <a:sym typeface="Helvetica Neue Medium"/>
              </a:defRPr>
            </a:pPr>
            <a:endParaRPr/>
          </a:p>
        </p:txBody>
      </p:sp>
      <p:sp>
        <p:nvSpPr>
          <p:cNvPr id="2" name="Rectangle 1">
            <a:extLst>
              <a:ext uri="{FF2B5EF4-FFF2-40B4-BE49-F238E27FC236}">
                <a16:creationId xmlns:a16="http://schemas.microsoft.com/office/drawing/2014/main" id="{098E0397-BD20-84A8-0E37-666F221474CD}"/>
              </a:ext>
            </a:extLst>
          </p:cNvPr>
          <p:cNvSpPr/>
          <p:nvPr/>
        </p:nvSpPr>
        <p:spPr>
          <a:xfrm>
            <a:off x="32390" y="505053"/>
            <a:ext cx="6694811" cy="7411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spcBef>
                <a:spcPts val="300"/>
              </a:spcBef>
              <a:spcAft>
                <a:spcPts val="300"/>
              </a:spcAft>
            </a:pPr>
            <a:r>
              <a:rPr lang="en-US" sz="900" b="1" dirty="0">
                <a:solidFill>
                  <a:schemeClr val="tx1"/>
                </a:solidFill>
              </a:rPr>
              <a:t>Company Overview: </a:t>
            </a:r>
            <a:r>
              <a:rPr lang="en-IN" sz="900" dirty="0">
                <a:solidFill>
                  <a:schemeClr val="tx1"/>
                </a:solidFill>
              </a:rPr>
              <a:t>Bear River Energy, a Utah LLC (‘BRE’), was </a:t>
            </a:r>
            <a:r>
              <a:rPr lang="en-US" sz="900" dirty="0">
                <a:solidFill>
                  <a:schemeClr val="tx1"/>
                </a:solidFill>
              </a:rPr>
              <a:t>formed on February 16, 2021, as an Energy Exploration and Development company. It has taken over the development of a shallow Cretaceous oil play from an under performing energy company. </a:t>
            </a:r>
            <a:r>
              <a:rPr lang="en-IN" sz="900" dirty="0">
                <a:solidFill>
                  <a:schemeClr val="tx1"/>
                </a:solidFill>
                <a:cs typeface="Arial" panose="020B0604020202020204" pitchFamily="34" charset="0"/>
              </a:rPr>
              <a:t>BRE has acquired Oil &amp; Gas extraction leases on selected properties along with one drilled &amp; completed well. </a:t>
            </a:r>
            <a:r>
              <a:rPr lang="en-US" sz="900" dirty="0">
                <a:solidFill>
                  <a:schemeClr val="tx1"/>
                </a:solidFill>
              </a:rPr>
              <a:t>BRE has conducted extensive geologic and engineering studies to own and develop a shallow oil play in NE Utah with the potential of over 500 million barrels of recoverable resource covered by leased acreage. BRE has also </a:t>
            </a:r>
            <a:r>
              <a:rPr lang="en-US" sz="900" b="0" i="0" u="none" strike="noStrike" baseline="0" dirty="0">
                <a:solidFill>
                  <a:schemeClr val="tx1"/>
                </a:solidFill>
                <a:latin typeface="Calibri" panose="020F0502020204030204" pitchFamily="34" charset="0"/>
              </a:rPr>
              <a:t>identified a shallow gas accumulation in western Kansas with an estimated 4 TCF of gas.</a:t>
            </a:r>
            <a:endParaRPr lang="en-US" sz="900" dirty="0">
              <a:solidFill>
                <a:schemeClr val="tx1"/>
              </a:solidFill>
            </a:endParaRPr>
          </a:p>
        </p:txBody>
      </p:sp>
      <p:sp>
        <p:nvSpPr>
          <p:cNvPr id="10" name="TextBox 9">
            <a:extLst>
              <a:ext uri="{FF2B5EF4-FFF2-40B4-BE49-F238E27FC236}">
                <a16:creationId xmlns:a16="http://schemas.microsoft.com/office/drawing/2014/main" id="{79775AED-FAA2-703F-5772-8BCC7B2C6AA3}"/>
              </a:ext>
            </a:extLst>
          </p:cNvPr>
          <p:cNvSpPr txBox="1"/>
          <p:nvPr/>
        </p:nvSpPr>
        <p:spPr>
          <a:xfrm>
            <a:off x="4470675" y="1711043"/>
            <a:ext cx="2205078" cy="1092607"/>
          </a:xfrm>
          <a:prstGeom prst="rect">
            <a:avLst/>
          </a:prstGeom>
          <a:noFill/>
        </p:spPr>
        <p:txBody>
          <a:bodyPr wrap="square" rtlCol="0">
            <a:spAutoFit/>
          </a:bodyPr>
          <a:lstStyle/>
          <a:p>
            <a:r>
              <a:rPr lang="en-US" sz="900" b="1" dirty="0"/>
              <a:t>Use of funds</a:t>
            </a:r>
            <a:endParaRPr lang="en-US" sz="800" b="1" dirty="0"/>
          </a:p>
          <a:p>
            <a:pPr algn="l"/>
            <a:r>
              <a:rPr lang="en-US" sz="800" dirty="0"/>
              <a:t>The funds will be put-upon for the Drilling &amp; Completion of wells, field operations, technical consultants, staffing, and field equipment. A portion of the funds will outlay renewal and extension of Utah’s current leasehold position and acquire additional mineral rights (acreage) &amp; surface rights in Utah &amp; Kansas.</a:t>
            </a:r>
            <a:endParaRPr lang="en-IN" sz="800" dirty="0"/>
          </a:p>
        </p:txBody>
      </p:sp>
      <p:graphicFrame>
        <p:nvGraphicFramePr>
          <p:cNvPr id="16" name="Table 21">
            <a:extLst>
              <a:ext uri="{FF2B5EF4-FFF2-40B4-BE49-F238E27FC236}">
                <a16:creationId xmlns:a16="http://schemas.microsoft.com/office/drawing/2014/main" id="{7CCA221A-90D3-D6B4-8EED-1D0DC6FEACDE}"/>
              </a:ext>
            </a:extLst>
          </p:cNvPr>
          <p:cNvGraphicFramePr>
            <a:graphicFrameLocks noGrp="1"/>
          </p:cNvGraphicFramePr>
          <p:nvPr>
            <p:extLst>
              <p:ext uri="{D42A27DB-BD31-4B8C-83A1-F6EECF244321}">
                <p14:modId xmlns:p14="http://schemas.microsoft.com/office/powerpoint/2010/main" val="385116832"/>
              </p:ext>
            </p:extLst>
          </p:nvPr>
        </p:nvGraphicFramePr>
        <p:xfrm>
          <a:off x="94619" y="6000980"/>
          <a:ext cx="3195028" cy="1322256"/>
        </p:xfrm>
        <a:graphic>
          <a:graphicData uri="http://schemas.openxmlformats.org/drawingml/2006/table">
            <a:tbl>
              <a:tblPr firstRow="1" bandRow="1">
                <a:tableStyleId>{073A0DAA-6AF3-43AB-8588-CEC1D06C72B9}</a:tableStyleId>
              </a:tblPr>
              <a:tblGrid>
                <a:gridCol w="798757">
                  <a:extLst>
                    <a:ext uri="{9D8B030D-6E8A-4147-A177-3AD203B41FA5}">
                      <a16:colId xmlns:a16="http://schemas.microsoft.com/office/drawing/2014/main" val="3117805256"/>
                    </a:ext>
                  </a:extLst>
                </a:gridCol>
                <a:gridCol w="798757">
                  <a:extLst>
                    <a:ext uri="{9D8B030D-6E8A-4147-A177-3AD203B41FA5}">
                      <a16:colId xmlns:a16="http://schemas.microsoft.com/office/drawing/2014/main" val="4026915832"/>
                    </a:ext>
                  </a:extLst>
                </a:gridCol>
                <a:gridCol w="798757">
                  <a:extLst>
                    <a:ext uri="{9D8B030D-6E8A-4147-A177-3AD203B41FA5}">
                      <a16:colId xmlns:a16="http://schemas.microsoft.com/office/drawing/2014/main" val="3578855468"/>
                    </a:ext>
                  </a:extLst>
                </a:gridCol>
                <a:gridCol w="798757">
                  <a:extLst>
                    <a:ext uri="{9D8B030D-6E8A-4147-A177-3AD203B41FA5}">
                      <a16:colId xmlns:a16="http://schemas.microsoft.com/office/drawing/2014/main" val="926202124"/>
                    </a:ext>
                  </a:extLst>
                </a:gridCol>
              </a:tblGrid>
              <a:tr h="226337">
                <a:tc>
                  <a:txBody>
                    <a:bodyPr/>
                    <a:lstStyle/>
                    <a:p>
                      <a:endParaRPr lang="en-IN" sz="900" dirty="0">
                        <a:solidFill>
                          <a:schemeClr val="bg1"/>
                        </a:solidFill>
                      </a:endParaRPr>
                    </a:p>
                  </a:txBody>
                  <a:tcPr marL="88751" marR="88751" marT="45267" marB="45267"/>
                </a:tc>
                <a:tc>
                  <a:txBody>
                    <a:bodyPr/>
                    <a:lstStyle/>
                    <a:p>
                      <a:pPr algn="ctr"/>
                      <a:r>
                        <a:rPr lang="en-IN" sz="900" dirty="0">
                          <a:solidFill>
                            <a:schemeClr val="bg1"/>
                          </a:solidFill>
                        </a:rPr>
                        <a:t>Year 1</a:t>
                      </a:r>
                    </a:p>
                  </a:txBody>
                  <a:tcPr marL="88751" marR="88751" marT="45267" marB="45267" anchor="ctr"/>
                </a:tc>
                <a:tc>
                  <a:txBody>
                    <a:bodyPr/>
                    <a:lstStyle/>
                    <a:p>
                      <a:pPr algn="ctr"/>
                      <a:r>
                        <a:rPr lang="en-IN" sz="900" dirty="0">
                          <a:solidFill>
                            <a:schemeClr val="bg1"/>
                          </a:solidFill>
                        </a:rPr>
                        <a:t>Year 2</a:t>
                      </a:r>
                    </a:p>
                  </a:txBody>
                  <a:tcPr marL="88751" marR="88751" marT="45267" marB="45267" anchor="ctr"/>
                </a:tc>
                <a:tc>
                  <a:txBody>
                    <a:bodyPr/>
                    <a:lstStyle/>
                    <a:p>
                      <a:pPr algn="ctr"/>
                      <a:r>
                        <a:rPr lang="en-IN" sz="900" dirty="0">
                          <a:solidFill>
                            <a:schemeClr val="bg1"/>
                          </a:solidFill>
                        </a:rPr>
                        <a:t>Year 3</a:t>
                      </a:r>
                    </a:p>
                  </a:txBody>
                  <a:tcPr marL="88751" marR="88751" marT="45267" marB="45267" anchor="ctr"/>
                </a:tc>
                <a:extLst>
                  <a:ext uri="{0D108BD9-81ED-4DB2-BD59-A6C34878D82A}">
                    <a16:rowId xmlns:a16="http://schemas.microsoft.com/office/drawing/2014/main" val="567034064"/>
                  </a:ext>
                </a:extLst>
              </a:tr>
              <a:tr h="362139">
                <a:tc>
                  <a:txBody>
                    <a:bodyPr/>
                    <a:lstStyle/>
                    <a:p>
                      <a:pPr algn="ctr"/>
                      <a:r>
                        <a:rPr lang="en-IN" sz="900" b="1" u="none" strike="noStrike" kern="1200" baseline="0" dirty="0">
                          <a:solidFill>
                            <a:schemeClr val="tx1"/>
                          </a:solidFill>
                        </a:rPr>
                        <a:t>Oil &amp; Gas Revenue</a:t>
                      </a:r>
                      <a:endParaRPr lang="en-IN" sz="900" dirty="0">
                        <a:solidFill>
                          <a:schemeClr val="tx1"/>
                        </a:solidFill>
                      </a:endParaRPr>
                    </a:p>
                  </a:txBody>
                  <a:tcPr marL="88751" marR="88751" marT="45267" marB="45267"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900" b="0" u="none" strike="noStrike" kern="1200" baseline="0" dirty="0">
                          <a:solidFill>
                            <a:schemeClr val="tx1"/>
                          </a:solidFill>
                        </a:rPr>
                        <a:t>93,743,475</a:t>
                      </a:r>
                    </a:p>
                  </a:txBody>
                  <a:tcPr marL="88751" marR="88751" marT="45267" marB="45267"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900" b="0" u="none" strike="noStrike" kern="1200" baseline="0" dirty="0">
                          <a:solidFill>
                            <a:schemeClr val="tx1"/>
                          </a:solidFill>
                        </a:rPr>
                        <a:t>266,298,497</a:t>
                      </a:r>
                      <a:endParaRPr lang="en-IN" sz="900" dirty="0">
                        <a:solidFill>
                          <a:schemeClr val="tx1"/>
                        </a:solidFill>
                      </a:endParaRPr>
                    </a:p>
                  </a:txBody>
                  <a:tcPr marL="88751" marR="88751" marT="45267" marB="45267"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900" dirty="0">
                          <a:solidFill>
                            <a:schemeClr val="tx1"/>
                          </a:solidFill>
                        </a:rPr>
                        <a:t>47,35,88,041</a:t>
                      </a:r>
                    </a:p>
                  </a:txBody>
                  <a:tcPr marL="88751" marR="88751" marT="45267" marB="45267" anchor="ctr"/>
                </a:tc>
                <a:extLst>
                  <a:ext uri="{0D108BD9-81ED-4DB2-BD59-A6C34878D82A}">
                    <a16:rowId xmlns:a16="http://schemas.microsoft.com/office/drawing/2014/main" val="2436700691"/>
                  </a:ext>
                </a:extLst>
              </a:tr>
              <a:tr h="362139">
                <a:tc>
                  <a:txBody>
                    <a:bodyPr/>
                    <a:lstStyle/>
                    <a:p>
                      <a:pPr algn="ctr"/>
                      <a:r>
                        <a:rPr lang="en-IN" sz="900" b="1" u="none" strike="noStrike" kern="1200" baseline="0" dirty="0">
                          <a:solidFill>
                            <a:schemeClr val="tx1"/>
                          </a:solidFill>
                        </a:rPr>
                        <a:t>Net Profit (EBITDA)</a:t>
                      </a:r>
                      <a:endParaRPr lang="en-IN" sz="900" dirty="0">
                        <a:solidFill>
                          <a:schemeClr val="tx1"/>
                        </a:solidFill>
                      </a:endParaRPr>
                    </a:p>
                  </a:txBody>
                  <a:tcPr marL="88751" marR="88751" marT="45267" marB="45267" anchor="ctr"/>
                </a:tc>
                <a:tc>
                  <a:txBody>
                    <a:bodyPr/>
                    <a:lstStyle/>
                    <a:p>
                      <a:pPr algn="ctr"/>
                      <a:r>
                        <a:rPr lang="en-IN" sz="900" b="0" u="none" strike="noStrike" kern="1200" baseline="0" dirty="0">
                          <a:solidFill>
                            <a:schemeClr val="tx1"/>
                          </a:solidFill>
                        </a:rPr>
                        <a:t>76,270,779</a:t>
                      </a:r>
                      <a:endParaRPr lang="en-IN" sz="900" b="0" dirty="0">
                        <a:solidFill>
                          <a:schemeClr val="tx1"/>
                        </a:solidFill>
                      </a:endParaRPr>
                    </a:p>
                  </a:txBody>
                  <a:tcPr marL="88751" marR="88751" marT="45267" marB="45267"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900" b="0" u="none" strike="noStrike" kern="1200" baseline="0" dirty="0">
                          <a:solidFill>
                            <a:schemeClr val="tx1"/>
                          </a:solidFill>
                        </a:rPr>
                        <a:t>220,816,935</a:t>
                      </a:r>
                      <a:endParaRPr lang="en-IN" sz="900" b="0" dirty="0">
                        <a:solidFill>
                          <a:schemeClr val="tx1"/>
                        </a:solidFill>
                      </a:endParaRPr>
                    </a:p>
                  </a:txBody>
                  <a:tcPr marL="88751" marR="88751" marT="45267" marB="45267"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900" b="0" dirty="0">
                          <a:solidFill>
                            <a:schemeClr val="tx1"/>
                          </a:solidFill>
                        </a:rPr>
                        <a:t>39,15,15,498</a:t>
                      </a:r>
                    </a:p>
                  </a:txBody>
                  <a:tcPr marL="88751" marR="88751" marT="45267" marB="45267" anchor="ctr"/>
                </a:tc>
                <a:extLst>
                  <a:ext uri="{0D108BD9-81ED-4DB2-BD59-A6C34878D82A}">
                    <a16:rowId xmlns:a16="http://schemas.microsoft.com/office/drawing/2014/main" val="446088063"/>
                  </a:ext>
                </a:extLst>
              </a:tr>
              <a:tr h="36213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solidFill>
                            <a:schemeClr val="tx1"/>
                          </a:solidFill>
                        </a:rPr>
                        <a:t>EBITDA</a:t>
                      </a:r>
                      <a:r>
                        <a:rPr lang="en-US" sz="900" b="1" baseline="0" dirty="0">
                          <a:solidFill>
                            <a:schemeClr val="tx1"/>
                          </a:solidFill>
                        </a:rPr>
                        <a:t> </a:t>
                      </a:r>
                      <a:r>
                        <a:rPr lang="en-US" sz="900" b="1" dirty="0">
                          <a:solidFill>
                            <a:schemeClr val="tx1"/>
                          </a:solidFill>
                        </a:rPr>
                        <a:t>Margin</a:t>
                      </a:r>
                    </a:p>
                  </a:txBody>
                  <a:tcPr marL="88751" marR="88751" marT="45267" marB="45267" anchor="ctr"/>
                </a:tc>
                <a:tc>
                  <a:txBody>
                    <a:bodyPr/>
                    <a:lstStyle/>
                    <a:p>
                      <a:pPr algn="ctr"/>
                      <a:r>
                        <a:rPr lang="en-IN" sz="900" dirty="0">
                          <a:solidFill>
                            <a:schemeClr val="tx1"/>
                          </a:solidFill>
                        </a:rPr>
                        <a:t>81.36%</a:t>
                      </a:r>
                    </a:p>
                  </a:txBody>
                  <a:tcPr marL="88751" marR="88751" marT="45267" marB="45267" anchor="ctr"/>
                </a:tc>
                <a:tc>
                  <a:txBody>
                    <a:bodyPr/>
                    <a:lstStyle/>
                    <a:p>
                      <a:pPr algn="ctr"/>
                      <a:r>
                        <a:rPr lang="en-IN" sz="900" dirty="0">
                          <a:solidFill>
                            <a:schemeClr val="tx1"/>
                          </a:solidFill>
                        </a:rPr>
                        <a:t>82.92%</a:t>
                      </a:r>
                    </a:p>
                  </a:txBody>
                  <a:tcPr marL="88751" marR="88751" marT="45267" marB="45267" anchor="ctr"/>
                </a:tc>
                <a:tc>
                  <a:txBody>
                    <a:bodyPr/>
                    <a:lstStyle/>
                    <a:p>
                      <a:pPr algn="ctr"/>
                      <a:r>
                        <a:rPr lang="en-IN" sz="900" dirty="0">
                          <a:solidFill>
                            <a:schemeClr val="tx1"/>
                          </a:solidFill>
                        </a:rPr>
                        <a:t>82.67%</a:t>
                      </a:r>
                    </a:p>
                  </a:txBody>
                  <a:tcPr marL="88751" marR="88751" marT="45267" marB="45267" anchor="ctr"/>
                </a:tc>
                <a:extLst>
                  <a:ext uri="{0D108BD9-81ED-4DB2-BD59-A6C34878D82A}">
                    <a16:rowId xmlns:a16="http://schemas.microsoft.com/office/drawing/2014/main" val="339165275"/>
                  </a:ext>
                </a:extLst>
              </a:tr>
            </a:tbl>
          </a:graphicData>
        </a:graphic>
      </p:graphicFrame>
      <p:sp>
        <p:nvSpPr>
          <p:cNvPr id="73" name="Rectangle 72">
            <a:extLst>
              <a:ext uri="{FF2B5EF4-FFF2-40B4-BE49-F238E27FC236}">
                <a16:creationId xmlns:a16="http://schemas.microsoft.com/office/drawing/2014/main" id="{9C007A20-36E6-3677-C42C-B2B8A14ADBBA}"/>
              </a:ext>
            </a:extLst>
          </p:cNvPr>
          <p:cNvSpPr/>
          <p:nvPr/>
        </p:nvSpPr>
        <p:spPr>
          <a:xfrm>
            <a:off x="99470" y="9119997"/>
            <a:ext cx="1556328" cy="2800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pPr>
              <a:spcBef>
                <a:spcPts val="300"/>
              </a:spcBef>
              <a:spcAft>
                <a:spcPts val="300"/>
              </a:spcAft>
            </a:pPr>
            <a:r>
              <a:rPr lang="en-US" sz="1200" b="1" dirty="0">
                <a:solidFill>
                  <a:schemeClr val="tx1"/>
                </a:solidFill>
              </a:rPr>
              <a:t>Our Management</a:t>
            </a:r>
            <a:endParaRPr lang="en-US" sz="1050" dirty="0">
              <a:solidFill>
                <a:schemeClr val="tx1"/>
              </a:solidFill>
            </a:endParaRPr>
          </a:p>
        </p:txBody>
      </p:sp>
      <p:sp>
        <p:nvSpPr>
          <p:cNvPr id="75" name="Google Shape;633;p35">
            <a:extLst>
              <a:ext uri="{FF2B5EF4-FFF2-40B4-BE49-F238E27FC236}">
                <a16:creationId xmlns:a16="http://schemas.microsoft.com/office/drawing/2014/main" id="{3CC0FC0B-73A1-13B8-8FA8-22E28EC12A22}"/>
              </a:ext>
            </a:extLst>
          </p:cNvPr>
          <p:cNvSpPr txBox="1"/>
          <p:nvPr/>
        </p:nvSpPr>
        <p:spPr>
          <a:xfrm>
            <a:off x="1478019" y="9190324"/>
            <a:ext cx="1388445" cy="358914"/>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t"/>
          <a:lstStyle>
            <a:lvl1pPr indent="219456">
              <a:defRPr sz="2200">
                <a:solidFill>
                  <a:srgbClr val="000000"/>
                </a:solidFill>
                <a:latin typeface="Helvetica Neue"/>
                <a:ea typeface="Helvetica Neue"/>
                <a:cs typeface="Helvetica Neue"/>
                <a:sym typeface="Helvetica Neue"/>
              </a:defRPr>
            </a:lvl1pPr>
          </a:lstStyle>
          <a:p>
            <a:pPr algn="ctr"/>
            <a:r>
              <a:rPr lang="en-IN" sz="900" b="1" dirty="0">
                <a:latin typeface="+mn-lt"/>
              </a:rPr>
              <a:t>Chuck Travelstead </a:t>
            </a:r>
          </a:p>
          <a:p>
            <a:pPr algn="ctr"/>
            <a:r>
              <a:rPr lang="en-IN" sz="800" dirty="0">
                <a:latin typeface="+mn-lt"/>
              </a:rPr>
              <a:t>Chairman &amp; CEO</a:t>
            </a:r>
            <a:endParaRPr lang="en-IN" sz="800" b="1" i="1" dirty="0">
              <a:latin typeface="+mn-lt"/>
            </a:endParaRPr>
          </a:p>
        </p:txBody>
      </p:sp>
      <p:sp>
        <p:nvSpPr>
          <p:cNvPr id="76" name="Google Shape;633;p35">
            <a:extLst>
              <a:ext uri="{FF2B5EF4-FFF2-40B4-BE49-F238E27FC236}">
                <a16:creationId xmlns:a16="http://schemas.microsoft.com/office/drawing/2014/main" id="{4EAA0D3C-4987-DBDD-0E28-84EEB29CCAAF}"/>
              </a:ext>
            </a:extLst>
          </p:cNvPr>
          <p:cNvSpPr txBox="1"/>
          <p:nvPr/>
        </p:nvSpPr>
        <p:spPr>
          <a:xfrm>
            <a:off x="4991666" y="9194523"/>
            <a:ext cx="1556328" cy="422872"/>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t"/>
          <a:lstStyle>
            <a:defPPr>
              <a:defRPr lang="en-US"/>
            </a:defPPr>
            <a:lvl1pPr indent="219456" algn="ctr">
              <a:defRPr sz="900" b="1">
                <a:solidFill>
                  <a:srgbClr val="000000"/>
                </a:solidFill>
                <a:ea typeface="Helvetica Neue"/>
                <a:cs typeface="Helvetica Neue"/>
              </a:defRPr>
            </a:lvl1pPr>
          </a:lstStyle>
          <a:p>
            <a:r>
              <a:rPr lang="en-IN" dirty="0"/>
              <a:t>Alan O’Hare</a:t>
            </a:r>
          </a:p>
          <a:p>
            <a:r>
              <a:rPr lang="en-IN" sz="800" b="0"/>
              <a:t>Director                          </a:t>
            </a:r>
            <a:r>
              <a:rPr lang="en-IN" sz="800" b="0" dirty="0"/>
              <a:t>Operations and Technical</a:t>
            </a:r>
          </a:p>
        </p:txBody>
      </p:sp>
      <p:sp>
        <p:nvSpPr>
          <p:cNvPr id="77" name="Google Shape;633;p35">
            <a:extLst>
              <a:ext uri="{FF2B5EF4-FFF2-40B4-BE49-F238E27FC236}">
                <a16:creationId xmlns:a16="http://schemas.microsoft.com/office/drawing/2014/main" id="{05E592EE-07E7-B767-A094-F16DD0B24042}"/>
              </a:ext>
            </a:extLst>
          </p:cNvPr>
          <p:cNvSpPr txBox="1"/>
          <p:nvPr/>
        </p:nvSpPr>
        <p:spPr>
          <a:xfrm>
            <a:off x="3177297" y="9186591"/>
            <a:ext cx="1388445" cy="358914"/>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t"/>
          <a:lstStyle>
            <a:defPPr>
              <a:defRPr lang="en-US"/>
            </a:defPPr>
            <a:lvl1pPr indent="219456" algn="ctr">
              <a:defRPr sz="900" b="1">
                <a:solidFill>
                  <a:srgbClr val="000000"/>
                </a:solidFill>
                <a:ea typeface="Helvetica Neue"/>
                <a:cs typeface="Helvetica Neue"/>
              </a:defRPr>
            </a:lvl1pPr>
          </a:lstStyle>
          <a:p>
            <a:r>
              <a:rPr lang="en-IN" dirty="0"/>
              <a:t>Larry Filener</a:t>
            </a:r>
          </a:p>
          <a:p>
            <a:r>
              <a:rPr lang="en-IN" sz="800" b="0" dirty="0"/>
              <a:t>VP &amp; CFO</a:t>
            </a:r>
            <a:endParaRPr lang="en-IN" b="0" dirty="0"/>
          </a:p>
        </p:txBody>
      </p:sp>
      <p:sp>
        <p:nvSpPr>
          <p:cNvPr id="107" name="Pentagon 7">
            <a:extLst>
              <a:ext uri="{FF2B5EF4-FFF2-40B4-BE49-F238E27FC236}">
                <a16:creationId xmlns:a16="http://schemas.microsoft.com/office/drawing/2014/main" id="{C12BC1D6-C484-A534-1719-A51A94D112FF}"/>
              </a:ext>
            </a:extLst>
          </p:cNvPr>
          <p:cNvSpPr/>
          <p:nvPr/>
        </p:nvSpPr>
        <p:spPr>
          <a:xfrm rot="10800000" flipH="1" flipV="1">
            <a:off x="91322" y="4411905"/>
            <a:ext cx="2057400" cy="338328"/>
          </a:xfrm>
          <a:prstGeom prst="homePlat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600" dirty="0">
                <a:solidFill>
                  <a:srgbClr val="0C0C0C"/>
                </a:solidFill>
              </a:rPr>
              <a:t>B</a:t>
            </a:r>
            <a:r>
              <a:rPr lang="en-US" sz="600" b="0" i="0" u="none" strike="noStrike" baseline="0" dirty="0">
                <a:solidFill>
                  <a:srgbClr val="0C0C0C"/>
                </a:solidFill>
              </a:rPr>
              <a:t>oth </a:t>
            </a:r>
            <a:r>
              <a:rPr lang="en-IN" sz="600" b="0" i="0" u="none" strike="noStrike" baseline="0" dirty="0">
                <a:solidFill>
                  <a:srgbClr val="0C0C0C"/>
                </a:solidFill>
              </a:rPr>
              <a:t>Utah &amp; Kansas</a:t>
            </a:r>
            <a:r>
              <a:rPr lang="en-US" sz="600" b="0" i="0" u="none" strike="noStrike" baseline="0" dirty="0">
                <a:solidFill>
                  <a:srgbClr val="0C0C0C"/>
                </a:solidFill>
              </a:rPr>
              <a:t> operations are in the lower quartile of F&amp;D operating costs compared to other operations across the U.S.</a:t>
            </a:r>
            <a:endParaRPr lang="en-US" sz="600" dirty="0"/>
          </a:p>
        </p:txBody>
      </p:sp>
      <p:sp>
        <p:nvSpPr>
          <p:cNvPr id="108" name="Pentagon 4">
            <a:extLst>
              <a:ext uri="{FF2B5EF4-FFF2-40B4-BE49-F238E27FC236}">
                <a16:creationId xmlns:a16="http://schemas.microsoft.com/office/drawing/2014/main" id="{4599A854-5818-1ED2-E88A-9F9AB196870C}"/>
              </a:ext>
            </a:extLst>
          </p:cNvPr>
          <p:cNvSpPr/>
          <p:nvPr/>
        </p:nvSpPr>
        <p:spPr>
          <a:xfrm rot="10800000" flipH="1" flipV="1">
            <a:off x="91322" y="4799496"/>
            <a:ext cx="2057400" cy="338328"/>
          </a:xfrm>
          <a:prstGeom prst="homePlate">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600" dirty="0">
                <a:solidFill>
                  <a:srgbClr val="0C0C0C"/>
                </a:solidFill>
              </a:rPr>
              <a:t>B</a:t>
            </a:r>
            <a:r>
              <a:rPr lang="en-US" sz="600" b="0" i="0" u="none" strike="noStrike" baseline="0" dirty="0">
                <a:solidFill>
                  <a:srgbClr val="0C0C0C"/>
                </a:solidFill>
              </a:rPr>
              <a:t>oth operations are fortunate that all the mineral leases and surface owners are Private owners or State Leases.</a:t>
            </a:r>
            <a:endParaRPr lang="en-US" sz="600" dirty="0"/>
          </a:p>
        </p:txBody>
      </p:sp>
      <p:sp>
        <p:nvSpPr>
          <p:cNvPr id="109" name="Pentagon 5">
            <a:extLst>
              <a:ext uri="{FF2B5EF4-FFF2-40B4-BE49-F238E27FC236}">
                <a16:creationId xmlns:a16="http://schemas.microsoft.com/office/drawing/2014/main" id="{10BE4D2C-0F5A-0D1A-B9EE-03A0222FADFE}"/>
              </a:ext>
            </a:extLst>
          </p:cNvPr>
          <p:cNvSpPr/>
          <p:nvPr/>
        </p:nvSpPr>
        <p:spPr>
          <a:xfrm rot="10800000" flipH="1" flipV="1">
            <a:off x="100636" y="5199285"/>
            <a:ext cx="2057400" cy="338328"/>
          </a:xfrm>
          <a:prstGeom prst="homePlat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IN" sz="600" dirty="0">
                <a:solidFill>
                  <a:srgbClr val="0C0C0C"/>
                </a:solidFill>
              </a:rPr>
              <a:t>E</a:t>
            </a:r>
            <a:r>
              <a:rPr lang="en-IN" sz="600" b="0" i="0" u="none" strike="noStrike" baseline="0" dirty="0">
                <a:solidFill>
                  <a:srgbClr val="0C0C0C"/>
                </a:solidFill>
              </a:rPr>
              <a:t>ither </a:t>
            </a:r>
            <a:r>
              <a:rPr lang="en-US" sz="600" b="0" i="0" u="none" strike="noStrike" baseline="0" dirty="0">
                <a:solidFill>
                  <a:srgbClr val="0C0C0C"/>
                </a:solidFill>
              </a:rPr>
              <a:t>of these operations is significant and sufficiently strong to stand on its own, irrespective of the other</a:t>
            </a:r>
            <a:br>
              <a:rPr lang="en-US" sz="600" b="0" i="0" u="none" strike="noStrike" baseline="0" dirty="0">
                <a:solidFill>
                  <a:srgbClr val="0C0C0C"/>
                </a:solidFill>
              </a:rPr>
            </a:br>
            <a:r>
              <a:rPr lang="en-IN" sz="600" b="0" i="0" u="none" strike="noStrike" baseline="0" dirty="0">
                <a:solidFill>
                  <a:srgbClr val="0C0C0C"/>
                </a:solidFill>
              </a:rPr>
              <a:t>one.</a:t>
            </a:r>
            <a:endParaRPr lang="en-US" sz="600" dirty="0"/>
          </a:p>
        </p:txBody>
      </p:sp>
      <p:sp>
        <p:nvSpPr>
          <p:cNvPr id="110" name="Pentagon 6">
            <a:extLst>
              <a:ext uri="{FF2B5EF4-FFF2-40B4-BE49-F238E27FC236}">
                <a16:creationId xmlns:a16="http://schemas.microsoft.com/office/drawing/2014/main" id="{60FC935D-BF78-F71D-7536-93CD262FB182}"/>
              </a:ext>
            </a:extLst>
          </p:cNvPr>
          <p:cNvSpPr/>
          <p:nvPr/>
        </p:nvSpPr>
        <p:spPr>
          <a:xfrm rot="10800000" flipH="1" flipV="1">
            <a:off x="91322" y="4015931"/>
            <a:ext cx="2057400" cy="338328"/>
          </a:xfrm>
          <a:prstGeom prst="homePlate">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ln w="0"/>
                <a:solidFill>
                  <a:schemeClr val="tx1"/>
                </a:solidFill>
                <a:effectLst>
                  <a:outerShdw blurRad="38100" dist="25400" dir="5400000" algn="ctr" rotWithShape="0">
                    <a:srgbClr val="6E747A">
                      <a:alpha val="43000"/>
                    </a:srgbClr>
                  </a:outerShdw>
                </a:effectLst>
              </a:rPr>
              <a:t>Competitive Advantage</a:t>
            </a:r>
          </a:p>
        </p:txBody>
      </p:sp>
      <p:sp>
        <p:nvSpPr>
          <p:cNvPr id="7" name="TextBox 6">
            <a:extLst>
              <a:ext uri="{FF2B5EF4-FFF2-40B4-BE49-F238E27FC236}">
                <a16:creationId xmlns:a16="http://schemas.microsoft.com/office/drawing/2014/main" id="{EAADA8FA-B715-3C1E-27F8-0AAC4A9A6125}"/>
              </a:ext>
            </a:extLst>
          </p:cNvPr>
          <p:cNvSpPr txBox="1"/>
          <p:nvPr/>
        </p:nvSpPr>
        <p:spPr>
          <a:xfrm>
            <a:off x="4460997" y="4623834"/>
            <a:ext cx="2228743" cy="969496"/>
          </a:xfrm>
          <a:prstGeom prst="rect">
            <a:avLst/>
          </a:prstGeom>
          <a:noFill/>
        </p:spPr>
        <p:txBody>
          <a:bodyPr wrap="square" rtlCol="0">
            <a:spAutoFit/>
          </a:bodyPr>
          <a:lstStyle/>
          <a:p>
            <a:r>
              <a:rPr lang="en-US" sz="900" b="1" dirty="0">
                <a:solidFill>
                  <a:schemeClr val="tx1"/>
                </a:solidFill>
              </a:rPr>
              <a:t>Exit Approach</a:t>
            </a:r>
            <a:endParaRPr lang="en-US" sz="800" b="1" dirty="0">
              <a:solidFill>
                <a:schemeClr val="tx1"/>
              </a:solidFill>
            </a:endParaRPr>
          </a:p>
          <a:p>
            <a:r>
              <a:rPr lang="en-US" sz="800" dirty="0">
                <a:solidFill>
                  <a:schemeClr val="tx1"/>
                </a:solidFill>
              </a:rPr>
              <a:t>Sell to growing mid-stream or large players; </a:t>
            </a:r>
            <a:r>
              <a:rPr lang="en-US" sz="800" dirty="0"/>
              <a:t>t</a:t>
            </a:r>
            <a:r>
              <a:rPr lang="en-US" sz="800" dirty="0">
                <a:solidFill>
                  <a:schemeClr val="tx1"/>
                </a:solidFill>
              </a:rPr>
              <a:t>ake BRE public; continue to operate the company and acquire smaller under performing production companies for the benefit of the members (shareholders).</a:t>
            </a:r>
          </a:p>
          <a:p>
            <a:endParaRPr lang="en-IN" sz="800" dirty="0"/>
          </a:p>
        </p:txBody>
      </p:sp>
      <p:sp>
        <p:nvSpPr>
          <p:cNvPr id="42" name="Line">
            <a:extLst>
              <a:ext uri="{FF2B5EF4-FFF2-40B4-BE49-F238E27FC236}">
                <a16:creationId xmlns:a16="http://schemas.microsoft.com/office/drawing/2014/main" id="{40477AF1-5D41-DADD-39DB-D88D93052F38}"/>
              </a:ext>
            </a:extLst>
          </p:cNvPr>
          <p:cNvSpPr/>
          <p:nvPr/>
        </p:nvSpPr>
        <p:spPr>
          <a:xfrm>
            <a:off x="23455" y="9696604"/>
            <a:ext cx="6816764" cy="0"/>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txBody>
          <a:bodyPr lIns="71437" tIns="71437" rIns="71437" bIns="71437" anchor="ctr"/>
          <a:lstStyle/>
          <a:p>
            <a:endParaRPr sz="3000">
              <a:solidFill>
                <a:srgbClr val="FFFFFF"/>
              </a:solidFill>
            </a:endParaRPr>
          </a:p>
        </p:txBody>
      </p:sp>
      <p:sp>
        <p:nvSpPr>
          <p:cNvPr id="44" name="TextBox 43">
            <a:extLst>
              <a:ext uri="{FF2B5EF4-FFF2-40B4-BE49-F238E27FC236}">
                <a16:creationId xmlns:a16="http://schemas.microsoft.com/office/drawing/2014/main" id="{67FB75FD-495E-EDCD-788F-706152B39311}"/>
              </a:ext>
            </a:extLst>
          </p:cNvPr>
          <p:cNvSpPr txBox="1"/>
          <p:nvPr/>
        </p:nvSpPr>
        <p:spPr>
          <a:xfrm>
            <a:off x="2816003" y="9664143"/>
            <a:ext cx="1156390" cy="200055"/>
          </a:xfrm>
          <a:prstGeom prst="rect">
            <a:avLst/>
          </a:prstGeom>
          <a:noFill/>
        </p:spPr>
        <p:txBody>
          <a:bodyPr wrap="square" rtlCol="0">
            <a:spAutoFit/>
          </a:bodyPr>
          <a:lstStyle/>
          <a:p>
            <a:r>
              <a:rPr lang="en-IN" sz="700" b="1" dirty="0">
                <a:solidFill>
                  <a:schemeClr val="tx1">
                    <a:lumMod val="50000"/>
                    <a:lumOff val="50000"/>
                  </a:schemeClr>
                </a:solidFill>
              </a:rPr>
              <a:t>Private and Confidential</a:t>
            </a:r>
          </a:p>
        </p:txBody>
      </p:sp>
      <p:sp>
        <p:nvSpPr>
          <p:cNvPr id="45" name="TextBox 44">
            <a:extLst>
              <a:ext uri="{FF2B5EF4-FFF2-40B4-BE49-F238E27FC236}">
                <a16:creationId xmlns:a16="http://schemas.microsoft.com/office/drawing/2014/main" id="{7A4945B0-FA5C-EF1B-9B61-D74456A978B3}"/>
              </a:ext>
            </a:extLst>
          </p:cNvPr>
          <p:cNvSpPr txBox="1"/>
          <p:nvPr/>
        </p:nvSpPr>
        <p:spPr>
          <a:xfrm>
            <a:off x="4429778" y="4174119"/>
            <a:ext cx="2283929" cy="477054"/>
          </a:xfrm>
          <a:prstGeom prst="rect">
            <a:avLst/>
          </a:prstGeom>
          <a:noFill/>
        </p:spPr>
        <p:txBody>
          <a:bodyPr wrap="square" rtlCol="0">
            <a:spAutoFit/>
          </a:bodyPr>
          <a:lstStyle/>
          <a:p>
            <a:r>
              <a:rPr lang="en-US" sz="900" b="1" dirty="0"/>
              <a:t>Offering</a:t>
            </a:r>
          </a:p>
          <a:p>
            <a:r>
              <a:rPr lang="en-US" sz="800" b="1" dirty="0"/>
              <a:t> 3-to-5-year term, Interest TBD</a:t>
            </a:r>
            <a:endParaRPr lang="en-IN" sz="800" b="1" dirty="0"/>
          </a:p>
          <a:p>
            <a:endParaRPr lang="en-IN" sz="800" b="1" dirty="0"/>
          </a:p>
        </p:txBody>
      </p:sp>
      <p:sp>
        <p:nvSpPr>
          <p:cNvPr id="48" name="TextBox 47">
            <a:extLst>
              <a:ext uri="{FF2B5EF4-FFF2-40B4-BE49-F238E27FC236}">
                <a16:creationId xmlns:a16="http://schemas.microsoft.com/office/drawing/2014/main" id="{112A5F38-F2A2-05C2-F727-31C2B4C269B3}"/>
              </a:ext>
            </a:extLst>
          </p:cNvPr>
          <p:cNvSpPr txBox="1"/>
          <p:nvPr/>
        </p:nvSpPr>
        <p:spPr>
          <a:xfrm>
            <a:off x="2392366" y="1755531"/>
            <a:ext cx="2035718" cy="2154436"/>
          </a:xfrm>
          <a:prstGeom prst="rect">
            <a:avLst/>
          </a:prstGeom>
          <a:noFill/>
        </p:spPr>
        <p:txBody>
          <a:bodyPr wrap="square" rtlCol="0">
            <a:spAutoFit/>
          </a:bodyPr>
          <a:lstStyle/>
          <a:p>
            <a:pPr lvl="0">
              <a:spcBef>
                <a:spcPts val="600"/>
              </a:spcBef>
              <a:spcAft>
                <a:spcPts val="600"/>
              </a:spcAft>
            </a:pPr>
            <a:r>
              <a:rPr lang="en-US" sz="900" b="1" dirty="0">
                <a:solidFill>
                  <a:prstClr val="black">
                    <a:hueOff val="0"/>
                    <a:satOff val="0"/>
                    <a:lumOff val="0"/>
                    <a:alphaOff val="0"/>
                  </a:prstClr>
                </a:solidFill>
              </a:rPr>
              <a:t>Utah Oil Project Funding - $10 million</a:t>
            </a:r>
          </a:p>
          <a:p>
            <a:pPr lvl="0">
              <a:spcBef>
                <a:spcPts val="600"/>
              </a:spcBef>
              <a:spcAft>
                <a:spcPts val="600"/>
              </a:spcAft>
            </a:pPr>
            <a:r>
              <a:rPr lang="en-US" sz="800" dirty="0"/>
              <a:t>To fund the drilling and completion of nine wells, general and administrative costs, and accounts payable associated with the acquisition of the under performing  Assets.</a:t>
            </a:r>
          </a:p>
          <a:p>
            <a:pPr lvl="0">
              <a:spcBef>
                <a:spcPts val="600"/>
              </a:spcBef>
              <a:spcAft>
                <a:spcPts val="600"/>
              </a:spcAft>
            </a:pPr>
            <a:r>
              <a:rPr lang="en-US" sz="900" b="1" kern="1200" dirty="0">
                <a:solidFill>
                  <a:prstClr val="black">
                    <a:hueOff val="0"/>
                    <a:satOff val="0"/>
                    <a:lumOff val="0"/>
                    <a:alphaOff val="0"/>
                  </a:prstClr>
                </a:solidFill>
                <a:ea typeface="+mn-ea"/>
                <a:cs typeface="+mn-cs"/>
              </a:rPr>
              <a:t>Kansas Gas Project Funding - $20 million </a:t>
            </a:r>
          </a:p>
          <a:p>
            <a:pPr lvl="0">
              <a:spcBef>
                <a:spcPts val="600"/>
              </a:spcBef>
              <a:spcAft>
                <a:spcPts val="600"/>
              </a:spcAft>
            </a:pPr>
            <a:r>
              <a:rPr lang="en-US" sz="800" kern="1200" dirty="0">
                <a:solidFill>
                  <a:prstClr val="black">
                    <a:hueOff val="0"/>
                    <a:satOff val="0"/>
                    <a:lumOff val="0"/>
                    <a:alphaOff val="0"/>
                  </a:prstClr>
                </a:solidFill>
                <a:ea typeface="+mn-ea"/>
                <a:cs typeface="+mn-cs"/>
              </a:rPr>
              <a:t>To fund the drilling and completion of ten wells, initial land costs, and general and administrative costs.</a:t>
            </a:r>
            <a:endParaRPr lang="en-IN" sz="800" kern="1200" dirty="0">
              <a:solidFill>
                <a:prstClr val="black">
                  <a:hueOff val="0"/>
                  <a:satOff val="0"/>
                  <a:lumOff val="0"/>
                  <a:alphaOff val="0"/>
                </a:prstClr>
              </a:solidFill>
              <a:ea typeface="+mn-ea"/>
              <a:cs typeface="+mn-cs"/>
            </a:endParaRPr>
          </a:p>
          <a:p>
            <a:pPr lvl="0"/>
            <a:endParaRPr lang="en-IN" sz="800" dirty="0"/>
          </a:p>
          <a:p>
            <a:endParaRPr lang="en-IN" sz="800" dirty="0"/>
          </a:p>
        </p:txBody>
      </p:sp>
      <p:cxnSp>
        <p:nvCxnSpPr>
          <p:cNvPr id="50" name="Straight Connector 49">
            <a:extLst>
              <a:ext uri="{FF2B5EF4-FFF2-40B4-BE49-F238E27FC236}">
                <a16:creationId xmlns:a16="http://schemas.microsoft.com/office/drawing/2014/main" id="{01266E0A-034F-14C4-3B63-CE61DDBDCDE0}"/>
              </a:ext>
            </a:extLst>
          </p:cNvPr>
          <p:cNvCxnSpPr>
            <a:cxnSpLocks/>
          </p:cNvCxnSpPr>
          <p:nvPr/>
        </p:nvCxnSpPr>
        <p:spPr>
          <a:xfrm>
            <a:off x="2410095" y="3594397"/>
            <a:ext cx="1899379" cy="0"/>
          </a:xfrm>
          <a:prstGeom prst="line">
            <a:avLst/>
          </a:prstGeom>
          <a:ln w="3175">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1C1F98F-2F51-7629-1B7E-1C4ED7C3C1BA}"/>
              </a:ext>
            </a:extLst>
          </p:cNvPr>
          <p:cNvCxnSpPr>
            <a:cxnSpLocks/>
          </p:cNvCxnSpPr>
          <p:nvPr/>
        </p:nvCxnSpPr>
        <p:spPr>
          <a:xfrm>
            <a:off x="2410095" y="2667250"/>
            <a:ext cx="1899379" cy="0"/>
          </a:xfrm>
          <a:prstGeom prst="line">
            <a:avLst/>
          </a:prstGeom>
          <a:ln w="3175">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51C21A7-494A-B659-3DFA-9172C5FF1087}"/>
              </a:ext>
            </a:extLst>
          </p:cNvPr>
          <p:cNvCxnSpPr>
            <a:cxnSpLocks/>
          </p:cNvCxnSpPr>
          <p:nvPr/>
        </p:nvCxnSpPr>
        <p:spPr>
          <a:xfrm>
            <a:off x="2454408" y="1711043"/>
            <a:ext cx="1899379" cy="0"/>
          </a:xfrm>
          <a:prstGeom prst="line">
            <a:avLst/>
          </a:prstGeom>
          <a:ln w="3175">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ADFC5241-7419-8392-4E7D-0CE0D8F043EF}"/>
              </a:ext>
            </a:extLst>
          </p:cNvPr>
          <p:cNvSpPr txBox="1"/>
          <p:nvPr/>
        </p:nvSpPr>
        <p:spPr>
          <a:xfrm>
            <a:off x="96500" y="1347334"/>
            <a:ext cx="2132749" cy="2731037"/>
          </a:xfrm>
          <a:prstGeom prst="rect">
            <a:avLst/>
          </a:prstGeom>
          <a:noFill/>
          <a:ln>
            <a:solidFill>
              <a:schemeClr val="accent1">
                <a:lumMod val="20000"/>
                <a:lumOff val="80000"/>
              </a:schemeClr>
            </a:solidFill>
          </a:ln>
        </p:spPr>
        <p:txBody>
          <a:bodyPr wrap="square" rtlCol="0">
            <a:spAutoFit/>
          </a:bodyPr>
          <a:lstStyle/>
          <a:p>
            <a:pPr marL="288925">
              <a:spcBef>
                <a:spcPts val="600"/>
              </a:spcBef>
              <a:spcAft>
                <a:spcPts val="600"/>
              </a:spcAft>
            </a:pPr>
            <a:r>
              <a:rPr lang="en-US" sz="900" b="1" dirty="0"/>
              <a:t>Market- </a:t>
            </a:r>
            <a:r>
              <a:rPr lang="en-US" sz="900" dirty="0"/>
              <a:t>The product BRE will produce is mid to lightweight crude oil desirable to Salt Lake City refineries and natural gas from Kansas operation for Chicago markets</a:t>
            </a:r>
          </a:p>
          <a:p>
            <a:pPr marL="288925">
              <a:spcBef>
                <a:spcPts val="600"/>
              </a:spcBef>
              <a:spcAft>
                <a:spcPts val="600"/>
              </a:spcAft>
            </a:pPr>
            <a:r>
              <a:rPr lang="en-US" sz="900" b="1" dirty="0"/>
              <a:t>Revenue Stream- </a:t>
            </a:r>
            <a:r>
              <a:rPr lang="en-US" sz="900" dirty="0"/>
              <a:t>BRE will generate revenue by drilling and equipping shallow oil wells for production; Monthly proceeds from crude oil and natural gas purchases for the commodities that will be transported.</a:t>
            </a:r>
            <a:endParaRPr lang="en-IN" sz="900" dirty="0"/>
          </a:p>
          <a:p>
            <a:pPr marL="288925">
              <a:spcBef>
                <a:spcPts val="600"/>
              </a:spcBef>
              <a:spcAft>
                <a:spcPts val="600"/>
              </a:spcAft>
            </a:pPr>
            <a:r>
              <a:rPr lang="en-US" sz="900" b="1" dirty="0"/>
              <a:t>Business Model-</a:t>
            </a:r>
            <a:r>
              <a:rPr lang="en-US" sz="900" dirty="0"/>
              <a:t> Acquisition and development of resource-producing properties in oil and gas fields.</a:t>
            </a:r>
            <a:endParaRPr lang="en-IN" sz="900" dirty="0"/>
          </a:p>
        </p:txBody>
      </p:sp>
      <p:pic>
        <p:nvPicPr>
          <p:cNvPr id="66" name="Picture 65" descr="A picture containing silhouette, drawing&#10;&#10;Description automatically generated">
            <a:extLst>
              <a:ext uri="{FF2B5EF4-FFF2-40B4-BE49-F238E27FC236}">
                <a16:creationId xmlns:a16="http://schemas.microsoft.com/office/drawing/2014/main" id="{EE737DFC-E6A9-C078-024C-2C95E41A1C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6487" y="3376104"/>
            <a:ext cx="255264" cy="289065"/>
          </a:xfrm>
          <a:prstGeom prst="rect">
            <a:avLst/>
          </a:prstGeom>
        </p:spPr>
      </p:pic>
      <p:pic>
        <p:nvPicPr>
          <p:cNvPr id="67" name="Graphic 20" descr="Money">
            <a:extLst>
              <a:ext uri="{FF2B5EF4-FFF2-40B4-BE49-F238E27FC236}">
                <a16:creationId xmlns:a16="http://schemas.microsoft.com/office/drawing/2014/main" id="{0DF53924-4345-28C5-FFCC-A517BB4B4647}"/>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6487" y="2258856"/>
            <a:ext cx="308553" cy="296678"/>
          </a:xfrm>
          <a:prstGeom prst="rect">
            <a:avLst/>
          </a:prstGeom>
        </p:spPr>
      </p:pic>
      <p:pic>
        <p:nvPicPr>
          <p:cNvPr id="71" name="Picture 70" descr="A close up of a logo&#10;&#10;Description automatically generated">
            <a:extLst>
              <a:ext uri="{FF2B5EF4-FFF2-40B4-BE49-F238E27FC236}">
                <a16:creationId xmlns:a16="http://schemas.microsoft.com/office/drawing/2014/main" id="{0AEF2335-6974-CCA3-054E-E1DAB611C15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21797" y="1401823"/>
            <a:ext cx="300637" cy="310425"/>
          </a:xfrm>
          <a:prstGeom prst="rect">
            <a:avLst/>
          </a:prstGeom>
        </p:spPr>
      </p:pic>
      <p:cxnSp>
        <p:nvCxnSpPr>
          <p:cNvPr id="91" name="Straight Connector 90">
            <a:extLst>
              <a:ext uri="{FF2B5EF4-FFF2-40B4-BE49-F238E27FC236}">
                <a16:creationId xmlns:a16="http://schemas.microsoft.com/office/drawing/2014/main" id="{F06597B6-6F1D-9702-6CFC-ED6DEBD751D3}"/>
              </a:ext>
            </a:extLst>
          </p:cNvPr>
          <p:cNvCxnSpPr>
            <a:cxnSpLocks/>
          </p:cNvCxnSpPr>
          <p:nvPr/>
        </p:nvCxnSpPr>
        <p:spPr>
          <a:xfrm>
            <a:off x="211407" y="2160520"/>
            <a:ext cx="1899379" cy="0"/>
          </a:xfrm>
          <a:prstGeom prst="line">
            <a:avLst/>
          </a:prstGeom>
          <a:ln w="3175">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6C5CB9C9-D66F-E14E-0154-34001ECCCEAB}"/>
              </a:ext>
            </a:extLst>
          </p:cNvPr>
          <p:cNvCxnSpPr>
            <a:cxnSpLocks/>
          </p:cNvCxnSpPr>
          <p:nvPr/>
        </p:nvCxnSpPr>
        <p:spPr>
          <a:xfrm>
            <a:off x="211407" y="3248946"/>
            <a:ext cx="1899379" cy="0"/>
          </a:xfrm>
          <a:prstGeom prst="line">
            <a:avLst/>
          </a:prstGeom>
          <a:ln w="3175">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11E08C93-625B-FD8F-BF6B-BD9C4897C598}"/>
              </a:ext>
            </a:extLst>
          </p:cNvPr>
          <p:cNvSpPr/>
          <p:nvPr/>
        </p:nvSpPr>
        <p:spPr>
          <a:xfrm>
            <a:off x="90697" y="7906308"/>
            <a:ext cx="914400" cy="3080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pPr>
              <a:spcBef>
                <a:spcPts val="300"/>
              </a:spcBef>
              <a:spcAft>
                <a:spcPts val="300"/>
              </a:spcAft>
            </a:pPr>
            <a:r>
              <a:rPr lang="en-US" sz="1200" b="1" dirty="0">
                <a:solidFill>
                  <a:schemeClr val="tx1"/>
                </a:solidFill>
              </a:rPr>
              <a:t>Competitors</a:t>
            </a:r>
            <a:endParaRPr lang="en-US" sz="1050" dirty="0">
              <a:solidFill>
                <a:schemeClr val="tx1"/>
              </a:solidFill>
            </a:endParaRPr>
          </a:p>
        </p:txBody>
      </p:sp>
      <p:pic>
        <p:nvPicPr>
          <p:cNvPr id="126" name="Picture 2" descr="Antero Resources - Wikipedia">
            <a:extLst>
              <a:ext uri="{FF2B5EF4-FFF2-40B4-BE49-F238E27FC236}">
                <a16:creationId xmlns:a16="http://schemas.microsoft.com/office/drawing/2014/main" id="{474A0F78-BC68-CE80-F969-AA782AA4E35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42386" y="8503518"/>
            <a:ext cx="914400" cy="311134"/>
          </a:xfrm>
          <a:prstGeom prst="rect">
            <a:avLst/>
          </a:prstGeom>
          <a:noFill/>
          <a:extLst>
            <a:ext uri="{909E8E84-426E-40DD-AFC4-6F175D3DCCD1}">
              <a14:hiddenFill xmlns:a14="http://schemas.microsoft.com/office/drawing/2010/main">
                <a:solidFill>
                  <a:srgbClr val="FFFFFF"/>
                </a:solidFill>
              </a14:hiddenFill>
            </a:ext>
          </a:extLst>
        </p:spPr>
      </p:pic>
      <p:pic>
        <p:nvPicPr>
          <p:cNvPr id="127" name="Picture 126">
            <a:extLst>
              <a:ext uri="{FF2B5EF4-FFF2-40B4-BE49-F238E27FC236}">
                <a16:creationId xmlns:a16="http://schemas.microsoft.com/office/drawing/2014/main" id="{375EF8B2-0B08-C28C-1192-6065DB130802}"/>
              </a:ext>
            </a:extLst>
          </p:cNvPr>
          <p:cNvPicPr>
            <a:picLocks noChangeAspect="1"/>
          </p:cNvPicPr>
          <p:nvPr/>
        </p:nvPicPr>
        <p:blipFill>
          <a:blip r:embed="rId10" cstate="print">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1299569" y="8510014"/>
            <a:ext cx="914400" cy="234835"/>
          </a:xfrm>
          <a:prstGeom prst="rect">
            <a:avLst/>
          </a:prstGeom>
        </p:spPr>
      </p:pic>
      <p:pic>
        <p:nvPicPr>
          <p:cNvPr id="128" name="Picture 4">
            <a:extLst>
              <a:ext uri="{FF2B5EF4-FFF2-40B4-BE49-F238E27FC236}">
                <a16:creationId xmlns:a16="http://schemas.microsoft.com/office/drawing/2014/main" id="{803FB52F-3186-9D4D-B41C-4B90FB8824A3}"/>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472221" y="8541555"/>
            <a:ext cx="914400" cy="249382"/>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6" descr="Brigham Minerals, Inc. Stockholders Approve Merger with Sitio Royalties  Corp. | Business Wire">
            <a:extLst>
              <a:ext uri="{FF2B5EF4-FFF2-40B4-BE49-F238E27FC236}">
                <a16:creationId xmlns:a16="http://schemas.microsoft.com/office/drawing/2014/main" id="{40CB00D6-91A6-63E9-94E7-92A99CCBB12C}"/>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647692" y="8425204"/>
            <a:ext cx="9144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8" descr="Murphy Oil - Wikipedia">
            <a:extLst>
              <a:ext uri="{FF2B5EF4-FFF2-40B4-BE49-F238E27FC236}">
                <a16:creationId xmlns:a16="http://schemas.microsoft.com/office/drawing/2014/main" id="{BDD80BE0-6CAB-342A-165D-E8027114004C}"/>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823163" y="8426309"/>
            <a:ext cx="755703" cy="386219"/>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10">
            <a:extLst>
              <a:ext uri="{FF2B5EF4-FFF2-40B4-BE49-F238E27FC236}">
                <a16:creationId xmlns:a16="http://schemas.microsoft.com/office/drawing/2014/main" id="{C7969EFD-F723-ED5F-BA69-0545D1712104}"/>
              </a:ext>
            </a:extLst>
          </p:cNvPr>
          <p:cNvPicPr>
            <a:picLocks noChangeAspect="1" noChangeArrowheads="1"/>
          </p:cNvPicPr>
          <p:nvPr/>
        </p:nvPicPr>
        <p:blipFill rotWithShape="1">
          <a:blip r:embed="rId15" cstate="print">
            <a:extLst>
              <a:ext uri="{28A0092B-C50C-407E-A947-70E740481C1C}">
                <a14:useLocalDpi xmlns:a14="http://schemas.microsoft.com/office/drawing/2010/main" val="0"/>
              </a:ext>
            </a:extLst>
          </a:blip>
          <a:srcRect t="20769" b="28124"/>
          <a:stretch/>
        </p:blipFill>
        <p:spPr bwMode="auto">
          <a:xfrm>
            <a:off x="5805784" y="8392800"/>
            <a:ext cx="831273" cy="424841"/>
          </a:xfrm>
          <a:prstGeom prst="rect">
            <a:avLst/>
          </a:prstGeom>
          <a:noFill/>
          <a:extLst>
            <a:ext uri="{909E8E84-426E-40DD-AFC4-6F175D3DCCD1}">
              <a14:hiddenFill xmlns:a14="http://schemas.microsoft.com/office/drawing/2010/main">
                <a:solidFill>
                  <a:srgbClr val="FFFFFF"/>
                </a:solidFill>
              </a14:hiddenFill>
            </a:ext>
          </a:extLst>
        </p:spPr>
      </p:pic>
      <p:sp>
        <p:nvSpPr>
          <p:cNvPr id="70" name="Line"/>
          <p:cNvSpPr/>
          <p:nvPr/>
        </p:nvSpPr>
        <p:spPr>
          <a:xfrm flipV="1">
            <a:off x="-7621" y="5587908"/>
            <a:ext cx="6858000" cy="4485"/>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71437" tIns="71437" rIns="71437" bIns="71437" anchor="ctr"/>
          <a:lstStyle/>
          <a:p>
            <a:pPr>
              <a:defRPr sz="3000">
                <a:solidFill>
                  <a:srgbClr val="FFFFFF"/>
                </a:solidFill>
                <a:latin typeface="+mn-lt"/>
                <a:ea typeface="+mn-ea"/>
                <a:cs typeface="+mn-cs"/>
                <a:sym typeface="Helvetica Neue Medium"/>
              </a:defRPr>
            </a:pPr>
            <a:endParaRPr/>
          </a:p>
        </p:txBody>
      </p:sp>
      <p:sp>
        <p:nvSpPr>
          <p:cNvPr id="3" name="TextBox 2">
            <a:extLst>
              <a:ext uri="{FF2B5EF4-FFF2-40B4-BE49-F238E27FC236}">
                <a16:creationId xmlns:a16="http://schemas.microsoft.com/office/drawing/2014/main" id="{CB913DF7-EF7E-838A-B866-70A7D86DB605}"/>
              </a:ext>
            </a:extLst>
          </p:cNvPr>
          <p:cNvSpPr txBox="1"/>
          <p:nvPr/>
        </p:nvSpPr>
        <p:spPr>
          <a:xfrm>
            <a:off x="3475394" y="5706079"/>
            <a:ext cx="3191521" cy="461665"/>
          </a:xfrm>
          <a:prstGeom prst="rect">
            <a:avLst/>
          </a:prstGeom>
          <a:noFill/>
        </p:spPr>
        <p:txBody>
          <a:bodyPr wrap="square" rtlCol="0">
            <a:spAutoFit/>
          </a:bodyPr>
          <a:lstStyle/>
          <a:p>
            <a:r>
              <a:rPr lang="en-US" sz="800" b="1" dirty="0">
                <a:latin typeface="Calibri (Body)"/>
                <a:ea typeface="Source Sans Pro" panose="020B0503030403020204" pitchFamily="34" charset="0"/>
              </a:rPr>
              <a:t>Monthly Revenue, EBITDA, Cap-Ex, and Cash Flow after Funding and Investment</a:t>
            </a:r>
            <a:endParaRPr lang="en-IN" sz="800" b="1" dirty="0">
              <a:latin typeface="Calibri (Body)"/>
              <a:ea typeface="Source Sans Pro" panose="020B0503030403020204" pitchFamily="34" charset="0"/>
            </a:endParaRPr>
          </a:p>
          <a:p>
            <a:endParaRPr lang="en-IN" sz="800" dirty="0"/>
          </a:p>
        </p:txBody>
      </p:sp>
      <p:sp>
        <p:nvSpPr>
          <p:cNvPr id="100" name="TextBox 99">
            <a:extLst>
              <a:ext uri="{FF2B5EF4-FFF2-40B4-BE49-F238E27FC236}">
                <a16:creationId xmlns:a16="http://schemas.microsoft.com/office/drawing/2014/main" id="{A051AC35-5544-8945-65BF-430D957D4682}"/>
              </a:ext>
            </a:extLst>
          </p:cNvPr>
          <p:cNvSpPr txBox="1"/>
          <p:nvPr/>
        </p:nvSpPr>
        <p:spPr>
          <a:xfrm>
            <a:off x="910354" y="7926183"/>
            <a:ext cx="5816847" cy="519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defPPr>
              <a:defRPr lang="en-US"/>
            </a:defPPr>
            <a:lvl1pPr>
              <a:spcBef>
                <a:spcPts val="300"/>
              </a:spcBef>
              <a:spcAft>
                <a:spcPts val="300"/>
              </a:spcAft>
              <a:defRPr sz="9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0" dirty="0">
                <a:solidFill>
                  <a:schemeClr val="tx1"/>
                </a:solidFill>
              </a:rPr>
              <a:t>BRE’s competitors are oil and gas exploration companies that explore and produce oil and gas in the Rocky Mountain region and Kansas. These Companies range in size from small private companies to giant international oil companies. But the target of these companies is much less than ours. In addition, our company provides unique products to the market.</a:t>
            </a:r>
            <a:endParaRPr lang="en-IN" b="0" dirty="0">
              <a:solidFill>
                <a:schemeClr val="tx1"/>
              </a:solidFill>
            </a:endParaRPr>
          </a:p>
        </p:txBody>
      </p:sp>
      <p:pic>
        <p:nvPicPr>
          <p:cNvPr id="8" name="Picture 7">
            <a:extLst>
              <a:ext uri="{FF2B5EF4-FFF2-40B4-BE49-F238E27FC236}">
                <a16:creationId xmlns:a16="http://schemas.microsoft.com/office/drawing/2014/main" id="{FEBEBC2E-B40E-6F60-3134-65A38CB60F9B}"/>
              </a:ext>
            </a:extLst>
          </p:cNvPr>
          <p:cNvPicPr>
            <a:picLocks noChangeAspect="1"/>
          </p:cNvPicPr>
          <p:nvPr/>
        </p:nvPicPr>
        <p:blipFill rotWithShape="1">
          <a:blip r:embed="rId16"/>
          <a:srcRect l="1741"/>
          <a:stretch/>
        </p:blipFill>
        <p:spPr>
          <a:xfrm>
            <a:off x="3406509" y="6024208"/>
            <a:ext cx="3428036" cy="1947773"/>
          </a:xfrm>
          <a:prstGeom prst="rect">
            <a:avLst/>
          </a:prstGeom>
        </p:spPr>
      </p:pic>
    </p:spTree>
    <p:extLst>
      <p:ext uri="{BB962C8B-B14F-4D97-AF65-F5344CB8AC3E}">
        <p14:creationId xmlns:p14="http://schemas.microsoft.com/office/powerpoint/2010/main" val="38252043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8250</TotalTime>
  <Words>640</Words>
  <Application>Microsoft Office PowerPoint</Application>
  <PresentationFormat>A4 Paper (210x297 mm)</PresentationFormat>
  <Paragraphs>50</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MS Gothic</vt:lpstr>
      <vt:lpstr>Arial</vt:lpstr>
      <vt:lpstr>Calibri</vt:lpstr>
      <vt:lpstr>Calibri (Body)</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Chao</dc:creator>
  <cp:lastModifiedBy>Ken Voss</cp:lastModifiedBy>
  <cp:revision>69</cp:revision>
  <cp:lastPrinted>2024-12-09T22:54:50Z</cp:lastPrinted>
  <dcterms:created xsi:type="dcterms:W3CDTF">2020-03-31T05:41:08Z</dcterms:created>
  <dcterms:modified xsi:type="dcterms:W3CDTF">2025-01-22T20:02:59Z</dcterms:modified>
</cp:coreProperties>
</file>