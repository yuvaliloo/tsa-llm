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xlsm" ContentType="application/vnd.ms-excel.sheet.macroEnabled.12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  <p:sldMasterId id="2147483666" r:id="rId3"/>
    <p:sldMasterId id="2147483681" r:id="rId4"/>
  </p:sldMasterIdLst>
  <p:notesMasterIdLst>
    <p:notesMasterId r:id="rId18"/>
  </p:notesMasterIdLst>
  <p:sldIdLst>
    <p:sldId id="263" r:id="rId5"/>
    <p:sldId id="2147375669" r:id="rId6"/>
    <p:sldId id="2147375670" r:id="rId7"/>
    <p:sldId id="2147375671" r:id="rId8"/>
    <p:sldId id="2147375672" r:id="rId9"/>
    <p:sldId id="2147375673" r:id="rId10"/>
    <p:sldId id="2147375674" r:id="rId11"/>
    <p:sldId id="2147375675" r:id="rId12"/>
    <p:sldId id="2147375676" r:id="rId13"/>
    <p:sldId id="2147471630" r:id="rId14"/>
    <p:sldId id="2147471631" r:id="rId15"/>
    <p:sldId id="2147471632" r:id="rId16"/>
    <p:sldId id="730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0BCA2-AD73-4F8D-BF33-464CAD44F346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1A782-2C2C-4164-8EE2-D9E20288A5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599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xmlns="" id="{A99FA0A2-5A18-44DD-BA15-EF938C3BB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xmlns="" id="{9B722816-CE54-1BC7-00C6-1120DDE1DC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/>
              <a:t>Bem vindos a todos e a todas que estão aqui presentes e que estão online conosco.</a:t>
            </a:r>
          </a:p>
          <a:p>
            <a:r>
              <a:rPr lang="pt-BR" altLang="pt-BR"/>
              <a:t>Que bom termos tanta representatividade dos territórios e também das diversas áreas envolvidas no processo aqui neste momento.</a:t>
            </a:r>
          </a:p>
          <a:p>
            <a:r>
              <a:rPr lang="pt-BR" altLang="pt-BR"/>
              <a:t>Vocês devem ter observado que o convite menciona Fundos de Direitos e a Lei do Esporte. Mas convidamos também o ICV para integrar este 1º dia do Encontro.</a:t>
            </a:r>
          </a:p>
          <a:p>
            <a:r>
              <a:rPr lang="pt-BR" altLang="pt-BR"/>
              <a:t>Vamos iniciar com a rota de fuga e na sequência faremos o safety share.</a:t>
            </a:r>
          </a:p>
        </p:txBody>
      </p:sp>
      <p:sp>
        <p:nvSpPr>
          <p:cNvPr id="45060" name="Espaço Reservado para Número de Slide 3">
            <a:extLst>
              <a:ext uri="{FF2B5EF4-FFF2-40B4-BE49-F238E27FC236}">
                <a16:creationId xmlns:a16="http://schemas.microsoft.com/office/drawing/2014/main" xmlns="" id="{02428B68-08D2-A3D1-9856-7FC19ADC10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528E0B-24B9-4546-98C5-7E4D0DD0E1E0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ço Reservado para Imagem de Slide 1">
            <a:extLst>
              <a:ext uri="{FF2B5EF4-FFF2-40B4-BE49-F238E27FC236}">
                <a16:creationId xmlns:a16="http://schemas.microsoft.com/office/drawing/2014/main" xmlns="" id="{C0DE508D-B460-E794-BAC8-A4C588ABB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Espaço Reservado para Anotações 2">
            <a:extLst>
              <a:ext uri="{FF2B5EF4-FFF2-40B4-BE49-F238E27FC236}">
                <a16:creationId xmlns:a16="http://schemas.microsoft.com/office/drawing/2014/main" xmlns="" id="{C694016F-5206-4691-0582-A5EF5798F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87044" name="Espaço Reservado para Número de Slide 3">
            <a:extLst>
              <a:ext uri="{FF2B5EF4-FFF2-40B4-BE49-F238E27FC236}">
                <a16:creationId xmlns:a16="http://schemas.microsoft.com/office/drawing/2014/main" xmlns="" id="{D99901F3-6FD4-A30F-6D38-F0618B9FC1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1AF41B-1FB6-4D39-A879-974169609210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xmlns="" id="{5B715F64-452C-230F-9292-B95B42353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xmlns="" id="{88751167-8E74-E2F3-C360-4A9559E47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1444" name="Espaço Reservado para Número de Slide 3">
            <a:extLst>
              <a:ext uri="{FF2B5EF4-FFF2-40B4-BE49-F238E27FC236}">
                <a16:creationId xmlns:a16="http://schemas.microsoft.com/office/drawing/2014/main" xmlns="" id="{86C709A1-17B0-7179-8FEA-F26F85D4F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240B49-A660-400E-9CE9-BEBCF8F47D07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355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xmlns="" id="{5B715F64-452C-230F-9292-B95B42353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xmlns="" id="{88751167-8E74-E2F3-C360-4A9559E47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1444" name="Espaço Reservado para Número de Slide 3">
            <a:extLst>
              <a:ext uri="{FF2B5EF4-FFF2-40B4-BE49-F238E27FC236}">
                <a16:creationId xmlns:a16="http://schemas.microsoft.com/office/drawing/2014/main" xmlns="" id="{86C709A1-17B0-7179-8FEA-F26F85D4F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240B49-A660-400E-9CE9-BEBCF8F47D07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678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>
            <a:extLst>
              <a:ext uri="{FF2B5EF4-FFF2-40B4-BE49-F238E27FC236}">
                <a16:creationId xmlns:a16="http://schemas.microsoft.com/office/drawing/2014/main" xmlns="" id="{5B715F64-452C-230F-9292-B95B42353B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ço Reservado para Anotações 2">
            <a:extLst>
              <a:ext uri="{FF2B5EF4-FFF2-40B4-BE49-F238E27FC236}">
                <a16:creationId xmlns:a16="http://schemas.microsoft.com/office/drawing/2014/main" xmlns="" id="{88751167-8E74-E2F3-C360-4A9559E47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61444" name="Espaço Reservado para Número de Slide 3">
            <a:extLst>
              <a:ext uri="{FF2B5EF4-FFF2-40B4-BE49-F238E27FC236}">
                <a16:creationId xmlns:a16="http://schemas.microsoft.com/office/drawing/2014/main" xmlns="" id="{86C709A1-17B0-7179-8FEA-F26F85D4F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240B49-A660-400E-9CE9-BEBCF8F47D07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>
            <a:extLst>
              <a:ext uri="{FF2B5EF4-FFF2-40B4-BE49-F238E27FC236}">
                <a16:creationId xmlns:a16="http://schemas.microsoft.com/office/drawing/2014/main" xmlns="" id="{0372E8A4-9607-483F-A678-F3464ADDC3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Espaço Reservado para Anotações 2">
            <a:extLst>
              <a:ext uri="{FF2B5EF4-FFF2-40B4-BE49-F238E27FC236}">
                <a16:creationId xmlns:a16="http://schemas.microsoft.com/office/drawing/2014/main" xmlns="" id="{83C0FD1D-CFCC-4095-B9DC-242B10140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xmlns="" id="{C3A51A69-1C6D-4B5A-A182-5468EFD39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4FCBC9-DDE2-4011-AA91-A60D756C64FD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Espaço Reservado para Imagem de Slide 1">
            <a:extLst>
              <a:ext uri="{FF2B5EF4-FFF2-40B4-BE49-F238E27FC236}">
                <a16:creationId xmlns:a16="http://schemas.microsoft.com/office/drawing/2014/main" xmlns="" id="{E6FDD3A7-6C6D-4FE7-C93A-115A60B30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1" name="Espaço Reservado para Anotações 2">
            <a:extLst>
              <a:ext uri="{FF2B5EF4-FFF2-40B4-BE49-F238E27FC236}">
                <a16:creationId xmlns:a16="http://schemas.microsoft.com/office/drawing/2014/main" xmlns="" id="{6FBFEE0F-B1BD-45DB-CFCB-55E1764C9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30052" name="Espaço Reservado para Número de Slide 3">
            <a:extLst>
              <a:ext uri="{FF2B5EF4-FFF2-40B4-BE49-F238E27FC236}">
                <a16:creationId xmlns:a16="http://schemas.microsoft.com/office/drawing/2014/main" xmlns="" id="{8A4C7F22-A53D-C2D2-563F-5D028DFEC4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A013F-6C1B-47ED-972D-9FAAD118A497}" type="slidenum">
              <a:rPr kumimoji="0" lang="en-US" alt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6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90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8175A44-308C-3B45-1525-E001D25D9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814B688-32D9-2820-4965-9CFA4958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74D2AEF-18D8-ABB9-DAE7-6C9D4FB9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35184-6F42-4B5D-A70C-A0C851F1C43D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81E013F6-C8FF-EA2D-E848-BA429235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781D63E4-F2D5-2982-A349-A1FB1078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CFA9-3AC2-4EA8-A622-EA62B024E4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55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2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430F0973-DBCC-5C93-73AB-96155513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F23D5-A830-4A68-8C23-379B18C9AFC7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2562BACB-2F82-3400-704C-5E3D208D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C0E061D-515E-506D-7A20-0B58B5D9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15FFB-90E7-425A-83D6-F083FE5ACB8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70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D0931928-5080-97FB-BB9B-A348F934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B76F36-8EBF-484C-B048-87F753A8691B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C67E450-EEAD-9878-EDAB-C4F2E814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ED28FE2F-436B-6827-F9CB-0D700025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58B08-B562-4848-AE39-2E6DD6F40C5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30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C7DA24AF-0216-7CCD-6D17-6A37ECE0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9EF00-8886-47D0-852F-EB93475DE8E0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07073EF-46C9-10EB-FCC5-52578791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7F20A57-E1F2-F80A-A5CE-9E33AC88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CC958-5D64-4A32-89E8-BFFC65BDCF4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14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xmlns="" id="{E981410C-C16E-9DCC-FEB7-BC95042D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5427B-CE4A-4F31-BF68-B9C624E29C71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xmlns="" id="{E0B8CD38-1D36-8456-5BD1-A552C2B2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xmlns="" id="{DC8C65B6-2F5E-FF51-951B-ECE3CB3E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83F5C-07D7-4F49-9017-AEC27E124D3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84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xmlns="" id="{B01FB6C5-F4A7-419C-98E9-8FB07995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7D44C-80F9-4670-A0B4-21FE0D365224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xmlns="" id="{46B241DC-71CB-F067-6E9B-F9582376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xmlns="" id="{7055023B-F53E-EAAC-D141-BAA63912C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F0EBA-BC60-4B18-BA18-CA4020E6522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86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xmlns="" id="{15A737C1-9956-6887-207D-C1DE0ADD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74942-7FE6-4DDF-A07C-CB80B681CFDF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xmlns="" id="{AD785F94-2631-0309-9E9F-94CB1FE9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xmlns="" id="{D9468CEC-944E-E589-4939-072CB95CA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8E765-19F7-40E1-8DFC-E89D61160FA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46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xmlns="" id="{3A3E1FD8-482D-C033-E7F1-5B60FB19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5B9B7-B671-4461-B0CD-2E73258A5438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xmlns="" id="{D2F21CA0-5E4E-8BA9-08B0-8991639D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xmlns="" id="{8A87E548-7AF3-1D05-0A8F-FA643C0B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1B80A-F91D-4D41-873E-9F2E8682D6A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71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xmlns="" id="{703D2096-5A5D-D7A7-3903-2F42D98B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FF430-A5C9-4450-B603-FCB00B87442F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xmlns="" id="{10845701-6676-74AB-86F9-6AB2E0A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xmlns="" id="{598C6EB6-15EB-BD40-386B-E6D81999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7A497-31D2-41BA-B806-5B10CFBADF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586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xmlns="" id="{72E7CBCE-958C-A01D-2C4E-BF61625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11C8E-F0A8-421C-A4E6-BAA4E714B9B2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xmlns="" id="{6762FD2B-23B4-6A08-0038-60A43714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xmlns="" id="{EA9188DC-3B46-C5E2-B71E-AC74F082A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44CD8-9071-4F99-9D54-9F70CD48EEE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95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62084BBC-D009-2467-7069-ACBC70D3E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81AE5-5051-4AF8-8E1B-7F3CFD99C462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F4304F25-9DDF-4E3C-919D-4602FED0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C0F93C9-3E38-2A72-6C38-333A23D2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E7EC5-3B9D-47E8-A713-6321714DEFE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8154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EA5C7A3A-C4D1-7BFD-FEEB-E746147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E8DB2-26CF-4080-9181-9199D634819A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0349754-9AAE-921D-D353-DB4617A7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EE72C69F-24A4-95A7-2EF9-9336706B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E203F-9B76-41F6-B467-EBA098CE6FC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012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396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xmlns="" id="{CBC1016E-56B4-EB5A-F932-7A3F577CFE49}"/>
              </a:ext>
            </a:extLst>
          </p:cNvPr>
          <p:cNvCxnSpPr/>
          <p:nvPr userDrawn="1"/>
        </p:nvCxnSpPr>
        <p:spPr>
          <a:xfrm>
            <a:off x="2970213" y="746125"/>
            <a:ext cx="0" cy="4603750"/>
          </a:xfrm>
          <a:prstGeom prst="line">
            <a:avLst/>
          </a:prstGeom>
          <a:ln w="76200">
            <a:solidFill>
              <a:srgbClr val="EDB1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6588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xmlns="" id="{01BBF427-43D1-981C-0565-4B9603369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xmlns="" id="{F21FBCD5-70DE-3BC0-33EF-2B5EC65D3AC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A225D59-4394-480D-9C40-E7D1DE86D2EB}" type="datetimeFigureOut">
              <a:rPr lang="en-US"/>
              <a:pPr>
                <a:defRPr/>
              </a:pPr>
              <a:t>9/14/2023</a:t>
            </a:fld>
            <a:endParaRPr 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xmlns="" id="{A1FCDC1B-BC23-6903-90DF-979E55BC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8A25FF4-06FF-48B9-A376-E019F938F2E5}" type="slidenum">
              <a:rPr/>
              <a:pPr>
                <a:defRPr/>
              </a:pPr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6780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5DAEBB4-3810-8227-58C0-BCB2102DD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A47CC9A1-87CA-B173-5393-C866086C6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4B1144B9-C448-FCE0-466C-C577E2DB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84D01F6E-5279-5710-5C4D-A41FACC3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76F7192-3417-10E8-E3E8-708B0AA2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2030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33B77CA-996E-158D-FB1E-7BEBF7D6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46E9A55-8157-6055-14F2-6EAA4BB49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7D107C6-D88F-BF4D-6337-5B41158B1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48A64C0E-17DD-2063-1AEA-E7D7ADCB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C11F832F-76F5-4D55-AB34-E5DD01FB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19567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10C6D2-E271-A2BF-DF73-6019F5960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5E828558-F901-4D9F-510D-633B7903E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0685A218-A4BC-AC40-4FE5-5DD6EED5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3BC8850-ABA9-3374-7114-3974E80B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92FB598C-4E0C-184B-A485-6712B7D5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9443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C6C64FA-2B8C-8999-5831-2BEFF04F5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B188C4A-759E-616B-99CA-C5EFEC042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C9223610-5910-CE7C-5747-25FB62368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4E2A4AA7-3BF9-08AD-29C6-732B61F5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368C132-1DD4-1EF1-5EEC-E53B9A81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607BFD7F-4DA1-7C57-6FF8-1600D4E2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7602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E1E9F43-158A-A72F-917F-51FC913B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1D495924-3C73-6D21-3866-E19FF56B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DD0C628-8C96-6BB4-86BE-4C8FD542B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BCE2255C-AB10-9E3A-5F61-7DF917829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2A9052A0-7F05-7C3D-F365-0258C4DA8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537BD696-7021-568E-05C8-91A9A6127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A5900B42-2888-66DC-2E5C-083EF5C86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61AC4012-6216-8009-93B9-3DD2D6607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489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36B7746-5D1E-2F5F-9E33-83466CF7D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E8F234D7-50B1-DE89-CAF1-A680A52F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C37516DC-7CF9-11A7-9DD6-3D0D08DF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A3E715D0-C937-7C4F-1FF1-A2E1A6FE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7832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889208A2-AFA9-6356-3E8D-265DCFBC1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69FE3609-60EE-E47A-7363-FC2B2800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DDC922AB-A4CB-1C9C-D54D-ED3518A2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98029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F2712EE-0137-B71F-04B5-F7BCD69B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97657A6-8652-5A69-191C-18F9C1DBF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CDCD38D5-A6D4-C6C3-9A6D-3575C5F37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F5E93D9-C664-5395-484E-D13E9195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D28F7BD0-F8F1-2375-874E-EC47DC48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56A38A79-9A25-1C7F-976B-3F811D15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43028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55A8046-4B77-409E-9E00-4AAC3EED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F22C64FB-AFAC-D7F3-BD0E-C3F044062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C55A12AD-419A-1F04-3AB5-C3149C0EB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3CAAC475-F7F2-54A9-8D33-A863D381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82DA7C9F-E996-1F5E-4E16-12FDFE7F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1B74563D-B576-1A0A-082A-90FDD991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815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DC80527-9970-9A9E-9DED-F956625C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506F3F2D-ADCA-1DA2-DC3E-081409E1A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027B95C6-7783-797A-C13C-DA811A6D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FD910698-AB4A-82A8-67F7-7AB2B09B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0462681-C4F9-4146-ECBB-9EBAB337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243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B85C65A7-E8EA-FA84-BD37-F1CA3588E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2D230472-B037-BD8A-B3D0-BC52BA7B3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9C9AABA-785A-DC71-23BE-EA110FA63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6745CCB-E59A-EC32-B854-FC805A14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AA86F397-556E-2DA1-6F49-ADBD4457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08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5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381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73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ecilia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xmlns="" id="{FAE1E597-3B15-7C07-DAD9-A1DC050FD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xmlns="" id="{D90B74D0-4A28-9E0A-176C-B41C8BE69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008375E-3A0F-8A55-FA93-6CF997331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43E3A2-C9A5-46C4-BD76-E17F71AA71B1}" type="datetimeFigureOut">
              <a:rPr lang="pt-BR"/>
              <a:pPr>
                <a:defRPr/>
              </a:pPr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897DDCB9-8A79-0C1B-13DF-8877F6D42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62F5AD0-8368-463C-ED7C-64936BCE5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FDAB06B-FC2A-4603-91EB-15DFCFAD205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86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AB767C13-B6AD-2937-17A3-6C7AE538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72336399-8AEB-6285-BAAC-BDF850589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7B0D71A-A9D3-1BC5-AA21-6EA7943EE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4C1F1-2DA9-4004-82AC-4ED3DDEFE1FE}" type="datetimeFigureOut">
              <a:rPr lang="pt-BR" smtClean="0"/>
              <a:t>14/09/2023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B5C1460-2A83-0833-62CE-436116A6B9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933351F-A2CB-1CAA-EA32-894C54AF2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E12B4-6403-4540-84B5-C489C4FA36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3811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4.xml"/><Relationship Id="rId7" Type="http://schemas.openxmlformats.org/officeDocument/2006/relationships/package" Target="../embeddings/Planilha_Habilitada_para_Macros_do_Microsoft_Excel1.xlsm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0.xml"/><Relationship Id="rId7" Type="http://schemas.openxmlformats.org/officeDocument/2006/relationships/image" Target="../media/image4.emf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11.xml"/><Relationship Id="rId9" Type="http://schemas.openxmlformats.org/officeDocument/2006/relationships/package" Target="../embeddings/Planilha_do_Microsoft_Excel2.xls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9.emf"/><Relationship Id="rId3" Type="http://schemas.openxmlformats.org/officeDocument/2006/relationships/tags" Target="../tags/tag12.xml"/><Relationship Id="rId7" Type="http://schemas.openxmlformats.org/officeDocument/2006/relationships/image" Target="../media/image4.emf"/><Relationship Id="rId12" Type="http://schemas.openxmlformats.org/officeDocument/2006/relationships/package" Target="../embeddings/Planilha_do_Microsoft_Excel4.xlsx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9.bin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8.emf"/><Relationship Id="rId4" Type="http://schemas.openxmlformats.org/officeDocument/2006/relationships/slideLayout" Target="../slideLayouts/slideLayout11.xml"/><Relationship Id="rId9" Type="http://schemas.openxmlformats.org/officeDocument/2006/relationships/package" Target="../embeddings/Planilha_do_Microsoft_Excel3.xls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4.emf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Imagem 3" descr="Grupo de pessoas em pé&#10;&#10;Descrição gerada automaticamente com confiança baixa">
            <a:extLst>
              <a:ext uri="{FF2B5EF4-FFF2-40B4-BE49-F238E27FC236}">
                <a16:creationId xmlns:a16="http://schemas.microsoft.com/office/drawing/2014/main" xmlns="" id="{B23BA07F-E535-B1E1-BB17-E1FD73FE9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788" y="-61913"/>
            <a:ext cx="60182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Forma Livre: Forma 20">
            <a:extLst>
              <a:ext uri="{FF2B5EF4-FFF2-40B4-BE49-F238E27FC236}">
                <a16:creationId xmlns:a16="http://schemas.microsoft.com/office/drawing/2014/main" xmlns="" id="{47E71401-548B-1F03-1731-2E346BB15CE1}"/>
              </a:ext>
            </a:extLst>
          </p:cNvPr>
          <p:cNvSpPr/>
          <p:nvPr/>
        </p:nvSpPr>
        <p:spPr>
          <a:xfrm>
            <a:off x="0" y="-61913"/>
            <a:ext cx="7315200" cy="6915150"/>
          </a:xfrm>
          <a:custGeom>
            <a:avLst/>
            <a:gdLst>
              <a:gd name="connsiteX0" fmla="*/ 5536504 w 5799551"/>
              <a:gd name="connsiteY0" fmla="*/ 0 h 6889315"/>
              <a:gd name="connsiteX1" fmla="*/ 0 w 5799551"/>
              <a:gd name="connsiteY1" fmla="*/ 0 h 6889315"/>
              <a:gd name="connsiteX2" fmla="*/ 0 w 5799551"/>
              <a:gd name="connsiteY2" fmla="*/ 6889315 h 6889315"/>
              <a:gd name="connsiteX3" fmla="*/ 4271375 w 5799551"/>
              <a:gd name="connsiteY3" fmla="*/ 6889315 h 6889315"/>
              <a:gd name="connsiteX4" fmla="*/ 4271375 w 5799551"/>
              <a:gd name="connsiteY4" fmla="*/ 2680570 h 6889315"/>
              <a:gd name="connsiteX5" fmla="*/ 5799551 w 5799551"/>
              <a:gd name="connsiteY5" fmla="*/ 12526 h 6889315"/>
              <a:gd name="connsiteX6" fmla="*/ 5536504 w 5799551"/>
              <a:gd name="connsiteY6" fmla="*/ 0 h 6889315"/>
              <a:gd name="connsiteX0" fmla="*/ 7753611 w 8016658"/>
              <a:gd name="connsiteY0" fmla="*/ 25052 h 6914367"/>
              <a:gd name="connsiteX1" fmla="*/ 0 w 8016658"/>
              <a:gd name="connsiteY1" fmla="*/ 0 h 6914367"/>
              <a:gd name="connsiteX2" fmla="*/ 2217107 w 8016658"/>
              <a:gd name="connsiteY2" fmla="*/ 6914367 h 6914367"/>
              <a:gd name="connsiteX3" fmla="*/ 6488482 w 8016658"/>
              <a:gd name="connsiteY3" fmla="*/ 6914367 h 6914367"/>
              <a:gd name="connsiteX4" fmla="*/ 6488482 w 8016658"/>
              <a:gd name="connsiteY4" fmla="*/ 2705622 h 6914367"/>
              <a:gd name="connsiteX5" fmla="*/ 8016658 w 8016658"/>
              <a:gd name="connsiteY5" fmla="*/ 37578 h 6914367"/>
              <a:gd name="connsiteX6" fmla="*/ 7753611 w 8016658"/>
              <a:gd name="connsiteY6" fmla="*/ 25052 h 6914367"/>
              <a:gd name="connsiteX0" fmla="*/ 7753611 w 8016658"/>
              <a:gd name="connsiteY0" fmla="*/ 25052 h 6914367"/>
              <a:gd name="connsiteX1" fmla="*/ 0 w 8016658"/>
              <a:gd name="connsiteY1" fmla="*/ 0 h 6914367"/>
              <a:gd name="connsiteX2" fmla="*/ 12526 w 8016658"/>
              <a:gd name="connsiteY2" fmla="*/ 6901841 h 6914367"/>
              <a:gd name="connsiteX3" fmla="*/ 6488482 w 8016658"/>
              <a:gd name="connsiteY3" fmla="*/ 6914367 h 6914367"/>
              <a:gd name="connsiteX4" fmla="*/ 6488482 w 8016658"/>
              <a:gd name="connsiteY4" fmla="*/ 2705622 h 6914367"/>
              <a:gd name="connsiteX5" fmla="*/ 8016658 w 8016658"/>
              <a:gd name="connsiteY5" fmla="*/ 37578 h 6914367"/>
              <a:gd name="connsiteX6" fmla="*/ 7753611 w 8016658"/>
              <a:gd name="connsiteY6" fmla="*/ 25052 h 6914367"/>
              <a:gd name="connsiteX0" fmla="*/ 7766692 w 8029739"/>
              <a:gd name="connsiteY0" fmla="*/ 25052 h 6914367"/>
              <a:gd name="connsiteX1" fmla="*/ 13081 w 8029739"/>
              <a:gd name="connsiteY1" fmla="*/ 0 h 6914367"/>
              <a:gd name="connsiteX2" fmla="*/ 555 w 8029739"/>
              <a:gd name="connsiteY2" fmla="*/ 6914367 h 6914367"/>
              <a:gd name="connsiteX3" fmla="*/ 6501563 w 8029739"/>
              <a:gd name="connsiteY3" fmla="*/ 6914367 h 6914367"/>
              <a:gd name="connsiteX4" fmla="*/ 6501563 w 8029739"/>
              <a:gd name="connsiteY4" fmla="*/ 2705622 h 6914367"/>
              <a:gd name="connsiteX5" fmla="*/ 8029739 w 8029739"/>
              <a:gd name="connsiteY5" fmla="*/ 37578 h 6914367"/>
              <a:gd name="connsiteX6" fmla="*/ 7766692 w 8029739"/>
              <a:gd name="connsiteY6" fmla="*/ 25052 h 691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29739" h="6914367">
                <a:moveTo>
                  <a:pt x="7766692" y="25052"/>
                </a:moveTo>
                <a:lnTo>
                  <a:pt x="13081" y="0"/>
                </a:lnTo>
                <a:cubicBezTo>
                  <a:pt x="17256" y="2300614"/>
                  <a:pt x="-3620" y="4613753"/>
                  <a:pt x="555" y="6914367"/>
                </a:cubicBezTo>
                <a:lnTo>
                  <a:pt x="6501563" y="6914367"/>
                </a:lnTo>
                <a:lnTo>
                  <a:pt x="6501563" y="2705622"/>
                </a:lnTo>
                <a:lnTo>
                  <a:pt x="8029739" y="37578"/>
                </a:lnTo>
                <a:lnTo>
                  <a:pt x="7766692" y="250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36" name="CaixaDeTexto 21">
            <a:extLst>
              <a:ext uri="{FF2B5EF4-FFF2-40B4-BE49-F238E27FC236}">
                <a16:creationId xmlns:a16="http://schemas.microsoft.com/office/drawing/2014/main" xmlns="" id="{ECFE2886-FB76-B570-40CE-F1DCC7C7F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2546110"/>
            <a:ext cx="4213902" cy="2077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pt-BR" sz="3000" b="1" dirty="0">
                <a:solidFill>
                  <a:srgbClr val="287072"/>
                </a:solidFill>
                <a:latin typeface="Vale Sans" panose="020B0503020204030204" pitchFamily="34" charset="0"/>
              </a:rPr>
              <a:t>Documentos dos Fundos de Direitos necessários para destinação incentivada 2023</a:t>
            </a:r>
            <a:endParaRPr kumimoji="0" lang="pt-BR" altLang="pt-BR" sz="3000" b="0" i="0" u="none" strike="noStrike" kern="1200" cap="none" spc="0" normalizeH="0" baseline="0" noProof="0" dirty="0">
              <a:ln>
                <a:noFill/>
              </a:ln>
              <a:solidFill>
                <a:srgbClr val="007E7A"/>
              </a:solidFill>
              <a:effectLst/>
              <a:uLnTx/>
              <a:uFillTx/>
              <a:latin typeface="Vale Sans Semibold" pitchFamily="34" charset="0"/>
            </a:endParaRPr>
          </a:p>
        </p:txBody>
      </p:sp>
      <p:sp>
        <p:nvSpPr>
          <p:cNvPr id="44038" name="Forma Livre: Forma 27">
            <a:extLst>
              <a:ext uri="{FF2B5EF4-FFF2-40B4-BE49-F238E27FC236}">
                <a16:creationId xmlns:a16="http://schemas.microsoft.com/office/drawing/2014/main" xmlns="" id="{E69C0569-AAD6-C995-3D33-B125472735C9}"/>
              </a:ext>
            </a:extLst>
          </p:cNvPr>
          <p:cNvSpPr>
            <a:spLocks/>
          </p:cNvSpPr>
          <p:nvPr/>
        </p:nvSpPr>
        <p:spPr bwMode="auto">
          <a:xfrm rot="10324420">
            <a:off x="3933825" y="-361950"/>
            <a:ext cx="2992438" cy="7577138"/>
          </a:xfrm>
          <a:custGeom>
            <a:avLst/>
            <a:gdLst>
              <a:gd name="T0" fmla="*/ 1671687 w 3128658"/>
              <a:gd name="T1" fmla="*/ 60619 h 7558888"/>
              <a:gd name="T2" fmla="*/ 1595308 w 3128658"/>
              <a:gd name="T3" fmla="*/ 235766 h 7558888"/>
              <a:gd name="T4" fmla="*/ 1330330 w 3128658"/>
              <a:gd name="T5" fmla="*/ 974538 h 7558888"/>
              <a:gd name="T6" fmla="*/ 1155097 w 3128658"/>
              <a:gd name="T7" fmla="*/ 1635148 h 7558888"/>
              <a:gd name="T8" fmla="*/ 1072843 w 3128658"/>
              <a:gd name="T9" fmla="*/ 2049932 h 7558888"/>
              <a:gd name="T10" fmla="*/ 1010858 w 3128658"/>
              <a:gd name="T11" fmla="*/ 2477099 h 7558888"/>
              <a:gd name="T12" fmla="*/ 995142 w 3128658"/>
              <a:gd name="T13" fmla="*/ 2621808 h 7558888"/>
              <a:gd name="T14" fmla="*/ 971932 w 3128658"/>
              <a:gd name="T15" fmla="*/ 2914326 h 7558888"/>
              <a:gd name="T16" fmla="*/ 964736 w 3128658"/>
              <a:gd name="T17" fmla="*/ 3061874 h 7558888"/>
              <a:gd name="T18" fmla="*/ 1043465 w 3128658"/>
              <a:gd name="T19" fmla="*/ 4385933 h 7558888"/>
              <a:gd name="T20" fmla="*/ 1077396 w 3128658"/>
              <a:gd name="T21" fmla="*/ 4570370 h 7558888"/>
              <a:gd name="T22" fmla="*/ 1089881 w 3128658"/>
              <a:gd name="T23" fmla="*/ 4630986 h 7558888"/>
              <a:gd name="T24" fmla="*/ 1127777 w 3128658"/>
              <a:gd name="T25" fmla="*/ 4793752 h 7558888"/>
              <a:gd name="T26" fmla="*/ 1158916 w 3128658"/>
              <a:gd name="T27" fmla="*/ 4937172 h 7558888"/>
              <a:gd name="T28" fmla="*/ 1110590 w 3128658"/>
              <a:gd name="T29" fmla="*/ 4972771 h 7558888"/>
              <a:gd name="T30" fmla="*/ 1034799 w 3128658"/>
              <a:gd name="T31" fmla="*/ 5020233 h 7558888"/>
              <a:gd name="T32" fmla="*/ 994407 w 3128658"/>
              <a:gd name="T33" fmla="*/ 5049381 h 7558888"/>
              <a:gd name="T34" fmla="*/ 481781 w 3128658"/>
              <a:gd name="T35" fmla="*/ 5588240 h 7558888"/>
              <a:gd name="T36" fmla="*/ 77118 w 3128658"/>
              <a:gd name="T37" fmla="*/ 6572578 h 7558888"/>
              <a:gd name="T38" fmla="*/ 18217 w 3128658"/>
              <a:gd name="T39" fmla="*/ 7780820 h 7558888"/>
              <a:gd name="T40" fmla="*/ 180671 w 3128658"/>
              <a:gd name="T41" fmla="*/ 7197595 h 7558888"/>
              <a:gd name="T42" fmla="*/ 596057 w 3128658"/>
              <a:gd name="T43" fmla="*/ 5826329 h 7558888"/>
              <a:gd name="T44" fmla="*/ 1063147 w 3128658"/>
              <a:gd name="T45" fmla="*/ 5336224 h 7558888"/>
              <a:gd name="T46" fmla="*/ 1099722 w 3128658"/>
              <a:gd name="T47" fmla="*/ 5309912 h 7558888"/>
              <a:gd name="T48" fmla="*/ 1128070 w 3128658"/>
              <a:gd name="T49" fmla="*/ 5290825 h 7558888"/>
              <a:gd name="T50" fmla="*/ 1277452 w 3128658"/>
              <a:gd name="T51" fmla="*/ 5192027 h 7558888"/>
              <a:gd name="T52" fmla="*/ 1309326 w 3128658"/>
              <a:gd name="T53" fmla="*/ 5164171 h 7558888"/>
              <a:gd name="T54" fmla="*/ 1362792 w 3128658"/>
              <a:gd name="T55" fmla="*/ 5094008 h 7558888"/>
              <a:gd name="T56" fmla="*/ 1321221 w 3128658"/>
              <a:gd name="T57" fmla="*/ 4790658 h 7558888"/>
              <a:gd name="T58" fmla="*/ 1284502 w 3128658"/>
              <a:gd name="T59" fmla="*/ 4645946 h 7558888"/>
              <a:gd name="T60" fmla="*/ 1249985 w 3128658"/>
              <a:gd name="T61" fmla="*/ 4494789 h 7558888"/>
              <a:gd name="T62" fmla="*/ 1234561 w 3128658"/>
              <a:gd name="T63" fmla="*/ 4410439 h 7558888"/>
              <a:gd name="T64" fmla="*/ 1137325 w 3128658"/>
              <a:gd name="T65" fmla="*/ 3219223 h 7558888"/>
              <a:gd name="T66" fmla="*/ 1144227 w 3128658"/>
              <a:gd name="T67" fmla="*/ 3014152 h 7558888"/>
              <a:gd name="T68" fmla="*/ 1157446 w 3128658"/>
              <a:gd name="T69" fmla="*/ 2809854 h 7558888"/>
              <a:gd name="T70" fmla="*/ 1176395 w 3128658"/>
              <a:gd name="T71" fmla="*/ 2606591 h 7558888"/>
              <a:gd name="T72" fmla="*/ 1201218 w 3128658"/>
              <a:gd name="T73" fmla="*/ 2404873 h 7558888"/>
              <a:gd name="T74" fmla="*/ 1291992 w 3128658"/>
              <a:gd name="T75" fmla="*/ 1877622 h 7558888"/>
              <a:gd name="T76" fmla="*/ 1349865 w 3128658"/>
              <a:gd name="T77" fmla="*/ 1620703 h 7558888"/>
              <a:gd name="T78" fmla="*/ 1648625 w 3128658"/>
              <a:gd name="T79" fmla="*/ 646424 h 7558888"/>
              <a:gd name="T80" fmla="*/ 1785671 w 3128658"/>
              <a:gd name="T81" fmla="*/ 309025 h 7558888"/>
              <a:gd name="T82" fmla="*/ 1699889 w 3128658"/>
              <a:gd name="T83" fmla="*/ 0 h 755888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128658" h="7558888">
                <a:moveTo>
                  <a:pt x="2900118" y="752"/>
                </a:moveTo>
                <a:cubicBezTo>
                  <a:pt x="2881825" y="22052"/>
                  <a:pt x="2867541" y="39594"/>
                  <a:pt x="2852004" y="58889"/>
                </a:cubicBezTo>
                <a:lnTo>
                  <a:pt x="2807399" y="115273"/>
                </a:lnTo>
                <a:cubicBezTo>
                  <a:pt x="2778330" y="153112"/>
                  <a:pt x="2749762" y="190952"/>
                  <a:pt x="2721696" y="229042"/>
                </a:cubicBezTo>
                <a:cubicBezTo>
                  <a:pt x="2665814" y="305473"/>
                  <a:pt x="2611686" y="382906"/>
                  <a:pt x="2560063" y="461592"/>
                </a:cubicBezTo>
                <a:cubicBezTo>
                  <a:pt x="2456067" y="618965"/>
                  <a:pt x="2359339" y="780848"/>
                  <a:pt x="2269626" y="946741"/>
                </a:cubicBezTo>
                <a:cubicBezTo>
                  <a:pt x="2179663" y="1112383"/>
                  <a:pt x="2097469" y="1282786"/>
                  <a:pt x="2024296" y="1457199"/>
                </a:cubicBezTo>
                <a:cubicBezTo>
                  <a:pt x="2005501" y="1500551"/>
                  <a:pt x="1987208" y="1544154"/>
                  <a:pt x="1970669" y="1588509"/>
                </a:cubicBezTo>
                <a:cubicBezTo>
                  <a:pt x="1953879" y="1632864"/>
                  <a:pt x="1936087" y="1676718"/>
                  <a:pt x="1919798" y="1721073"/>
                </a:cubicBezTo>
                <a:cubicBezTo>
                  <a:pt x="1888725" y="1810785"/>
                  <a:pt x="1856649" y="1899997"/>
                  <a:pt x="1830337" y="1991463"/>
                </a:cubicBezTo>
                <a:cubicBezTo>
                  <a:pt x="1801017" y="2081927"/>
                  <a:pt x="1779216" y="2174647"/>
                  <a:pt x="1754908" y="2266614"/>
                </a:cubicBezTo>
                <a:cubicBezTo>
                  <a:pt x="1744133" y="2312974"/>
                  <a:pt x="1734610" y="2359835"/>
                  <a:pt x="1724586" y="2406445"/>
                </a:cubicBezTo>
                <a:lnTo>
                  <a:pt x="1709551" y="2476361"/>
                </a:lnTo>
                <a:lnTo>
                  <a:pt x="1697773" y="2547028"/>
                </a:lnTo>
                <a:lnTo>
                  <a:pt x="1674718" y="2688613"/>
                </a:lnTo>
                <a:lnTo>
                  <a:pt x="1658179" y="2831200"/>
                </a:lnTo>
                <a:cubicBezTo>
                  <a:pt x="1655673" y="2855007"/>
                  <a:pt x="1652415" y="2878813"/>
                  <a:pt x="1650411" y="2902619"/>
                </a:cubicBezTo>
                <a:lnTo>
                  <a:pt x="1645900" y="2974540"/>
                </a:lnTo>
                <a:cubicBezTo>
                  <a:pt x="1643144" y="3022403"/>
                  <a:pt x="1639635" y="3070266"/>
                  <a:pt x="1637630" y="3118129"/>
                </a:cubicBezTo>
                <a:cubicBezTo>
                  <a:pt x="1627857" y="3501787"/>
                  <a:pt x="1670959" y="3890207"/>
                  <a:pt x="1780218" y="4260834"/>
                </a:cubicBezTo>
                <a:lnTo>
                  <a:pt x="1818809" y="4380367"/>
                </a:lnTo>
                <a:lnTo>
                  <a:pt x="1838105" y="4440008"/>
                </a:lnTo>
                <a:lnTo>
                  <a:pt x="1847878" y="4469828"/>
                </a:lnTo>
                <a:lnTo>
                  <a:pt x="1859405" y="4498897"/>
                </a:lnTo>
                <a:lnTo>
                  <a:pt x="1897746" y="4594624"/>
                </a:lnTo>
                <a:cubicBezTo>
                  <a:pt x="1906767" y="4615673"/>
                  <a:pt x="1913533" y="4636974"/>
                  <a:pt x="1924058" y="4657021"/>
                </a:cubicBezTo>
                <a:lnTo>
                  <a:pt x="1977184" y="4767032"/>
                </a:lnTo>
                <a:cubicBezTo>
                  <a:pt x="1981945" y="4776053"/>
                  <a:pt x="1981945" y="4787330"/>
                  <a:pt x="1977184" y="4796351"/>
                </a:cubicBezTo>
                <a:cubicBezTo>
                  <a:pt x="1972673" y="4805623"/>
                  <a:pt x="1963151" y="4811637"/>
                  <a:pt x="1953127" y="4813391"/>
                </a:cubicBezTo>
                <a:cubicBezTo>
                  <a:pt x="1933581" y="4818904"/>
                  <a:pt x="1914035" y="4824668"/>
                  <a:pt x="1894739" y="4830933"/>
                </a:cubicBezTo>
                <a:cubicBezTo>
                  <a:pt x="1855897" y="4843212"/>
                  <a:pt x="1817556" y="4856744"/>
                  <a:pt x="1779717" y="4871529"/>
                </a:cubicBezTo>
                <a:lnTo>
                  <a:pt x="1765433" y="4877042"/>
                </a:lnTo>
                <a:lnTo>
                  <a:pt x="1748643" y="4883808"/>
                </a:lnTo>
                <a:lnTo>
                  <a:pt x="1696520" y="4905359"/>
                </a:lnTo>
                <a:cubicBezTo>
                  <a:pt x="1661687" y="4919893"/>
                  <a:pt x="1627607" y="4935430"/>
                  <a:pt x="1593025" y="4950466"/>
                </a:cubicBezTo>
                <a:cubicBezTo>
                  <a:pt x="1319377" y="5075512"/>
                  <a:pt x="1057507" y="5231882"/>
                  <a:pt x="821950" y="5428848"/>
                </a:cubicBezTo>
                <a:cubicBezTo>
                  <a:pt x="672346" y="5555147"/>
                  <a:pt x="534520" y="5698486"/>
                  <a:pt x="416490" y="5858866"/>
                </a:cubicBezTo>
                <a:cubicBezTo>
                  <a:pt x="298461" y="6018994"/>
                  <a:pt x="200730" y="6196665"/>
                  <a:pt x="131566" y="6385111"/>
                </a:cubicBezTo>
                <a:cubicBezTo>
                  <a:pt x="61901" y="6573307"/>
                  <a:pt x="20804" y="6771776"/>
                  <a:pt x="6520" y="6969745"/>
                </a:cubicBezTo>
                <a:cubicBezTo>
                  <a:pt x="-8265" y="7167963"/>
                  <a:pt x="3012" y="7365682"/>
                  <a:pt x="31078" y="7558889"/>
                </a:cubicBezTo>
                <a:lnTo>
                  <a:pt x="330286" y="7512529"/>
                </a:lnTo>
                <a:cubicBezTo>
                  <a:pt x="305227" y="7339370"/>
                  <a:pt x="295705" y="7164706"/>
                  <a:pt x="308234" y="6992298"/>
                </a:cubicBezTo>
                <a:cubicBezTo>
                  <a:pt x="320764" y="6820141"/>
                  <a:pt x="356098" y="6650489"/>
                  <a:pt x="415488" y="6489609"/>
                </a:cubicBezTo>
                <a:cubicBezTo>
                  <a:pt x="533517" y="6166845"/>
                  <a:pt x="750030" y="5884927"/>
                  <a:pt x="1016911" y="5660145"/>
                </a:cubicBezTo>
                <a:cubicBezTo>
                  <a:pt x="1226908" y="5484229"/>
                  <a:pt x="1465974" y="5340890"/>
                  <a:pt x="1718321" y="5225617"/>
                </a:cubicBezTo>
                <a:cubicBezTo>
                  <a:pt x="1750147" y="5211834"/>
                  <a:pt x="1781721" y="5197300"/>
                  <a:pt x="1813797" y="5184019"/>
                </a:cubicBezTo>
                <a:lnTo>
                  <a:pt x="1861911" y="5164222"/>
                </a:lnTo>
                <a:lnTo>
                  <a:pt x="1876195" y="5158458"/>
                </a:lnTo>
                <a:lnTo>
                  <a:pt x="1892233" y="5152193"/>
                </a:lnTo>
                <a:lnTo>
                  <a:pt x="1924559" y="5139914"/>
                </a:lnTo>
                <a:cubicBezTo>
                  <a:pt x="1967411" y="5123124"/>
                  <a:pt x="2011515" y="5108590"/>
                  <a:pt x="2055620" y="5093555"/>
                </a:cubicBezTo>
                <a:cubicBezTo>
                  <a:pt x="2098220" y="5077767"/>
                  <a:pt x="2142826" y="5062731"/>
                  <a:pt x="2179413" y="5043937"/>
                </a:cubicBezTo>
                <a:cubicBezTo>
                  <a:pt x="2188935" y="5039426"/>
                  <a:pt x="2198959" y="5034915"/>
                  <a:pt x="2207730" y="5030405"/>
                </a:cubicBezTo>
                <a:lnTo>
                  <a:pt x="2233791" y="5016873"/>
                </a:lnTo>
                <a:lnTo>
                  <a:pt x="2283659" y="4990059"/>
                </a:lnTo>
                <a:cubicBezTo>
                  <a:pt x="2299697" y="4982792"/>
                  <a:pt x="2315485" y="4968508"/>
                  <a:pt x="2325007" y="4948712"/>
                </a:cubicBezTo>
                <a:cubicBezTo>
                  <a:pt x="2334530" y="4929416"/>
                  <a:pt x="2337286" y="4906612"/>
                  <a:pt x="2332525" y="4889321"/>
                </a:cubicBezTo>
                <a:lnTo>
                  <a:pt x="2254089" y="4654014"/>
                </a:lnTo>
                <a:cubicBezTo>
                  <a:pt x="2242562" y="4631210"/>
                  <a:pt x="2231787" y="4607905"/>
                  <a:pt x="2221763" y="4584099"/>
                </a:cubicBezTo>
                <a:cubicBezTo>
                  <a:pt x="2211739" y="4560543"/>
                  <a:pt x="2200463" y="4536737"/>
                  <a:pt x="2191441" y="4513431"/>
                </a:cubicBezTo>
                <a:lnTo>
                  <a:pt x="2143327" y="4393147"/>
                </a:lnTo>
                <a:lnTo>
                  <a:pt x="2132552" y="4366584"/>
                </a:lnTo>
                <a:lnTo>
                  <a:pt x="2123781" y="4339269"/>
                </a:lnTo>
                <a:lnTo>
                  <a:pt x="2106239" y="4284640"/>
                </a:lnTo>
                <a:lnTo>
                  <a:pt x="2070906" y="4175382"/>
                </a:lnTo>
                <a:cubicBezTo>
                  <a:pt x="1970919" y="3836580"/>
                  <a:pt x="1931576" y="3481489"/>
                  <a:pt x="1940347" y="3127401"/>
                </a:cubicBezTo>
                <a:cubicBezTo>
                  <a:pt x="1942352" y="3083046"/>
                  <a:pt x="1945609" y="3038942"/>
                  <a:pt x="1948115" y="2994587"/>
                </a:cubicBezTo>
                <a:lnTo>
                  <a:pt x="1952125" y="2928180"/>
                </a:lnTo>
                <a:cubicBezTo>
                  <a:pt x="1953879" y="2906128"/>
                  <a:pt x="1956886" y="2884075"/>
                  <a:pt x="1959392" y="2862023"/>
                </a:cubicBezTo>
                <a:lnTo>
                  <a:pt x="1974678" y="2729710"/>
                </a:lnTo>
                <a:lnTo>
                  <a:pt x="1996229" y="2598149"/>
                </a:lnTo>
                <a:lnTo>
                  <a:pt x="2007005" y="2532243"/>
                </a:lnTo>
                <a:lnTo>
                  <a:pt x="2021038" y="2466838"/>
                </a:lnTo>
                <a:cubicBezTo>
                  <a:pt x="2030560" y="2423235"/>
                  <a:pt x="2039331" y="2379632"/>
                  <a:pt x="2049355" y="2336279"/>
                </a:cubicBezTo>
                <a:cubicBezTo>
                  <a:pt x="2072409" y="2250075"/>
                  <a:pt x="2092457" y="2163370"/>
                  <a:pt x="2120022" y="2078419"/>
                </a:cubicBezTo>
                <a:cubicBezTo>
                  <a:pt x="2144580" y="1992716"/>
                  <a:pt x="2174902" y="1908517"/>
                  <a:pt x="2204221" y="1824067"/>
                </a:cubicBezTo>
                <a:cubicBezTo>
                  <a:pt x="2219508" y="1781967"/>
                  <a:pt x="2236297" y="1740619"/>
                  <a:pt x="2252085" y="1698770"/>
                </a:cubicBezTo>
                <a:cubicBezTo>
                  <a:pt x="2267621" y="1656921"/>
                  <a:pt x="2285163" y="1615573"/>
                  <a:pt x="2302955" y="1574476"/>
                </a:cubicBezTo>
                <a:cubicBezTo>
                  <a:pt x="2372369" y="1409335"/>
                  <a:pt x="2450304" y="1247703"/>
                  <a:pt x="2536007" y="1089829"/>
                </a:cubicBezTo>
                <a:cubicBezTo>
                  <a:pt x="2621459" y="931956"/>
                  <a:pt x="2713677" y="777841"/>
                  <a:pt x="2812661" y="627986"/>
                </a:cubicBezTo>
                <a:cubicBezTo>
                  <a:pt x="2862028" y="553059"/>
                  <a:pt x="2913400" y="479384"/>
                  <a:pt x="2966024" y="407214"/>
                </a:cubicBezTo>
                <a:cubicBezTo>
                  <a:pt x="2992337" y="371128"/>
                  <a:pt x="3019401" y="335544"/>
                  <a:pt x="3046465" y="300210"/>
                </a:cubicBezTo>
                <a:cubicBezTo>
                  <a:pt x="3073529" y="265879"/>
                  <a:pt x="3102347" y="229293"/>
                  <a:pt x="3128659" y="198720"/>
                </a:cubicBezTo>
                <a:lnTo>
                  <a:pt x="2900118" y="0"/>
                </a:lnTo>
                <a:lnTo>
                  <a:pt x="2900118" y="752"/>
                </a:lnTo>
                <a:close/>
              </a:path>
            </a:pathLst>
          </a:custGeom>
          <a:solidFill>
            <a:srgbClr val="007E7A"/>
          </a:solidFill>
          <a:ln w="254000" cap="flat">
            <a:solidFill>
              <a:srgbClr val="007E7A"/>
            </a:solidFill>
            <a:prstDash val="solid"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39" name="Forma Livre: Forma 24">
            <a:extLst>
              <a:ext uri="{FF2B5EF4-FFF2-40B4-BE49-F238E27FC236}">
                <a16:creationId xmlns:a16="http://schemas.microsoft.com/office/drawing/2014/main" xmlns="" id="{BFDA5021-5F6C-A878-BA44-39E188167D6F}"/>
              </a:ext>
            </a:extLst>
          </p:cNvPr>
          <p:cNvSpPr>
            <a:spLocks/>
          </p:cNvSpPr>
          <p:nvPr/>
        </p:nvSpPr>
        <p:spPr bwMode="auto">
          <a:xfrm rot="10324420">
            <a:off x="4495800" y="-222250"/>
            <a:ext cx="2830513" cy="7559675"/>
          </a:xfrm>
          <a:custGeom>
            <a:avLst/>
            <a:gdLst>
              <a:gd name="T0" fmla="*/ 857501 w 3128658"/>
              <a:gd name="T1" fmla="*/ 58961 h 7558888"/>
              <a:gd name="T2" fmla="*/ 818322 w 3128658"/>
              <a:gd name="T3" fmla="*/ 229330 h 7558888"/>
              <a:gd name="T4" fmla="*/ 682400 w 3128658"/>
              <a:gd name="T5" fmla="*/ 947929 h 7558888"/>
              <a:gd name="T6" fmla="*/ 592513 w 3128658"/>
              <a:gd name="T7" fmla="*/ 1590494 h 7558888"/>
              <a:gd name="T8" fmla="*/ 550320 w 3128658"/>
              <a:gd name="T9" fmla="*/ 1993951 h 7558888"/>
              <a:gd name="T10" fmla="*/ 518525 w 3128658"/>
              <a:gd name="T11" fmla="*/ 2409457 h 7558888"/>
              <a:gd name="T12" fmla="*/ 510463 w 3128658"/>
              <a:gd name="T13" fmla="*/ 2550208 h 7558888"/>
              <a:gd name="T14" fmla="*/ 498559 w 3128658"/>
              <a:gd name="T15" fmla="*/ 2834740 h 7558888"/>
              <a:gd name="T16" fmla="*/ 494867 w 3128658"/>
              <a:gd name="T17" fmla="*/ 2978260 h 7558888"/>
              <a:gd name="T18" fmla="*/ 535253 w 3128658"/>
              <a:gd name="T19" fmla="*/ 4266162 h 7558888"/>
              <a:gd name="T20" fmla="*/ 552656 w 3128658"/>
              <a:gd name="T21" fmla="*/ 4445559 h 7558888"/>
              <a:gd name="T22" fmla="*/ 559060 w 3128658"/>
              <a:gd name="T23" fmla="*/ 4504523 h 7558888"/>
              <a:gd name="T24" fmla="*/ 578499 w 3128658"/>
              <a:gd name="T25" fmla="*/ 4662841 h 7558888"/>
              <a:gd name="T26" fmla="*/ 594473 w 3128658"/>
              <a:gd name="T27" fmla="*/ 4802348 h 7558888"/>
              <a:gd name="T28" fmla="*/ 569684 w 3128658"/>
              <a:gd name="T29" fmla="*/ 4836971 h 7558888"/>
              <a:gd name="T30" fmla="*/ 530807 w 3128658"/>
              <a:gd name="T31" fmla="*/ 4883138 h 7558888"/>
              <a:gd name="T32" fmla="*/ 510086 w 3128658"/>
              <a:gd name="T33" fmla="*/ 4911491 h 7558888"/>
              <a:gd name="T34" fmla="*/ 247133 w 3128658"/>
              <a:gd name="T35" fmla="*/ 5435635 h 7558888"/>
              <a:gd name="T36" fmla="*/ 39556 w 3128658"/>
              <a:gd name="T37" fmla="*/ 6393092 h 7558888"/>
              <a:gd name="T38" fmla="*/ 9344 w 3128658"/>
              <a:gd name="T39" fmla="*/ 7568338 h 7558888"/>
              <a:gd name="T40" fmla="*/ 92675 w 3128658"/>
              <a:gd name="T41" fmla="*/ 7001039 h 7558888"/>
              <a:gd name="T42" fmla="*/ 305751 w 3128658"/>
              <a:gd name="T43" fmla="*/ 5667221 h 7558888"/>
              <a:gd name="T44" fmla="*/ 545348 w 3128658"/>
              <a:gd name="T45" fmla="*/ 5190499 h 7558888"/>
              <a:gd name="T46" fmla="*/ 564108 w 3128658"/>
              <a:gd name="T47" fmla="*/ 5164906 h 7558888"/>
              <a:gd name="T48" fmla="*/ 578649 w 3128658"/>
              <a:gd name="T49" fmla="*/ 5146339 h 7558888"/>
              <a:gd name="T50" fmla="*/ 655276 w 3128658"/>
              <a:gd name="T51" fmla="*/ 5050242 h 7558888"/>
              <a:gd name="T52" fmla="*/ 671627 w 3128658"/>
              <a:gd name="T53" fmla="*/ 5023145 h 7558888"/>
              <a:gd name="T54" fmla="*/ 699050 w 3128658"/>
              <a:gd name="T55" fmla="*/ 4954899 h 7558888"/>
              <a:gd name="T56" fmla="*/ 677729 w 3128658"/>
              <a:gd name="T57" fmla="*/ 4659834 h 7558888"/>
              <a:gd name="T58" fmla="*/ 658892 w 3128658"/>
              <a:gd name="T59" fmla="*/ 4519071 h 7558888"/>
              <a:gd name="T60" fmla="*/ 641186 w 3128658"/>
              <a:gd name="T61" fmla="*/ 4372044 h 7558888"/>
              <a:gd name="T62" fmla="*/ 633275 w 3128658"/>
              <a:gd name="T63" fmla="*/ 4289995 h 7558888"/>
              <a:gd name="T64" fmla="*/ 583397 w 3128658"/>
              <a:gd name="T65" fmla="*/ 3131313 h 7558888"/>
              <a:gd name="T66" fmla="*/ 586937 w 3128658"/>
              <a:gd name="T67" fmla="*/ 2931840 h 7558888"/>
              <a:gd name="T68" fmla="*/ 593720 w 3128658"/>
              <a:gd name="T69" fmla="*/ 2733120 h 7558888"/>
              <a:gd name="T70" fmla="*/ 603439 w 3128658"/>
              <a:gd name="T71" fmla="*/ 2535411 h 7558888"/>
              <a:gd name="T72" fmla="*/ 616172 w 3128658"/>
              <a:gd name="T73" fmla="*/ 2339196 h 7558888"/>
              <a:gd name="T74" fmla="*/ 662735 w 3128658"/>
              <a:gd name="T75" fmla="*/ 1826347 h 7558888"/>
              <a:gd name="T76" fmla="*/ 692422 w 3128658"/>
              <a:gd name="T77" fmla="*/ 1576444 h 7558888"/>
              <a:gd name="T78" fmla="*/ 845673 w 3128658"/>
              <a:gd name="T79" fmla="*/ 628766 h 7558888"/>
              <a:gd name="T80" fmla="*/ 915970 w 3128658"/>
              <a:gd name="T81" fmla="*/ 300582 h 7558888"/>
              <a:gd name="T82" fmla="*/ 871968 w 3128658"/>
              <a:gd name="T83" fmla="*/ 0 h 755888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3128658" h="7558888">
                <a:moveTo>
                  <a:pt x="2900118" y="752"/>
                </a:moveTo>
                <a:cubicBezTo>
                  <a:pt x="2881825" y="22052"/>
                  <a:pt x="2867541" y="39594"/>
                  <a:pt x="2852004" y="58889"/>
                </a:cubicBezTo>
                <a:lnTo>
                  <a:pt x="2807399" y="115273"/>
                </a:lnTo>
                <a:cubicBezTo>
                  <a:pt x="2778330" y="153112"/>
                  <a:pt x="2749762" y="190952"/>
                  <a:pt x="2721696" y="229042"/>
                </a:cubicBezTo>
                <a:cubicBezTo>
                  <a:pt x="2665814" y="305473"/>
                  <a:pt x="2611686" y="382906"/>
                  <a:pt x="2560063" y="461592"/>
                </a:cubicBezTo>
                <a:cubicBezTo>
                  <a:pt x="2456067" y="618965"/>
                  <a:pt x="2359339" y="780848"/>
                  <a:pt x="2269626" y="946741"/>
                </a:cubicBezTo>
                <a:cubicBezTo>
                  <a:pt x="2179663" y="1112383"/>
                  <a:pt x="2097469" y="1282786"/>
                  <a:pt x="2024296" y="1457199"/>
                </a:cubicBezTo>
                <a:cubicBezTo>
                  <a:pt x="2005501" y="1500551"/>
                  <a:pt x="1987208" y="1544154"/>
                  <a:pt x="1970669" y="1588509"/>
                </a:cubicBezTo>
                <a:cubicBezTo>
                  <a:pt x="1953879" y="1632864"/>
                  <a:pt x="1936087" y="1676718"/>
                  <a:pt x="1919798" y="1721073"/>
                </a:cubicBezTo>
                <a:cubicBezTo>
                  <a:pt x="1888725" y="1810785"/>
                  <a:pt x="1856649" y="1899997"/>
                  <a:pt x="1830337" y="1991463"/>
                </a:cubicBezTo>
                <a:cubicBezTo>
                  <a:pt x="1801017" y="2081927"/>
                  <a:pt x="1779216" y="2174647"/>
                  <a:pt x="1754908" y="2266614"/>
                </a:cubicBezTo>
                <a:cubicBezTo>
                  <a:pt x="1744133" y="2312974"/>
                  <a:pt x="1734610" y="2359835"/>
                  <a:pt x="1724586" y="2406445"/>
                </a:cubicBezTo>
                <a:lnTo>
                  <a:pt x="1709551" y="2476361"/>
                </a:lnTo>
                <a:lnTo>
                  <a:pt x="1697773" y="2547028"/>
                </a:lnTo>
                <a:lnTo>
                  <a:pt x="1674718" y="2688613"/>
                </a:lnTo>
                <a:lnTo>
                  <a:pt x="1658179" y="2831200"/>
                </a:lnTo>
                <a:cubicBezTo>
                  <a:pt x="1655673" y="2855007"/>
                  <a:pt x="1652415" y="2878813"/>
                  <a:pt x="1650411" y="2902619"/>
                </a:cubicBezTo>
                <a:lnTo>
                  <a:pt x="1645900" y="2974540"/>
                </a:lnTo>
                <a:cubicBezTo>
                  <a:pt x="1643144" y="3022403"/>
                  <a:pt x="1639635" y="3070266"/>
                  <a:pt x="1637630" y="3118129"/>
                </a:cubicBezTo>
                <a:cubicBezTo>
                  <a:pt x="1627857" y="3501787"/>
                  <a:pt x="1670959" y="3890207"/>
                  <a:pt x="1780218" y="4260834"/>
                </a:cubicBezTo>
                <a:lnTo>
                  <a:pt x="1818809" y="4380367"/>
                </a:lnTo>
                <a:lnTo>
                  <a:pt x="1838105" y="4440008"/>
                </a:lnTo>
                <a:lnTo>
                  <a:pt x="1847878" y="4469828"/>
                </a:lnTo>
                <a:lnTo>
                  <a:pt x="1859405" y="4498897"/>
                </a:lnTo>
                <a:lnTo>
                  <a:pt x="1897746" y="4594624"/>
                </a:lnTo>
                <a:cubicBezTo>
                  <a:pt x="1906767" y="4615673"/>
                  <a:pt x="1913533" y="4636974"/>
                  <a:pt x="1924058" y="4657021"/>
                </a:cubicBezTo>
                <a:lnTo>
                  <a:pt x="1977184" y="4767032"/>
                </a:lnTo>
                <a:cubicBezTo>
                  <a:pt x="1981945" y="4776053"/>
                  <a:pt x="1981945" y="4787330"/>
                  <a:pt x="1977184" y="4796351"/>
                </a:cubicBezTo>
                <a:cubicBezTo>
                  <a:pt x="1972673" y="4805623"/>
                  <a:pt x="1963151" y="4811637"/>
                  <a:pt x="1953127" y="4813391"/>
                </a:cubicBezTo>
                <a:cubicBezTo>
                  <a:pt x="1933581" y="4818904"/>
                  <a:pt x="1914035" y="4824668"/>
                  <a:pt x="1894739" y="4830933"/>
                </a:cubicBezTo>
                <a:cubicBezTo>
                  <a:pt x="1855897" y="4843212"/>
                  <a:pt x="1817556" y="4856744"/>
                  <a:pt x="1779717" y="4871529"/>
                </a:cubicBezTo>
                <a:lnTo>
                  <a:pt x="1765433" y="4877042"/>
                </a:lnTo>
                <a:lnTo>
                  <a:pt x="1748643" y="4883808"/>
                </a:lnTo>
                <a:lnTo>
                  <a:pt x="1696520" y="4905359"/>
                </a:lnTo>
                <a:cubicBezTo>
                  <a:pt x="1661687" y="4919893"/>
                  <a:pt x="1627607" y="4935430"/>
                  <a:pt x="1593025" y="4950466"/>
                </a:cubicBezTo>
                <a:cubicBezTo>
                  <a:pt x="1319377" y="5075512"/>
                  <a:pt x="1057507" y="5231882"/>
                  <a:pt x="821950" y="5428848"/>
                </a:cubicBezTo>
                <a:cubicBezTo>
                  <a:pt x="672346" y="5555147"/>
                  <a:pt x="534520" y="5698486"/>
                  <a:pt x="416490" y="5858866"/>
                </a:cubicBezTo>
                <a:cubicBezTo>
                  <a:pt x="298461" y="6018994"/>
                  <a:pt x="200730" y="6196665"/>
                  <a:pt x="131566" y="6385111"/>
                </a:cubicBezTo>
                <a:cubicBezTo>
                  <a:pt x="61901" y="6573307"/>
                  <a:pt x="20804" y="6771776"/>
                  <a:pt x="6520" y="6969745"/>
                </a:cubicBezTo>
                <a:cubicBezTo>
                  <a:pt x="-8265" y="7167963"/>
                  <a:pt x="3012" y="7365682"/>
                  <a:pt x="31078" y="7558889"/>
                </a:cubicBezTo>
                <a:lnTo>
                  <a:pt x="330286" y="7512529"/>
                </a:lnTo>
                <a:cubicBezTo>
                  <a:pt x="305227" y="7339370"/>
                  <a:pt x="295705" y="7164706"/>
                  <a:pt x="308234" y="6992298"/>
                </a:cubicBezTo>
                <a:cubicBezTo>
                  <a:pt x="320764" y="6820141"/>
                  <a:pt x="356098" y="6650489"/>
                  <a:pt x="415488" y="6489609"/>
                </a:cubicBezTo>
                <a:cubicBezTo>
                  <a:pt x="533517" y="6166845"/>
                  <a:pt x="750030" y="5884927"/>
                  <a:pt x="1016911" y="5660145"/>
                </a:cubicBezTo>
                <a:cubicBezTo>
                  <a:pt x="1226908" y="5484229"/>
                  <a:pt x="1465974" y="5340890"/>
                  <a:pt x="1718321" y="5225617"/>
                </a:cubicBezTo>
                <a:cubicBezTo>
                  <a:pt x="1750147" y="5211834"/>
                  <a:pt x="1781721" y="5197300"/>
                  <a:pt x="1813797" y="5184019"/>
                </a:cubicBezTo>
                <a:lnTo>
                  <a:pt x="1861911" y="5164222"/>
                </a:lnTo>
                <a:lnTo>
                  <a:pt x="1876195" y="5158458"/>
                </a:lnTo>
                <a:lnTo>
                  <a:pt x="1892233" y="5152193"/>
                </a:lnTo>
                <a:lnTo>
                  <a:pt x="1924559" y="5139914"/>
                </a:lnTo>
                <a:cubicBezTo>
                  <a:pt x="1967411" y="5123124"/>
                  <a:pt x="2011515" y="5108590"/>
                  <a:pt x="2055620" y="5093555"/>
                </a:cubicBezTo>
                <a:cubicBezTo>
                  <a:pt x="2098220" y="5077767"/>
                  <a:pt x="2142826" y="5062731"/>
                  <a:pt x="2179413" y="5043937"/>
                </a:cubicBezTo>
                <a:cubicBezTo>
                  <a:pt x="2188935" y="5039426"/>
                  <a:pt x="2198959" y="5034915"/>
                  <a:pt x="2207730" y="5030405"/>
                </a:cubicBezTo>
                <a:lnTo>
                  <a:pt x="2233791" y="5016873"/>
                </a:lnTo>
                <a:lnTo>
                  <a:pt x="2283659" y="4990059"/>
                </a:lnTo>
                <a:cubicBezTo>
                  <a:pt x="2299697" y="4982792"/>
                  <a:pt x="2315485" y="4968508"/>
                  <a:pt x="2325007" y="4948712"/>
                </a:cubicBezTo>
                <a:cubicBezTo>
                  <a:pt x="2334530" y="4929416"/>
                  <a:pt x="2337286" y="4906612"/>
                  <a:pt x="2332525" y="4889321"/>
                </a:cubicBezTo>
                <a:lnTo>
                  <a:pt x="2254089" y="4654014"/>
                </a:lnTo>
                <a:cubicBezTo>
                  <a:pt x="2242562" y="4631210"/>
                  <a:pt x="2231787" y="4607905"/>
                  <a:pt x="2221763" y="4584099"/>
                </a:cubicBezTo>
                <a:cubicBezTo>
                  <a:pt x="2211739" y="4560543"/>
                  <a:pt x="2200463" y="4536737"/>
                  <a:pt x="2191441" y="4513431"/>
                </a:cubicBezTo>
                <a:lnTo>
                  <a:pt x="2143327" y="4393147"/>
                </a:lnTo>
                <a:lnTo>
                  <a:pt x="2132552" y="4366584"/>
                </a:lnTo>
                <a:lnTo>
                  <a:pt x="2123781" y="4339269"/>
                </a:lnTo>
                <a:lnTo>
                  <a:pt x="2106239" y="4284640"/>
                </a:lnTo>
                <a:lnTo>
                  <a:pt x="2070906" y="4175382"/>
                </a:lnTo>
                <a:cubicBezTo>
                  <a:pt x="1970919" y="3836580"/>
                  <a:pt x="1931576" y="3481489"/>
                  <a:pt x="1940347" y="3127401"/>
                </a:cubicBezTo>
                <a:cubicBezTo>
                  <a:pt x="1942352" y="3083046"/>
                  <a:pt x="1945609" y="3038942"/>
                  <a:pt x="1948115" y="2994587"/>
                </a:cubicBezTo>
                <a:lnTo>
                  <a:pt x="1952125" y="2928180"/>
                </a:lnTo>
                <a:cubicBezTo>
                  <a:pt x="1953879" y="2906128"/>
                  <a:pt x="1956886" y="2884075"/>
                  <a:pt x="1959392" y="2862023"/>
                </a:cubicBezTo>
                <a:lnTo>
                  <a:pt x="1974678" y="2729710"/>
                </a:lnTo>
                <a:lnTo>
                  <a:pt x="1996229" y="2598149"/>
                </a:lnTo>
                <a:lnTo>
                  <a:pt x="2007005" y="2532243"/>
                </a:lnTo>
                <a:lnTo>
                  <a:pt x="2021038" y="2466838"/>
                </a:lnTo>
                <a:cubicBezTo>
                  <a:pt x="2030560" y="2423235"/>
                  <a:pt x="2039331" y="2379632"/>
                  <a:pt x="2049355" y="2336279"/>
                </a:cubicBezTo>
                <a:cubicBezTo>
                  <a:pt x="2072409" y="2250075"/>
                  <a:pt x="2092457" y="2163370"/>
                  <a:pt x="2120022" y="2078419"/>
                </a:cubicBezTo>
                <a:cubicBezTo>
                  <a:pt x="2144580" y="1992716"/>
                  <a:pt x="2174902" y="1908517"/>
                  <a:pt x="2204221" y="1824067"/>
                </a:cubicBezTo>
                <a:cubicBezTo>
                  <a:pt x="2219508" y="1781967"/>
                  <a:pt x="2236297" y="1740619"/>
                  <a:pt x="2252085" y="1698770"/>
                </a:cubicBezTo>
                <a:cubicBezTo>
                  <a:pt x="2267621" y="1656921"/>
                  <a:pt x="2285163" y="1615573"/>
                  <a:pt x="2302955" y="1574476"/>
                </a:cubicBezTo>
                <a:cubicBezTo>
                  <a:pt x="2372369" y="1409335"/>
                  <a:pt x="2450304" y="1247703"/>
                  <a:pt x="2536007" y="1089829"/>
                </a:cubicBezTo>
                <a:cubicBezTo>
                  <a:pt x="2621459" y="931956"/>
                  <a:pt x="2713677" y="777841"/>
                  <a:pt x="2812661" y="627986"/>
                </a:cubicBezTo>
                <a:cubicBezTo>
                  <a:pt x="2862028" y="553059"/>
                  <a:pt x="2913400" y="479384"/>
                  <a:pt x="2966024" y="407214"/>
                </a:cubicBezTo>
                <a:cubicBezTo>
                  <a:pt x="2992337" y="371128"/>
                  <a:pt x="3019401" y="335544"/>
                  <a:pt x="3046465" y="300210"/>
                </a:cubicBezTo>
                <a:cubicBezTo>
                  <a:pt x="3073529" y="265879"/>
                  <a:pt x="3102347" y="229293"/>
                  <a:pt x="3128659" y="198720"/>
                </a:cubicBezTo>
                <a:lnTo>
                  <a:pt x="2900118" y="0"/>
                </a:lnTo>
                <a:lnTo>
                  <a:pt x="2900118" y="752"/>
                </a:lnTo>
                <a:close/>
              </a:path>
            </a:pathLst>
          </a:custGeom>
          <a:solidFill>
            <a:srgbClr val="EDB111"/>
          </a:solidFill>
          <a:ln w="254000" cap="flat">
            <a:solidFill>
              <a:srgbClr val="EDB111"/>
            </a:solidFill>
            <a:prstDash val="solid"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040" name="Forma Livre: Forma 26">
            <a:extLst>
              <a:ext uri="{FF2B5EF4-FFF2-40B4-BE49-F238E27FC236}">
                <a16:creationId xmlns:a16="http://schemas.microsoft.com/office/drawing/2014/main" xmlns="" id="{771E8B7F-D556-C7ED-88A2-5CFABA2B95ED}"/>
              </a:ext>
            </a:extLst>
          </p:cNvPr>
          <p:cNvSpPr>
            <a:spLocks/>
          </p:cNvSpPr>
          <p:nvPr/>
        </p:nvSpPr>
        <p:spPr bwMode="auto">
          <a:xfrm rot="10324420">
            <a:off x="4989513" y="-244475"/>
            <a:ext cx="2824162" cy="7753350"/>
          </a:xfrm>
          <a:custGeom>
            <a:avLst/>
            <a:gdLst>
              <a:gd name="T0" fmla="*/ 813046 w 3140334"/>
              <a:gd name="T1" fmla="*/ 64880 h 7753599"/>
              <a:gd name="T2" fmla="*/ 774683 w 3140334"/>
              <a:gd name="T3" fmla="*/ 243982 h 7753599"/>
              <a:gd name="T4" fmla="*/ 643179 w 3140334"/>
              <a:gd name="T5" fmla="*/ 989208 h 7753599"/>
              <a:gd name="T6" fmla="*/ 556142 w 3140334"/>
              <a:gd name="T7" fmla="*/ 1657037 h 7753599"/>
              <a:gd name="T8" fmla="*/ 515184 w 3140334"/>
              <a:gd name="T9" fmla="*/ 2078367 h 7753599"/>
              <a:gd name="T10" fmla="*/ 484043 w 3140334"/>
              <a:gd name="T11" fmla="*/ 2513980 h 7753599"/>
              <a:gd name="T12" fmla="*/ 476189 w 3140334"/>
              <a:gd name="T13" fmla="*/ 2662272 h 7753599"/>
              <a:gd name="T14" fmla="*/ 464476 w 3140334"/>
              <a:gd name="T15" fmla="*/ 2962373 h 7753599"/>
              <a:gd name="T16" fmla="*/ 460900 w 3140334"/>
              <a:gd name="T17" fmla="*/ 3114173 h 7753599"/>
              <a:gd name="T18" fmla="*/ 501017 w 3140334"/>
              <a:gd name="T19" fmla="*/ 4483888 h 7753599"/>
              <a:gd name="T20" fmla="*/ 518340 w 3140334"/>
              <a:gd name="T21" fmla="*/ 4675018 h 7753599"/>
              <a:gd name="T22" fmla="*/ 524652 w 3140334"/>
              <a:gd name="T23" fmla="*/ 4737893 h 7753599"/>
              <a:gd name="T24" fmla="*/ 532997 w 3140334"/>
              <a:gd name="T25" fmla="*/ 4812283 h 7753599"/>
              <a:gd name="T26" fmla="*/ 533208 w 3140334"/>
              <a:gd name="T27" fmla="*/ 4813787 h 7753599"/>
              <a:gd name="T28" fmla="*/ 485376 w 3140334"/>
              <a:gd name="T29" fmla="*/ 4887437 h 7753599"/>
              <a:gd name="T30" fmla="*/ 129722 w 3140334"/>
              <a:gd name="T31" fmla="*/ 5871884 h 7753599"/>
              <a:gd name="T32" fmla="*/ 2006 w 3140334"/>
              <a:gd name="T33" fmla="*/ 7106839 h 7753599"/>
              <a:gd name="T34" fmla="*/ 75930 w 3140334"/>
              <a:gd name="T35" fmla="*/ 7714037 h 7753599"/>
              <a:gd name="T36" fmla="*/ 104053 w 3140334"/>
              <a:gd name="T37" fmla="*/ 6540715 h 7753599"/>
              <a:gd name="T38" fmla="*/ 297274 w 3140334"/>
              <a:gd name="T39" fmla="*/ 5584824 h 7753599"/>
              <a:gd name="T40" fmla="*/ 542046 w 3140334"/>
              <a:gd name="T41" fmla="*/ 5061527 h 7753599"/>
              <a:gd name="T42" fmla="*/ 561332 w 3140334"/>
              <a:gd name="T43" fmla="*/ 5033222 h 7753599"/>
              <a:gd name="T44" fmla="*/ 597523 w 3140334"/>
              <a:gd name="T45" fmla="*/ 4987137 h 7753599"/>
              <a:gd name="T46" fmla="*/ 620597 w 3140334"/>
              <a:gd name="T47" fmla="*/ 4952567 h 7753599"/>
              <a:gd name="T48" fmla="*/ 605727 w 3140334"/>
              <a:gd name="T49" fmla="*/ 4813285 h 7753599"/>
              <a:gd name="T50" fmla="*/ 587633 w 3140334"/>
              <a:gd name="T51" fmla="*/ 4655221 h 7753599"/>
              <a:gd name="T52" fmla="*/ 581672 w 3140334"/>
              <a:gd name="T53" fmla="*/ 4596356 h 7753599"/>
              <a:gd name="T54" fmla="*/ 565470 w 3140334"/>
              <a:gd name="T55" fmla="*/ 4417254 h 7753599"/>
              <a:gd name="T56" fmla="*/ 527879 w 3140334"/>
              <a:gd name="T57" fmla="*/ 3131452 h 7753599"/>
              <a:gd name="T58" fmla="*/ 531315 w 3140334"/>
              <a:gd name="T59" fmla="*/ 2988173 h 7753599"/>
              <a:gd name="T60" fmla="*/ 542395 w 3140334"/>
              <a:gd name="T61" fmla="*/ 2704108 h 7753599"/>
              <a:gd name="T62" fmla="*/ 549900 w 3140334"/>
              <a:gd name="T63" fmla="*/ 2563585 h 7753599"/>
              <a:gd name="T64" fmla="*/ 579497 w 3140334"/>
              <a:gd name="T65" fmla="*/ 2148759 h 7753599"/>
              <a:gd name="T66" fmla="*/ 618773 w 3140334"/>
              <a:gd name="T67" fmla="*/ 1745961 h 7753599"/>
              <a:gd name="T68" fmla="*/ 702444 w 3140334"/>
              <a:gd name="T69" fmla="*/ 1104445 h 7753599"/>
              <a:gd name="T70" fmla="*/ 828967 w 3140334"/>
              <a:gd name="T71" fmla="*/ 387022 h 7753599"/>
              <a:gd name="T72" fmla="*/ 865437 w 3140334"/>
              <a:gd name="T73" fmla="*/ 216930 h 7753599"/>
              <a:gd name="T74" fmla="*/ 828195 w 3140334"/>
              <a:gd name="T75" fmla="*/ 1253 h 7753599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3140334" h="7753599">
                <a:moveTo>
                  <a:pt x="2958906" y="0"/>
                </a:moveTo>
                <a:cubicBezTo>
                  <a:pt x="2936101" y="26563"/>
                  <a:pt x="2922068" y="43854"/>
                  <a:pt x="2905028" y="64904"/>
                </a:cubicBezTo>
                <a:lnTo>
                  <a:pt x="2857666" y="124795"/>
                </a:lnTo>
                <a:cubicBezTo>
                  <a:pt x="2827094" y="164389"/>
                  <a:pt x="2797022" y="204233"/>
                  <a:pt x="2767954" y="244078"/>
                </a:cubicBezTo>
                <a:cubicBezTo>
                  <a:pt x="2709565" y="324017"/>
                  <a:pt x="2653433" y="404457"/>
                  <a:pt x="2599555" y="486151"/>
                </a:cubicBezTo>
                <a:cubicBezTo>
                  <a:pt x="2491549" y="649537"/>
                  <a:pt x="2391062" y="817435"/>
                  <a:pt x="2298092" y="989592"/>
                </a:cubicBezTo>
                <a:cubicBezTo>
                  <a:pt x="2204620" y="1161749"/>
                  <a:pt x="2119419" y="1338668"/>
                  <a:pt x="2042988" y="1520599"/>
                </a:cubicBezTo>
                <a:cubicBezTo>
                  <a:pt x="2023442" y="1565956"/>
                  <a:pt x="2004396" y="1611313"/>
                  <a:pt x="1987106" y="1657673"/>
                </a:cubicBezTo>
                <a:cubicBezTo>
                  <a:pt x="1969564" y="1703782"/>
                  <a:pt x="1951020" y="1749641"/>
                  <a:pt x="1934230" y="1796251"/>
                </a:cubicBezTo>
                <a:cubicBezTo>
                  <a:pt x="1901653" y="1889973"/>
                  <a:pt x="1868324" y="1983193"/>
                  <a:pt x="1840759" y="2079171"/>
                </a:cubicBezTo>
                <a:cubicBezTo>
                  <a:pt x="1810187" y="2173895"/>
                  <a:pt x="1787132" y="2271375"/>
                  <a:pt x="1761572" y="2367854"/>
                </a:cubicBezTo>
                <a:cubicBezTo>
                  <a:pt x="1750295" y="2416719"/>
                  <a:pt x="1740271" y="2465836"/>
                  <a:pt x="1729496" y="2514952"/>
                </a:cubicBezTo>
                <a:lnTo>
                  <a:pt x="1713959" y="2588626"/>
                </a:lnTo>
                <a:lnTo>
                  <a:pt x="1701429" y="2663303"/>
                </a:lnTo>
                <a:lnTo>
                  <a:pt x="1677122" y="2812656"/>
                </a:lnTo>
                <a:lnTo>
                  <a:pt x="1659581" y="2963513"/>
                </a:lnTo>
                <a:cubicBezTo>
                  <a:pt x="1656824" y="2988823"/>
                  <a:pt x="1653566" y="3013883"/>
                  <a:pt x="1651562" y="3039193"/>
                </a:cubicBezTo>
                <a:lnTo>
                  <a:pt x="1646800" y="3115373"/>
                </a:lnTo>
                <a:cubicBezTo>
                  <a:pt x="1643793" y="3166243"/>
                  <a:pt x="1640034" y="3216863"/>
                  <a:pt x="1638029" y="3267733"/>
                </a:cubicBezTo>
                <a:cubicBezTo>
                  <a:pt x="1627504" y="3675198"/>
                  <a:pt x="1673614" y="4089929"/>
                  <a:pt x="1790139" y="4485616"/>
                </a:cubicBezTo>
                <a:lnTo>
                  <a:pt x="1831237" y="4613167"/>
                </a:lnTo>
                <a:lnTo>
                  <a:pt x="1852036" y="4676818"/>
                </a:lnTo>
                <a:lnTo>
                  <a:pt x="1862310" y="4708643"/>
                </a:lnTo>
                <a:lnTo>
                  <a:pt x="1874589" y="4739717"/>
                </a:lnTo>
                <a:lnTo>
                  <a:pt x="1899398" y="4801864"/>
                </a:lnTo>
                <a:lnTo>
                  <a:pt x="1904410" y="4814143"/>
                </a:lnTo>
                <a:lnTo>
                  <a:pt x="1904410" y="4814644"/>
                </a:lnTo>
                <a:lnTo>
                  <a:pt x="1905162" y="4815647"/>
                </a:lnTo>
                <a:lnTo>
                  <a:pt x="1905162" y="4816148"/>
                </a:lnTo>
                <a:lnTo>
                  <a:pt x="1734257" y="4889321"/>
                </a:lnTo>
                <a:cubicBezTo>
                  <a:pt x="1443820" y="5022135"/>
                  <a:pt x="1163657" y="5188780"/>
                  <a:pt x="908052" y="5402536"/>
                </a:cubicBezTo>
                <a:cubicBezTo>
                  <a:pt x="745668" y="5539861"/>
                  <a:pt x="594309" y="5696732"/>
                  <a:pt x="463500" y="5874152"/>
                </a:cubicBezTo>
                <a:cubicBezTo>
                  <a:pt x="332941" y="6051321"/>
                  <a:pt x="223933" y="6249540"/>
                  <a:pt x="146499" y="6459788"/>
                </a:cubicBezTo>
                <a:cubicBezTo>
                  <a:pt x="68816" y="6669785"/>
                  <a:pt x="23208" y="6890808"/>
                  <a:pt x="7170" y="7109575"/>
                </a:cubicBezTo>
                <a:cubicBezTo>
                  <a:pt x="-9119" y="7328343"/>
                  <a:pt x="3411" y="7544605"/>
                  <a:pt x="33983" y="7753600"/>
                </a:cubicBezTo>
                <a:lnTo>
                  <a:pt x="271295" y="7717013"/>
                </a:lnTo>
                <a:cubicBezTo>
                  <a:pt x="243228" y="7523806"/>
                  <a:pt x="231952" y="7326088"/>
                  <a:pt x="246737" y="7127869"/>
                </a:cubicBezTo>
                <a:cubicBezTo>
                  <a:pt x="261271" y="6929900"/>
                  <a:pt x="302118" y="6731430"/>
                  <a:pt x="371783" y="6543235"/>
                </a:cubicBezTo>
                <a:cubicBezTo>
                  <a:pt x="441197" y="6354789"/>
                  <a:pt x="538678" y="6177119"/>
                  <a:pt x="656707" y="6016990"/>
                </a:cubicBezTo>
                <a:cubicBezTo>
                  <a:pt x="774736" y="5856610"/>
                  <a:pt x="912813" y="5713271"/>
                  <a:pt x="1062167" y="5586972"/>
                </a:cubicBezTo>
                <a:cubicBezTo>
                  <a:pt x="1297473" y="5390006"/>
                  <a:pt x="1559594" y="5233636"/>
                  <a:pt x="1833241" y="5108590"/>
                </a:cubicBezTo>
                <a:cubicBezTo>
                  <a:pt x="1867573" y="5093554"/>
                  <a:pt x="1901904" y="5078018"/>
                  <a:pt x="1936736" y="5063483"/>
                </a:cubicBezTo>
                <a:lnTo>
                  <a:pt x="1988860" y="5041932"/>
                </a:lnTo>
                <a:lnTo>
                  <a:pt x="2005649" y="5035166"/>
                </a:lnTo>
                <a:lnTo>
                  <a:pt x="2019933" y="5029653"/>
                </a:lnTo>
                <a:cubicBezTo>
                  <a:pt x="2057773" y="5014868"/>
                  <a:pt x="2096364" y="5001336"/>
                  <a:pt x="2134955" y="4989057"/>
                </a:cubicBezTo>
                <a:cubicBezTo>
                  <a:pt x="2154251" y="4982792"/>
                  <a:pt x="2173797" y="4977029"/>
                  <a:pt x="2193344" y="4971516"/>
                </a:cubicBezTo>
                <a:cubicBezTo>
                  <a:pt x="2203367" y="4969511"/>
                  <a:pt x="2212890" y="4963747"/>
                  <a:pt x="2217401" y="4954475"/>
                </a:cubicBezTo>
                <a:cubicBezTo>
                  <a:pt x="2222162" y="4945454"/>
                  <a:pt x="2222162" y="4934177"/>
                  <a:pt x="2217401" y="4925156"/>
                </a:cubicBezTo>
                <a:lnTo>
                  <a:pt x="2164275" y="4815145"/>
                </a:lnTo>
                <a:cubicBezTo>
                  <a:pt x="2153750" y="4795098"/>
                  <a:pt x="2146984" y="4773798"/>
                  <a:pt x="2137963" y="4752748"/>
                </a:cubicBezTo>
                <a:lnTo>
                  <a:pt x="2099622" y="4657021"/>
                </a:lnTo>
                <a:lnTo>
                  <a:pt x="2088095" y="4627952"/>
                </a:lnTo>
                <a:lnTo>
                  <a:pt x="2078321" y="4598132"/>
                </a:lnTo>
                <a:lnTo>
                  <a:pt x="2059026" y="4538491"/>
                </a:lnTo>
                <a:lnTo>
                  <a:pt x="2020434" y="4418958"/>
                </a:lnTo>
                <a:cubicBezTo>
                  <a:pt x="1911176" y="4048331"/>
                  <a:pt x="1868074" y="3660162"/>
                  <a:pt x="1877847" y="3276254"/>
                </a:cubicBezTo>
                <a:cubicBezTo>
                  <a:pt x="1879852" y="3228390"/>
                  <a:pt x="1883360" y="3180527"/>
                  <a:pt x="1886116" y="3132664"/>
                </a:cubicBezTo>
                <a:lnTo>
                  <a:pt x="1890627" y="3060744"/>
                </a:lnTo>
                <a:cubicBezTo>
                  <a:pt x="1892381" y="3036937"/>
                  <a:pt x="1895890" y="3013131"/>
                  <a:pt x="1898396" y="2989325"/>
                </a:cubicBezTo>
                <a:lnTo>
                  <a:pt x="1914935" y="2846737"/>
                </a:lnTo>
                <a:lnTo>
                  <a:pt x="1937989" y="2705152"/>
                </a:lnTo>
                <a:lnTo>
                  <a:pt x="1949767" y="2634485"/>
                </a:lnTo>
                <a:lnTo>
                  <a:pt x="1964803" y="2564569"/>
                </a:lnTo>
                <a:cubicBezTo>
                  <a:pt x="1974826" y="2517959"/>
                  <a:pt x="1984349" y="2471098"/>
                  <a:pt x="1995125" y="2424738"/>
                </a:cubicBezTo>
                <a:cubicBezTo>
                  <a:pt x="2019432" y="2332771"/>
                  <a:pt x="2041234" y="2240051"/>
                  <a:pt x="2070553" y="2149587"/>
                </a:cubicBezTo>
                <a:cubicBezTo>
                  <a:pt x="2096865" y="2058121"/>
                  <a:pt x="2128941" y="1968910"/>
                  <a:pt x="2160015" y="1879197"/>
                </a:cubicBezTo>
                <a:cubicBezTo>
                  <a:pt x="2176053" y="1834592"/>
                  <a:pt x="2193845" y="1790738"/>
                  <a:pt x="2210885" y="1746633"/>
                </a:cubicBezTo>
                <a:cubicBezTo>
                  <a:pt x="2227424" y="1702279"/>
                  <a:pt x="2245968" y="1658675"/>
                  <a:pt x="2264512" y="1615323"/>
                </a:cubicBezTo>
                <a:cubicBezTo>
                  <a:pt x="2337685" y="1440910"/>
                  <a:pt x="2419880" y="1270507"/>
                  <a:pt x="2509843" y="1104865"/>
                </a:cubicBezTo>
                <a:cubicBezTo>
                  <a:pt x="2599555" y="938972"/>
                  <a:pt x="2696284" y="777089"/>
                  <a:pt x="2800280" y="619717"/>
                </a:cubicBezTo>
                <a:cubicBezTo>
                  <a:pt x="2852153" y="541030"/>
                  <a:pt x="2906281" y="463597"/>
                  <a:pt x="2961913" y="387166"/>
                </a:cubicBezTo>
                <a:cubicBezTo>
                  <a:pt x="2989728" y="348826"/>
                  <a:pt x="3018547" y="310986"/>
                  <a:pt x="3047615" y="273397"/>
                </a:cubicBezTo>
                <a:lnTo>
                  <a:pt x="3092221" y="217014"/>
                </a:lnTo>
                <a:cubicBezTo>
                  <a:pt x="3107758" y="197718"/>
                  <a:pt x="3122041" y="180427"/>
                  <a:pt x="3140335" y="158876"/>
                </a:cubicBezTo>
                <a:lnTo>
                  <a:pt x="2959156" y="1253"/>
                </a:lnTo>
                <a:lnTo>
                  <a:pt x="2958906" y="0"/>
                </a:lnTo>
                <a:close/>
              </a:path>
            </a:pathLst>
          </a:custGeom>
          <a:solidFill>
            <a:schemeClr val="bg1"/>
          </a:solidFill>
          <a:ln w="317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042" name="Gráfico 32">
            <a:extLst>
              <a:ext uri="{FF2B5EF4-FFF2-40B4-BE49-F238E27FC236}">
                <a16:creationId xmlns:a16="http://schemas.microsoft.com/office/drawing/2014/main" xmlns="" id="{E24FB855-4407-742F-A63B-81BE13B08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6238876"/>
            <a:ext cx="1352550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8624224B-8F70-5DD3-98CA-22A8AC176586}"/>
              </a:ext>
            </a:extLst>
          </p:cNvPr>
          <p:cNvSpPr/>
          <p:nvPr/>
        </p:nvSpPr>
        <p:spPr>
          <a:xfrm rot="5400000">
            <a:off x="5481849" y="-53264"/>
            <a:ext cx="3124200" cy="7761454"/>
          </a:xfrm>
          <a:prstGeom prst="rect">
            <a:avLst/>
          </a:prstGeom>
          <a:solidFill>
            <a:srgbClr val="007E7A"/>
          </a:solidFill>
          <a:ln>
            <a:solidFill>
              <a:srgbClr val="007E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5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ale Sans" panose="020B0503020204030204" pitchFamily="34" charset="0"/>
              <a:ea typeface="+mn-ea"/>
              <a:cs typeface="+mn-cs"/>
            </a:endParaRPr>
          </a:p>
        </p:txBody>
      </p:sp>
      <p:sp>
        <p:nvSpPr>
          <p:cNvPr id="95237" name="Retângulo 1">
            <a:extLst>
              <a:ext uri="{FF2B5EF4-FFF2-40B4-BE49-F238E27FC236}">
                <a16:creationId xmlns:a16="http://schemas.microsoft.com/office/drawing/2014/main" xmlns="" id="{C9256502-E5BA-6EE8-0242-AF09E7C27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2323" y="2395538"/>
            <a:ext cx="7372350" cy="282538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285750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2857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CNPJ em nome do Fundo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Conta em nome do Fundo</a:t>
            </a:r>
          </a:p>
          <a:p>
            <a:pPr marL="2857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Lei de criação Conselho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Lei de Criação do Fundo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Nomeação do ordenador do Fundo (Portaria ou Resolução)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Nomeação  dos Conselheiros (representantes poder público </a:t>
            </a:r>
            <a:r>
              <a:rPr kumimoji="0" lang="pt-BR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e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 sociedade civil)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Demonstração de uso dos recursos repassados anteriormente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Dados do Presidente e do Ordenador de despesas com CPF (para Integridade)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ECB111"/>
                </a:solidFill>
                <a:effectLst/>
                <a:uLnTx/>
                <a:uFillTx/>
                <a:latin typeface="Vale Sans" panose="020B0503020204030204" pitchFamily="34" charset="0"/>
                <a:ea typeface="+mn-ea"/>
                <a:cs typeface="+mn-cs"/>
              </a:rPr>
              <a:t>Plano de ação e aplicação (não obrigatório). </a:t>
            </a:r>
            <a:endParaRPr kumimoji="0" lang="pt-BR" altLang="pt-BR" sz="1600" b="0" i="0" u="none" strike="noStrike" kern="1200" cap="none" spc="0" normalizeH="0" baseline="0" noProof="0" dirty="0">
              <a:ln>
                <a:noFill/>
              </a:ln>
              <a:solidFill>
                <a:srgbClr val="ECB111"/>
              </a:solidFill>
              <a:effectLst/>
              <a:uLnTx/>
              <a:uFillTx/>
              <a:latin typeface="Vale Sans" panose="020B0503020204030204" pitchFamily="34" charset="0"/>
              <a:ea typeface="+mn-ea"/>
              <a:cs typeface="+mn-cs"/>
            </a:endParaRPr>
          </a:p>
        </p:txBody>
      </p:sp>
      <p:sp>
        <p:nvSpPr>
          <p:cNvPr id="86020" name="CaixaDeTexto 7">
            <a:extLst>
              <a:ext uri="{FF2B5EF4-FFF2-40B4-BE49-F238E27FC236}">
                <a16:creationId xmlns:a16="http://schemas.microsoft.com/office/drawing/2014/main" xmlns="" id="{7C4B3D87-4296-C78C-4A9A-E12D12285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98538"/>
            <a:ext cx="10779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20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+mn-cs"/>
              </a:rPr>
              <a:t>Documentos definidos a partir de orientação da consultoria técnica, jurídico, e Integridade</a:t>
            </a:r>
          </a:p>
        </p:txBody>
      </p:sp>
      <p:sp>
        <p:nvSpPr>
          <p:cNvPr id="4" name="Seta: Curva para a Esquerda 3">
            <a:extLst>
              <a:ext uri="{FF2B5EF4-FFF2-40B4-BE49-F238E27FC236}">
                <a16:creationId xmlns:a16="http://schemas.microsoft.com/office/drawing/2014/main" xmlns="" id="{4443244A-4858-8521-9F21-5BA26100D2FF}"/>
              </a:ext>
            </a:extLst>
          </p:cNvPr>
          <p:cNvSpPr/>
          <p:nvPr/>
        </p:nvSpPr>
        <p:spPr>
          <a:xfrm>
            <a:off x="6370638" y="3159125"/>
            <a:ext cx="265112" cy="457200"/>
          </a:xfrm>
          <a:prstGeom prst="curvedLeftArrow">
            <a:avLst/>
          </a:prstGeom>
          <a:solidFill>
            <a:srgbClr val="0ABB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xmlns="" id="{D84DC115-716C-9A53-62CA-F329DC3544CB}"/>
              </a:ext>
            </a:extLst>
          </p:cNvPr>
          <p:cNvSpPr/>
          <p:nvPr/>
        </p:nvSpPr>
        <p:spPr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Helvetica Neue Medium"/>
            </a:endParaRPr>
          </a:p>
        </p:txBody>
      </p:sp>
      <p:sp>
        <p:nvSpPr>
          <p:cNvPr id="86023" name="Título do slide, não ultrapassar duas linhas">
            <a:extLst>
              <a:ext uri="{FF2B5EF4-FFF2-40B4-BE49-F238E27FC236}">
                <a16:creationId xmlns:a16="http://schemas.microsoft.com/office/drawing/2014/main" xmlns="" id="{3C1A36D0-D10D-4DFC-483E-49D1C13D5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3075"/>
            <a:ext cx="10537825" cy="536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25400" tIns="25400" rIns="25400" bIns="2540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  <a:sym typeface="Vale Sans Medium" panose="020B0603020204030204" pitchFamily="34" charset="0"/>
              </a:rPr>
              <a:t>Documentação – Fundos de Direitos</a:t>
            </a:r>
          </a:p>
        </p:txBody>
      </p:sp>
      <p:pic>
        <p:nvPicPr>
          <p:cNvPr id="86024" name="Gráfico 8" descr="Lista com preenchimento sólido">
            <a:extLst>
              <a:ext uri="{FF2B5EF4-FFF2-40B4-BE49-F238E27FC236}">
                <a16:creationId xmlns:a16="http://schemas.microsoft.com/office/drawing/2014/main" xmlns="" id="{C213BE58-B3E2-1FB7-540C-EC7DC6FAD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87" y="2123613"/>
            <a:ext cx="1878848" cy="1878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to 43" hidden="1">
            <a:extLst>
              <a:ext uri="{FF2B5EF4-FFF2-40B4-BE49-F238E27FC236}">
                <a16:creationId xmlns:a16="http://schemas.microsoft.com/office/drawing/2014/main" xmlns="" id="{A808438F-FAFF-670C-5E0B-109F9B650C3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Slide do think-cell" r:id="rId5" imgW="360" imgH="360" progId="TCLayout.ActiveDocument.1">
                  <p:embed/>
                </p:oleObj>
              </mc:Choice>
              <mc:Fallback>
                <p:oleObj name="Slide do think-cell" r:id="rId5" imgW="360" imgH="360" progId="TCLayout.ActiveDocument.1">
                  <p:embed/>
                  <p:pic>
                    <p:nvPicPr>
                      <p:cNvPr id="39938" name="Objeto 43" hidden="1">
                        <a:extLst>
                          <a:ext uri="{FF2B5EF4-FFF2-40B4-BE49-F238E27FC236}">
                            <a16:creationId xmlns:a16="http://schemas.microsoft.com/office/drawing/2014/main" xmlns="" id="{A808438F-FAFF-670C-5E0B-109F9B650C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424D51B4-5F65-6FA2-D4F3-65F9EBB9B7D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D2B715BC-0E97-A76E-2090-34EFC303C047}"/>
              </a:ext>
            </a:extLst>
          </p:cNvPr>
          <p:cNvSpPr txBox="1">
            <a:spLocks/>
          </p:cNvSpPr>
          <p:nvPr/>
        </p:nvSpPr>
        <p:spPr>
          <a:xfrm>
            <a:off x="519113" y="227013"/>
            <a:ext cx="10964862" cy="450850"/>
          </a:xfrm>
          <a:prstGeom prst="rect">
            <a:avLst/>
          </a:prstGeom>
        </p:spPr>
        <p:txBody>
          <a:bodyPr lIns="0" tIns="0" rIns="0" bIns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74767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747678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747678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747678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747678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7E7A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7E7A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7E7A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007E7A"/>
                </a:solidFill>
                <a:latin typeface="Arial" charset="0"/>
              </a:defRPr>
            </a:lvl9pPr>
          </a:lstStyle>
          <a:p>
            <a:pPr marL="265113" marR="0" lvl="1" indent="-265113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pt-BR" sz="16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Vale Sans" panose="020B0503020204030204"/>
              <a:ea typeface="+mn-ea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39943" name="Imagem 2">
            <a:extLst>
              <a:ext uri="{FF2B5EF4-FFF2-40B4-BE49-F238E27FC236}">
                <a16:creationId xmlns:a16="http://schemas.microsoft.com/office/drawing/2014/main" xmlns="" id="{7B995F81-ED1B-C6B0-1607-2CD6D0448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131" y="1580164"/>
            <a:ext cx="4325938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xmlns="" id="{4783FB46-C9E3-520D-1A80-DF591F73F427}"/>
              </a:ext>
            </a:extLst>
          </p:cNvPr>
          <p:cNvSpPr/>
          <p:nvPr/>
        </p:nvSpPr>
        <p:spPr>
          <a:xfrm>
            <a:off x="7193069" y="2742214"/>
            <a:ext cx="101600" cy="77788"/>
          </a:xfrm>
          <a:prstGeom prst="rightArrow">
            <a:avLst/>
          </a:prstGeom>
          <a:solidFill>
            <a:srgbClr val="E37022"/>
          </a:solidFill>
          <a:ln>
            <a:solidFill>
              <a:srgbClr val="E370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E37022"/>
              </a:solidFill>
              <a:effectLst/>
              <a:highlight>
                <a:srgbClr val="E37022"/>
              </a:highlight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xmlns="" id="{ED889E61-4112-E389-BF59-0554C12E5F90}"/>
              </a:ext>
            </a:extLst>
          </p:cNvPr>
          <p:cNvSpPr/>
          <p:nvPr/>
        </p:nvSpPr>
        <p:spPr>
          <a:xfrm>
            <a:off x="7220056" y="3267677"/>
            <a:ext cx="101600" cy="77787"/>
          </a:xfrm>
          <a:prstGeom prst="rightArrow">
            <a:avLst/>
          </a:prstGeom>
          <a:solidFill>
            <a:srgbClr val="E37022"/>
          </a:solidFill>
          <a:ln>
            <a:solidFill>
              <a:srgbClr val="E370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E37022"/>
              </a:solidFill>
              <a:effectLst/>
              <a:highlight>
                <a:srgbClr val="E37022"/>
              </a:highlight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xmlns="" id="{9BB5A76D-B03C-E6EB-5BC0-D88A6432639F}"/>
              </a:ext>
            </a:extLst>
          </p:cNvPr>
          <p:cNvSpPr/>
          <p:nvPr/>
        </p:nvSpPr>
        <p:spPr>
          <a:xfrm>
            <a:off x="7218469" y="3783614"/>
            <a:ext cx="101600" cy="79375"/>
          </a:xfrm>
          <a:prstGeom prst="rightArrow">
            <a:avLst/>
          </a:prstGeom>
          <a:solidFill>
            <a:srgbClr val="E37022"/>
          </a:solidFill>
          <a:ln>
            <a:solidFill>
              <a:srgbClr val="E370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E37022"/>
              </a:solidFill>
              <a:effectLst/>
              <a:highlight>
                <a:srgbClr val="E37022"/>
              </a:highlight>
              <a:uLnTx/>
              <a:uFillTx/>
              <a:latin typeface="Myriad Pro"/>
              <a:ea typeface="+mn-ea"/>
              <a:cs typeface="+mn-cs"/>
            </a:endParaRPr>
          </a:p>
        </p:txBody>
      </p:sp>
      <p:sp>
        <p:nvSpPr>
          <p:cNvPr id="14" name="Retângulo 1">
            <a:extLst>
              <a:ext uri="{FF2B5EF4-FFF2-40B4-BE49-F238E27FC236}">
                <a16:creationId xmlns:a16="http://schemas.microsoft.com/office/drawing/2014/main" xmlns="" id="{00813953-5C9B-4498-8B97-867EFCE61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80" y="1726976"/>
            <a:ext cx="5597045" cy="3477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spcBef>
                <a:spcPts val="1825"/>
              </a:spcBef>
              <a:buFont typeface="Arial" panose="020B0604020202020204" pitchFamily="34" charset="0"/>
              <a:defRPr>
                <a:solidFill>
                  <a:srgbClr val="7476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CNPJ em nome do respectivo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Fundo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Expressão que estabeleça claramente a condição do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Fundo da Criança / Fundo do Idoso;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CNAE  - Código e Descrição da Atividade Econômica: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84.11-6-00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– Administração Pública em Geral 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Código da natureza jurídica: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133-3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– Fundo Público da Administração Direta Municipal 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Com situação cadastral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ativa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Estar vinculado a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endereço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ao qual o fundo está subscrito.</a:t>
            </a:r>
          </a:p>
        </p:txBody>
      </p:sp>
      <p:sp>
        <p:nvSpPr>
          <p:cNvPr id="15" name="Retângulo 6">
            <a:extLst>
              <a:ext uri="{FF2B5EF4-FFF2-40B4-BE49-F238E27FC236}">
                <a16:creationId xmlns:a16="http://schemas.microsoft.com/office/drawing/2014/main" xmlns="" id="{FB68679E-198D-4544-AC90-8BF955214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87" y="432267"/>
            <a:ext cx="7830004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CNPJ em nome do Fundo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CE7ACF34-A47D-6E1A-C31D-76FCDE70C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21277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D1E0BCCB-5B3B-13D9-07FF-A69687A55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7629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to 43" hidden="1">
            <a:extLst>
              <a:ext uri="{FF2B5EF4-FFF2-40B4-BE49-F238E27FC236}">
                <a16:creationId xmlns:a16="http://schemas.microsoft.com/office/drawing/2014/main" xmlns="" id="{C9EE50EE-F17D-7565-5DC0-548329D9C1D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Slide do think-cell" r:id="rId5" imgW="360" imgH="360" progId="TCLayout.ActiveDocument.1">
                  <p:embed/>
                </p:oleObj>
              </mc:Choice>
              <mc:Fallback>
                <p:oleObj name="Slide do think-cell" r:id="rId5" imgW="360" imgH="360" progId="TCLayout.ActiveDocument.1">
                  <p:embed/>
                  <p:pic>
                    <p:nvPicPr>
                      <p:cNvPr id="40962" name="Objeto 43" hidden="1">
                        <a:extLst>
                          <a:ext uri="{FF2B5EF4-FFF2-40B4-BE49-F238E27FC236}">
                            <a16:creationId xmlns:a16="http://schemas.microsoft.com/office/drawing/2014/main" xmlns="" id="{C9EE50EE-F17D-7565-5DC0-548329D9C1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58F7BB4A-E556-FE13-8D58-C39D59A7CC8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8436" name="Retângulo 1">
            <a:extLst>
              <a:ext uri="{FF2B5EF4-FFF2-40B4-BE49-F238E27FC236}">
                <a16:creationId xmlns:a16="http://schemas.microsoft.com/office/drawing/2014/main" xmlns="" id="{EBC0B19D-BDA1-FE58-C710-184754E75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273" y="1338669"/>
            <a:ext cx="9969344" cy="51090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spcBef>
                <a:spcPts val="1825"/>
              </a:spcBef>
              <a:buFont typeface="Arial" panose="020B0604020202020204" pitchFamily="34" charset="0"/>
              <a:defRPr>
                <a:solidFill>
                  <a:srgbClr val="74767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7938" marR="0" lvl="0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A) Para cadastro de novos Fundos (que receberam há mais de 3 anos ou nunca receberam da Vale):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endParaRPr kumimoji="0" lang="pt-BR" sz="1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Contrato de abertura da Conta 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(assinado pelo Banco e pelo representante do Fundo)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endParaRPr kumimoji="0" lang="pt-BR" sz="1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Planilha de cadastro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de fornecedores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(utilizar este anexo)</a:t>
            </a:r>
            <a:endParaRPr kumimoji="0" lang="pt-BR" sz="1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eriod"/>
              <a:tabLst/>
              <a:defRPr/>
            </a:pPr>
            <a:endParaRPr kumimoji="0" lang="pt-BR" sz="1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700" b="0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700" b="0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Obs.: se não for possível apresentar o contrato de abertura da conta, deverá ser apresentado </a:t>
            </a:r>
            <a:r>
              <a:rPr kumimoji="0" lang="pt-BR" sz="17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Declaração do Banco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, observando:</a:t>
            </a:r>
          </a:p>
          <a:p>
            <a:pPr marL="1074738" marR="0" lvl="1" indent="-352425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Que esteja em </a:t>
            </a:r>
            <a:r>
              <a:rPr kumimoji="0" lang="pt-BR" sz="17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papel timbrado, assinado e carimbado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pelo gerente do banco</a:t>
            </a:r>
          </a:p>
          <a:p>
            <a:pPr marL="1074738" marR="0" lvl="1" indent="-352425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Que contenha o </a:t>
            </a:r>
            <a:r>
              <a:rPr kumimoji="0" lang="pt-BR" sz="17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nome do Fundo, número do CNPJ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(exatamente conforme o Cadastro) ;</a:t>
            </a:r>
          </a:p>
          <a:p>
            <a:pPr marL="1074738" marR="0" lvl="1" indent="-352425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Número da </a:t>
            </a:r>
            <a:r>
              <a:rPr kumimoji="0" lang="pt-BR" sz="17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conta com dígito</a:t>
            </a:r>
          </a:p>
          <a:p>
            <a:pPr marL="1074738" marR="0" lvl="1" indent="-352425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Número da </a:t>
            </a:r>
            <a:r>
              <a:rPr kumimoji="0" lang="pt-BR" sz="17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agência</a:t>
            </a: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com dígito (quando houver).</a:t>
            </a:r>
          </a:p>
          <a:p>
            <a:pPr marL="1074738" marR="0" lvl="1" indent="-352425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endParaRPr kumimoji="0" lang="pt-BR" sz="1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B) Para Fundos </a:t>
            </a:r>
            <a:r>
              <a:rPr kumimoji="0" lang="pt-BR" sz="1800" b="1" i="0" u="sng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que já receberam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da Vale (entre 2020 e 2022) é suficiente:</a:t>
            </a:r>
          </a:p>
          <a:p>
            <a:pPr marL="7938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Declaração do Banco, com nome do Fundo, CNPJ, dados bancários completos, informando que a conta está ativa</a:t>
            </a:r>
          </a:p>
        </p:txBody>
      </p:sp>
      <p:sp>
        <p:nvSpPr>
          <p:cNvPr id="15" name="Retângulo 6">
            <a:extLst>
              <a:ext uri="{FF2B5EF4-FFF2-40B4-BE49-F238E27FC236}">
                <a16:creationId xmlns:a16="http://schemas.microsoft.com/office/drawing/2014/main" xmlns="" id="{2A64BC52-9231-4025-B2B3-0AFE8B400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41" y="340337"/>
            <a:ext cx="7830004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Conta Corrente em nome do Fundo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2D44B937-6950-C42E-15B8-CEA45EEF9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21277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xmlns="" id="{7A50D32A-ADD4-62FC-4CDE-711454302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722492"/>
              </p:ext>
            </p:extLst>
          </p:nvPr>
        </p:nvGraphicFramePr>
        <p:xfrm>
          <a:off x="7327900" y="2393950"/>
          <a:ext cx="509588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Planilha Habilitada para Macro" showAsIcon="1" r:id="rId7" imgW="380814" imgH="771595" progId="Excel.SheetMacroEnabled.12">
                  <p:embed/>
                </p:oleObj>
              </mc:Choice>
              <mc:Fallback>
                <p:oleObj name="Planilha Habilitada para Macro" showAsIcon="1" r:id="rId7" imgW="380814" imgH="771595" progId="Excel.SheetMacroEnabled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xmlns="" id="{7A50D32A-ADD4-62FC-4CDE-7114543021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27900" y="2393950"/>
                        <a:ext cx="509588" cy="1035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CaixaDeTexto 34">
            <a:extLst>
              <a:ext uri="{FF2B5EF4-FFF2-40B4-BE49-F238E27FC236}">
                <a16:creationId xmlns:a16="http://schemas.microsoft.com/office/drawing/2014/main" xmlns="" id="{828AA483-1B61-F8E5-62B7-8FDBF10E0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83" y="1506147"/>
            <a:ext cx="9985138" cy="39395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79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Considerar a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paridade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dos Conselheiros e garantia do papel deliberativo do Conselho.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Mandato de no máximo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2 anos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, com alternância nos mandatos entre governo e sociedade civil.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Vinculação do Fundo ao Conselho.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Identificação da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Secretaria 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à qual o Conselho está administrativamente vinculado.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Forma de escolha dos conselheiros da Sociedade civil – eleição.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Não pode constar como conselheiro: Autoridade Judiciária ou Legislativa; Conselheiro Tutelar em exercício; Cargo Comissionado ou Função Comissionada representando a sociedade civil.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 função de membro do Conselho não será remunerada em qualquer hipótese, nem através de “jetom”.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 Lei deve estar publicada no diário oficial.</a:t>
            </a:r>
            <a:endParaRPr kumimoji="0" lang="pt-BR" altLang="pt-BR" sz="1800" b="1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tângulo 6">
            <a:extLst>
              <a:ext uri="{FF2B5EF4-FFF2-40B4-BE49-F238E27FC236}">
                <a16:creationId xmlns:a16="http://schemas.microsoft.com/office/drawing/2014/main" xmlns="" id="{F2FCB2D1-ABAA-4987-AF89-1D73F768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50" y="371920"/>
            <a:ext cx="7830004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Lei de criação do Conselho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C4A78A2D-41AD-C492-53E2-31CAD35F9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CaixaDeTexto 34">
            <a:extLst>
              <a:ext uri="{FF2B5EF4-FFF2-40B4-BE49-F238E27FC236}">
                <a16:creationId xmlns:a16="http://schemas.microsoft.com/office/drawing/2014/main" xmlns="" id="{9F7D5D23-F97C-5B08-06FA-8D1370B2A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61" y="1551071"/>
            <a:ext cx="10363704" cy="36625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79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Fontes de recurso (precisa constar expressamente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doação com incentivo fiscal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ou, minimamente, doação de pessoas físicas e jurídicas.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Objetivo / finalidade do Fundo.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Como é feita a gestão do Fundo  (Conselho delibera sobre aplicação do recurso e fiscaliza seu uso).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Não considerar o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Gestor do Fundo presidente, tesoureiro ou uma pasta.</a:t>
            </a: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7938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800" b="0" i="0" u="none" strike="noStrike" kern="1200" cap="none" spc="0" normalizeH="0" baseline="0" noProof="0" dirty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7938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Obs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pt-BR" altLang="pt-BR" sz="1800" b="1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293688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Geralmente a lei do Fundo é a mesma do Conselho, mas pode estar separada.</a:t>
            </a:r>
          </a:p>
          <a:p>
            <a:pPr marL="293688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Os Conselhos e os Fundos só podem ser criados por Lei  - não pode ser por decreto ou outro ato.</a:t>
            </a:r>
          </a:p>
        </p:txBody>
      </p:sp>
      <p:sp>
        <p:nvSpPr>
          <p:cNvPr id="17" name="Retângulo 6">
            <a:extLst>
              <a:ext uri="{FF2B5EF4-FFF2-40B4-BE49-F238E27FC236}">
                <a16:creationId xmlns:a16="http://schemas.microsoft.com/office/drawing/2014/main" xmlns="" id="{A6E6F175-FD39-462D-A8DF-3DC242CCA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61" y="420047"/>
            <a:ext cx="7830004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Lei de criação do Fundo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C3EAB9DE-0184-6DAE-7EB0-D401571A4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to 43" hidden="1">
            <a:extLst>
              <a:ext uri="{FF2B5EF4-FFF2-40B4-BE49-F238E27FC236}">
                <a16:creationId xmlns:a16="http://schemas.microsoft.com/office/drawing/2014/main" xmlns="" id="{76747282-D5F8-2B6B-A53F-9C758D6FA3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Slide do think-cell" r:id="rId5" imgW="360" imgH="360" progId="TCLayout.ActiveDocument.1">
                  <p:embed/>
                </p:oleObj>
              </mc:Choice>
              <mc:Fallback>
                <p:oleObj name="Slide do think-cell" r:id="rId5" imgW="360" imgH="360" progId="TCLayout.ActiveDocument.1">
                  <p:embed/>
                  <p:pic>
                    <p:nvPicPr>
                      <p:cNvPr id="38914" name="Objeto 43" hidden="1">
                        <a:extLst>
                          <a:ext uri="{FF2B5EF4-FFF2-40B4-BE49-F238E27FC236}">
                            <a16:creationId xmlns:a16="http://schemas.microsoft.com/office/drawing/2014/main" xmlns="" id="{76747282-D5F8-2B6B-A53F-9C758D6FA3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3A4DF875-A258-337A-1600-E361AE5BC7E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8436" name="Retângulo 1">
            <a:extLst>
              <a:ext uri="{FF2B5EF4-FFF2-40B4-BE49-F238E27FC236}">
                <a16:creationId xmlns:a16="http://schemas.microsoft.com/office/drawing/2014/main" xmlns="" id="{F7685C8E-CB65-AECD-9528-B7DD2400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82" y="1645036"/>
            <a:ext cx="10172127" cy="307776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Ordenador ou Gestor do Fundo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deverá ser um servidor público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 legislação atual fala em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Ordenador e não em junta administrativa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 A lei municipal deve estar atualizada e a nomeação do Ordenador deve seguir esta legislação.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Não confundir Ordenador da Despesa com Contador da Prefeitura ou Tesoureiro do Conselho.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Ordenador não deve ser o Presidente 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ou Tesoureiro do Conselho.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Nomeação 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via Portaria ou Resolução, publicada no diário oficial.</a:t>
            </a:r>
          </a:p>
          <a:p>
            <a:pPr marL="350838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Quando a Lei definir que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Ordenador é a “pasta” de Assistência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, não é possível considerar automaticamente que o Ordenador é o Secretário. </a:t>
            </a:r>
          </a:p>
        </p:txBody>
      </p:sp>
      <p:sp>
        <p:nvSpPr>
          <p:cNvPr id="14" name="Retângulo 6">
            <a:extLst>
              <a:ext uri="{FF2B5EF4-FFF2-40B4-BE49-F238E27FC236}">
                <a16:creationId xmlns:a16="http://schemas.microsoft.com/office/drawing/2014/main" xmlns="" id="{57F2013D-54A4-43D2-BC08-0385125B0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82" y="436089"/>
            <a:ext cx="919857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Nomeação do Ordenador de Despesas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F2109D57-5EDB-8F1B-1725-058E5AA4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21277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8" name="Objeto 43" hidden="1">
            <a:extLst>
              <a:ext uri="{FF2B5EF4-FFF2-40B4-BE49-F238E27FC236}">
                <a16:creationId xmlns:a16="http://schemas.microsoft.com/office/drawing/2014/main" xmlns="" id="{A0E816A1-BEA6-4B7A-379D-4F82248B7CB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Slide do think-cell" r:id="rId5" imgW="360" imgH="360" progId="TCLayout.ActiveDocument.1">
                  <p:embed/>
                </p:oleObj>
              </mc:Choice>
              <mc:Fallback>
                <p:oleObj name="Slide do think-cell" r:id="rId5" imgW="360" imgH="360" progId="TCLayout.ActiveDocument.1">
                  <p:embed/>
                  <p:pic>
                    <p:nvPicPr>
                      <p:cNvPr id="45058" name="Objeto 43" hidden="1">
                        <a:extLst>
                          <a:ext uri="{FF2B5EF4-FFF2-40B4-BE49-F238E27FC236}">
                            <a16:creationId xmlns:a16="http://schemas.microsoft.com/office/drawing/2014/main" xmlns="" id="{A0E816A1-BEA6-4B7A-379D-4F82248B7C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861AB67F-3DBE-C2EE-AE99-05548C1A1C6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yriad Pro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8436" name="Retângulo 1">
            <a:extLst>
              <a:ext uri="{FF2B5EF4-FFF2-40B4-BE49-F238E27FC236}">
                <a16:creationId xmlns:a16="http://schemas.microsoft.com/office/drawing/2014/main" xmlns="" id="{5452EA9E-17EA-FF27-822F-AA05517C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61" y="1211899"/>
            <a:ext cx="10406505" cy="55194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35401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F5F5F"/>
              </a:buClr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número de conselheiros nomeados 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deve corresponder ao previsto na Lei Municipal.</a:t>
            </a:r>
            <a:endParaRPr kumimoji="0" lang="pt-BR" altLang="pt-BR" sz="1600" b="1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F5F5F"/>
              </a:buClr>
              <a:buSzTx/>
              <a:buFontTx/>
              <a:buNone/>
              <a:tabLst>
                <a:tab pos="354013" algn="l"/>
              </a:tabLst>
              <a:defRPr/>
            </a:pPr>
            <a:endParaRPr kumimoji="0" lang="pt-BR" altLang="pt-BR" sz="1000" b="1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F5F5F"/>
              </a:buClr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Nomeação dos representantes do </a:t>
            </a:r>
            <a:r>
              <a:rPr kumimoji="0" lang="pt-BR" altLang="pt-BR" sz="1600" b="1" i="0" u="sng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Governo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+mj-lt"/>
              <a:buAutoNum type="alphaLcPeriod"/>
              <a:tabLst>
                <a:tab pos="354013" algn="l"/>
              </a:tabLst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O </a:t>
            </a:r>
            <a:r>
              <a:rPr kumimoji="0" lang="pt-BR" altLang="pt-B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tempo de mandato</a:t>
            </a: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 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dos 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representantes do governo deve estar </a:t>
            </a:r>
            <a:r>
              <a:rPr kumimoji="0" lang="pt-BR" altLang="pt-B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expresso no ato de nomeação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/>
              </a:rPr>
              <a:t>.</a:t>
            </a:r>
            <a:endParaRPr kumimoji="0" lang="pt-BR" alt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95959"/>
              </a:buClr>
              <a:buSzTx/>
              <a:buFontTx/>
              <a:buNone/>
              <a:tabLst/>
              <a:defRPr/>
            </a:pPr>
            <a:endParaRPr kumimoji="0" lang="pt-BR" altLang="pt-B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FF9933"/>
              </a:buClr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Nomeação dos representantes da </a:t>
            </a:r>
            <a:r>
              <a:rPr kumimoji="0" lang="pt-BR" altLang="pt-BR" sz="1600" b="1" i="0" u="sng" strike="noStrike" kern="120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sociedade civil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+mj-lt"/>
              <a:buAutoNum type="alphaLcParenR"/>
              <a:tabLst>
                <a:tab pos="354013" algn="l"/>
              </a:tabLst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Mandato de </a:t>
            </a: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02 (dois) anos, 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vedada a prorrogação de mandatos com recondução automática.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+mj-lt"/>
              <a:buAutoNum type="alphaLcParenR"/>
              <a:tabLst>
                <a:tab pos="354013" algn="l"/>
              </a:tabLst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 OSC terá como seu suplente outra entidade.  A instituição eleita indica o titular e seu substituto.</a:t>
            </a: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+mj-lt"/>
              <a:buAutoNum type="alphaLcParenR"/>
              <a:tabLst>
                <a:tab pos="354013" algn="l"/>
              </a:tabLst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Nenhuma instituição pode ter 2 assentos no Conselho.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pt-BR" altLang="pt-B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E37022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Obs.: a lei determina impedimentos para compor o Conselho:</a:t>
            </a:r>
          </a:p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I - Conselhos de políticas públicas; 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95959"/>
              </a:buClr>
              <a:buSzTx/>
              <a:buFontTx/>
              <a:buNone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II - Representantes de órgão de outras esferas governamentais; 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95959"/>
              </a:buClr>
              <a:buSzTx/>
              <a:buFontTx/>
              <a:buNone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III - Representantes que exerçam simultaneamente cargo ou função comissionada de órgão governamental e de direção em organização da sociedade civil;  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95959"/>
              </a:buClr>
              <a:buSzTx/>
              <a:buFontTx/>
              <a:buNone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IV - Conselheiros Tutelares. em exercício; 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>
                <a:srgbClr val="595959"/>
              </a:buClr>
              <a:buSzTx/>
              <a:buFontTx/>
              <a:buNone/>
              <a:tabLst/>
              <a:defRPr/>
            </a:pP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V - </a:t>
            </a:r>
            <a:r>
              <a:rPr kumimoji="0" lang="pt-BR" altLang="pt-BR" sz="16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 autoridade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judiciária, legislativa e o representante do MP e da Defensoria Pública com atuação na área da criança e do adolescente ou em exercício.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endParaRPr kumimoji="0" lang="pt-BR" altLang="pt-BR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>
                <a:tab pos="354013" algn="l"/>
              </a:tabLst>
              <a:defRPr/>
            </a:pP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ATENÇÃO!!! </a:t>
            </a: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mandato 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precisa </a:t>
            </a:r>
            <a:r>
              <a:rPr kumimoji="0" lang="pt-BR" altLang="pt-BR" sz="16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estar vigente 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na data do repasse do recurso (</a:t>
            </a:r>
            <a:r>
              <a:rPr kumimoji="0" lang="pt-BR" alt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nov</a:t>
            </a:r>
            <a:r>
              <a:rPr kumimoji="0" lang="pt-BR" alt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/dez</a:t>
            </a:r>
            <a:r>
              <a:rPr kumimoji="0" lang="pt-BR" alt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16" name="Retângulo 6">
            <a:extLst>
              <a:ext uri="{FF2B5EF4-FFF2-40B4-BE49-F238E27FC236}">
                <a16:creationId xmlns:a16="http://schemas.microsoft.com/office/drawing/2014/main" xmlns="" id="{8762138B-16A5-4BE0-A7EF-1DBB182DC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61" y="413614"/>
            <a:ext cx="9773104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Nomeação dos Conselheiros  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9F85D9ED-E0DB-564E-D5C5-4C93AA9C1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to 43" hidden="1">
            <a:extLst>
              <a:ext uri="{FF2B5EF4-FFF2-40B4-BE49-F238E27FC236}">
                <a16:creationId xmlns:a16="http://schemas.microsoft.com/office/drawing/2014/main" xmlns="" id="{A9478C65-33D0-FB2F-C16E-10C735A20D5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Slide do think-cell" r:id="rId6" imgW="360" imgH="360" progId="TCLayout.ActiveDocument.1">
                  <p:embed/>
                </p:oleObj>
              </mc:Choice>
              <mc:Fallback>
                <p:oleObj name="Slide do think-cell" r:id="rId6" imgW="360" imgH="360" progId="TCLayout.ActiveDocument.1">
                  <p:embed/>
                  <p:pic>
                    <p:nvPicPr>
                      <p:cNvPr id="60418" name="Objeto 43" hidden="1">
                        <a:extLst>
                          <a:ext uri="{FF2B5EF4-FFF2-40B4-BE49-F238E27FC236}">
                            <a16:creationId xmlns:a16="http://schemas.microsoft.com/office/drawing/2014/main" xmlns="" id="{A9478C65-33D0-FB2F-C16E-10C735A20D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68FE3FD9-E546-A308-7FD7-F31DC7C0BE0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5060" name="Retângulo 1">
            <a:extLst>
              <a:ext uri="{FF2B5EF4-FFF2-40B4-BE49-F238E27FC236}">
                <a16:creationId xmlns:a16="http://schemas.microsoft.com/office/drawing/2014/main" xmlns="" id="{4A873333-91E1-4A65-01FC-32E7CAD0B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63" y="1604427"/>
            <a:ext cx="10705873" cy="127727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49263" indent="-2730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Modelo definido pela área de Integridade, necessário para análise dos Fundos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(utilizar este anexo).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pt-BR" sz="19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tângulo 6">
            <a:extLst>
              <a:ext uri="{FF2B5EF4-FFF2-40B4-BE49-F238E27FC236}">
                <a16:creationId xmlns:a16="http://schemas.microsoft.com/office/drawing/2014/main" xmlns="" id="{A3356B55-6E0E-4BDE-9C55-13A1E6CCC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63" y="402969"/>
            <a:ext cx="10705873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Dados do Presidente, Ordenador e conselheiros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AE2EE043-3C01-C5B6-D811-8D5110159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CBFC9ED1-A663-EC6D-4907-9E06526622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9872" y="2243064"/>
          <a:ext cx="1513804" cy="1277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Worksheet" showAsIcon="1" r:id="rId9" imgW="914570" imgH="771690" progId="Excel.Sheet.12">
                  <p:embed/>
                </p:oleObj>
              </mc:Choice>
              <mc:Fallback>
                <p:oleObj name="Worksheet" showAsIcon="1" r:id="rId9" imgW="914570" imgH="771690" progId="Excel.Sheet.12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xmlns="" id="{CBFC9ED1-A663-EC6D-4907-9E06526622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09872" y="2243064"/>
                        <a:ext cx="1513804" cy="1277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75314B42-AA64-3A4E-063E-729D066195E4}"/>
              </a:ext>
            </a:extLst>
          </p:cNvPr>
          <p:cNvSpPr txBox="1"/>
          <p:nvPr/>
        </p:nvSpPr>
        <p:spPr>
          <a:xfrm>
            <a:off x="505326" y="3785937"/>
            <a:ext cx="10250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ATENÇÃO! </a:t>
            </a:r>
          </a:p>
          <a:p>
            <a:pPr marL="45720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Ajustado com Integridade que solicitaremos apenas dados do Presidente e do Ordenador.</a:t>
            </a:r>
          </a:p>
          <a:p>
            <a:pPr marL="45720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Se necessário para alguma análise específica, solicitaremos dos demais conselheiros</a:t>
            </a:r>
          </a:p>
        </p:txBody>
      </p:sp>
    </p:spTree>
    <p:extLst>
      <p:ext uri="{BB962C8B-B14F-4D97-AF65-F5344CB8AC3E}">
        <p14:creationId xmlns:p14="http://schemas.microsoft.com/office/powerpoint/2010/main" val="2381126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to 43" hidden="1">
            <a:extLst>
              <a:ext uri="{FF2B5EF4-FFF2-40B4-BE49-F238E27FC236}">
                <a16:creationId xmlns:a16="http://schemas.microsoft.com/office/drawing/2014/main" xmlns="" id="{A9478C65-33D0-FB2F-C16E-10C735A20D5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Slide do think-cell" r:id="rId6" imgW="360" imgH="360" progId="TCLayout.ActiveDocument.1">
                  <p:embed/>
                </p:oleObj>
              </mc:Choice>
              <mc:Fallback>
                <p:oleObj name="Slide do think-cell" r:id="rId6" imgW="360" imgH="360" progId="TCLayout.ActiveDocument.1">
                  <p:embed/>
                  <p:pic>
                    <p:nvPicPr>
                      <p:cNvPr id="60418" name="Objeto 43" hidden="1">
                        <a:extLst>
                          <a:ext uri="{FF2B5EF4-FFF2-40B4-BE49-F238E27FC236}">
                            <a16:creationId xmlns:a16="http://schemas.microsoft.com/office/drawing/2014/main" xmlns="" id="{A9478C65-33D0-FB2F-C16E-10C735A20D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68FE3FD9-E546-A308-7FD7-F31DC7C0BE0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5060" name="Retângulo 1">
            <a:extLst>
              <a:ext uri="{FF2B5EF4-FFF2-40B4-BE49-F238E27FC236}">
                <a16:creationId xmlns:a16="http://schemas.microsoft.com/office/drawing/2014/main" xmlns="" id="{4A873333-91E1-4A65-01FC-32E7CAD0B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91" y="1430759"/>
            <a:ext cx="10647887" cy="44781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49263" indent="-2730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Devem ser </a:t>
            </a:r>
            <a:r>
              <a:rPr kumimoji="0" lang="pt-BR" sz="19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utilizados estes anexos</a:t>
            </a: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pt-BR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Todos os campos devem ser preenchidos, inclusive identificação do responsável do Conselho </a:t>
            </a: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pelo preenchimento.</a:t>
            </a: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Os recursos do Fundo utilizados para o financiamento, total ou parcial, de projetos desenvolvidos por entidades </a:t>
            </a:r>
            <a:r>
              <a:rPr kumimoji="0" lang="pt-BR" sz="19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governamentais ou não governamentais </a:t>
            </a: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devem ser demonstrados na planilha.</a:t>
            </a: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Será analisado o % do recurso utilizado considerando </a:t>
            </a:r>
            <a:r>
              <a:rPr kumimoji="0" lang="pt-BR" sz="19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último repasse da Vale</a:t>
            </a: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e </a:t>
            </a:r>
            <a:r>
              <a:rPr kumimoji="0" lang="pt-BR" sz="19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valor total do Fundo</a:t>
            </a: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srgbClr val="F4740A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1" indent="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Obs.: O preenchimento de</a:t>
            </a:r>
            <a:r>
              <a:rPr kumimoji="0" lang="pt-B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stas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planilhas é necessário para todos os Fundos que receberam recurso em 2022 ou nos últimos 5 anos e que ainda não tenham demonstrado o uso desses recursos.</a:t>
            </a:r>
          </a:p>
        </p:txBody>
      </p:sp>
      <p:sp>
        <p:nvSpPr>
          <p:cNvPr id="8" name="Retângulo 6">
            <a:extLst>
              <a:ext uri="{FF2B5EF4-FFF2-40B4-BE49-F238E27FC236}">
                <a16:creationId xmlns:a16="http://schemas.microsoft.com/office/drawing/2014/main" xmlns="" id="{A3356B55-6E0E-4BDE-9C55-13A1E6CCC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092" y="456649"/>
            <a:ext cx="8205561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Planilha de uso dos recursos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92273248-13EE-7604-5F5F-7FA4962F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xmlns="" id="{5EA1B857-B1FB-A474-EEDB-FCFE2D8D1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557172"/>
              </p:ext>
            </p:extLst>
          </p:nvPr>
        </p:nvGraphicFramePr>
        <p:xfrm>
          <a:off x="6907161" y="1962713"/>
          <a:ext cx="1528916" cy="1290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Worksheet" showAsIcon="1" r:id="rId9" imgW="914570" imgH="771690" progId="Excel.Sheet.12">
                  <p:embed/>
                </p:oleObj>
              </mc:Choice>
              <mc:Fallback>
                <p:oleObj name="Worksheet" showAsIcon="1" r:id="rId9" imgW="914570" imgH="7716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07161" y="1962713"/>
                        <a:ext cx="1528916" cy="1290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xmlns="" id="{90076E30-F6C8-60FE-F1AF-220AA84A6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86758"/>
              </p:ext>
            </p:extLst>
          </p:nvPr>
        </p:nvGraphicFramePr>
        <p:xfrm>
          <a:off x="8662219" y="1957207"/>
          <a:ext cx="1528916" cy="1290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Worksheet" showAsIcon="1" r:id="rId12" imgW="914570" imgH="771690" progId="Excel.Sheet.12">
                  <p:embed/>
                </p:oleObj>
              </mc:Choice>
              <mc:Fallback>
                <p:oleObj name="Worksheet" showAsIcon="1" r:id="rId12" imgW="914570" imgH="7716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662219" y="1957207"/>
                        <a:ext cx="1528916" cy="1290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6753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to 43" hidden="1">
            <a:extLst>
              <a:ext uri="{FF2B5EF4-FFF2-40B4-BE49-F238E27FC236}">
                <a16:creationId xmlns:a16="http://schemas.microsoft.com/office/drawing/2014/main" xmlns="" id="{A9478C65-33D0-FB2F-C16E-10C735A20D5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25588" y="265113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Slide do think-cell" r:id="rId6" imgW="360" imgH="360" progId="TCLayout.ActiveDocument.1">
                  <p:embed/>
                </p:oleObj>
              </mc:Choice>
              <mc:Fallback>
                <p:oleObj name="Slide do think-cell" r:id="rId6" imgW="360" imgH="360" progId="TCLayout.ActiveDocument.1">
                  <p:embed/>
                  <p:pic>
                    <p:nvPicPr>
                      <p:cNvPr id="60418" name="Objeto 43" hidden="1">
                        <a:extLst>
                          <a:ext uri="{FF2B5EF4-FFF2-40B4-BE49-F238E27FC236}">
                            <a16:creationId xmlns:a16="http://schemas.microsoft.com/office/drawing/2014/main" xmlns="" id="{A9478C65-33D0-FB2F-C16E-10C735A20D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8" y="265113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tângulo 42" hidden="1">
            <a:extLst>
              <a:ext uri="{FF2B5EF4-FFF2-40B4-BE49-F238E27FC236}">
                <a16:creationId xmlns:a16="http://schemas.microsoft.com/office/drawing/2014/main" xmlns="" id="{68FE3FD9-E546-A308-7FD7-F31DC7C0BE0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524000" y="263525"/>
            <a:ext cx="146050" cy="146050"/>
          </a:xfrm>
          <a:prstGeom prst="rect">
            <a:avLst/>
          </a:prstGeom>
          <a:solidFill>
            <a:srgbClr val="007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marL="0" marR="0" lvl="0" indent="0" algn="ctr" defTabSz="422041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108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5060" name="Retângulo 1">
            <a:extLst>
              <a:ext uri="{FF2B5EF4-FFF2-40B4-BE49-F238E27FC236}">
                <a16:creationId xmlns:a16="http://schemas.microsoft.com/office/drawing/2014/main" xmlns="" id="{4A873333-91E1-4A65-01FC-32E7CAD0B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544" y="1302423"/>
            <a:ext cx="10702687" cy="452431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49263" indent="-2730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Documento atualizado, </a:t>
            </a:r>
            <a:r>
              <a:rPr kumimoji="0" lang="pt-BR" sz="1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assinado pelo Presidente do Conselho</a:t>
            </a: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 Idealmente já aprovado em plenária, registrado em ata do Conselho. </a:t>
            </a:r>
            <a:endParaRPr kumimoji="0" lang="pt-BR" sz="1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Ações priorizadas pelo Conselho que contemplem 2024, considerando que os recursos repassados em 2023 serão aplicados no próximo ano.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Quando o plano for plurianual, é necessário que o Conselho especifique as ações ainda não executadas até 2023.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 documento deve ser detalhado com objetivos, metas, previsão de despesas e receitas, referentes a respectiva política da criança e do adolescente e ou do idoso. </a:t>
            </a:r>
          </a:p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1" i="0" u="none" strike="noStrike" kern="1200" cap="none" spc="0" normalizeH="0" baseline="0" noProof="0" dirty="0">
              <a:ln>
                <a:noFill/>
              </a:ln>
              <a:solidFill>
                <a:srgbClr val="E17223"/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900" b="1" i="0" u="none" strike="noStrike" kern="1200" cap="none" spc="0" normalizeH="0" baseline="0" noProof="0" dirty="0">
                <a:ln>
                  <a:noFill/>
                </a:ln>
                <a:solidFill>
                  <a:srgbClr val="E17223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Obs.: o não envio do plano de ação poderá determinar valor mais reduzido de aporte aos Fundos, mesmo que estejam com outros documentos regulares.</a:t>
            </a:r>
          </a:p>
          <a:p>
            <a:pPr marL="342900" marR="0" lvl="1" indent="-342900" algn="l" defTabSz="4572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lphaLcParenR"/>
              <a:tabLst/>
              <a:defRPr/>
            </a:pPr>
            <a:endParaRPr kumimoji="0" lang="pt-BR" sz="1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Vale Sans Light" panose="020B040302020403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tângulo 6">
            <a:extLst>
              <a:ext uri="{FF2B5EF4-FFF2-40B4-BE49-F238E27FC236}">
                <a16:creationId xmlns:a16="http://schemas.microsoft.com/office/drawing/2014/main" xmlns="" id="{A3356B55-6E0E-4BDE-9C55-13A1E6CCC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82" y="243819"/>
            <a:ext cx="10109129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Plano de Ação que contemple 2024 (desejável)</a:t>
            </a:r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xmlns="" id="{9B61ABE2-57C0-8BE1-C3A9-5BD20DE71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8" name="Picture 2" descr="Organização de arquivos">
            <a:extLst>
              <a:ext uri="{FF2B5EF4-FFF2-40B4-BE49-F238E27FC236}">
                <a16:creationId xmlns:a16="http://schemas.microsoft.com/office/drawing/2014/main" xmlns="" id="{644CDFAE-7F08-499D-BE59-6DBE833F1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963" y="2763086"/>
            <a:ext cx="3784600" cy="346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8107EB6F-8A80-4E2E-BE78-5ECDF76D657C}"/>
              </a:ext>
            </a:extLst>
          </p:cNvPr>
          <p:cNvSpPr/>
          <p:nvPr/>
        </p:nvSpPr>
        <p:spPr>
          <a:xfrm>
            <a:off x="9066087" y="2109767"/>
            <a:ext cx="2909887" cy="368300"/>
          </a:xfrm>
          <a:prstGeom prst="rect">
            <a:avLst/>
          </a:prstGeom>
          <a:solidFill>
            <a:srgbClr val="EDB1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990" name="Retângulo 7">
            <a:extLst>
              <a:ext uri="{FF2B5EF4-FFF2-40B4-BE49-F238E27FC236}">
                <a16:creationId xmlns:a16="http://schemas.microsoft.com/office/drawing/2014/main" xmlns="" id="{2D394C40-F751-4C65-B0C8-352AD5632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385763"/>
            <a:ext cx="11109325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3500" b="0" i="0" u="none" strike="noStrike" kern="1200" cap="none" spc="0" normalizeH="0" baseline="0" noProof="0" dirty="0">
                <a:ln>
                  <a:noFill/>
                </a:ln>
                <a:solidFill>
                  <a:srgbClr val="007E79"/>
                </a:solidFill>
                <a:effectLst/>
                <a:uLnTx/>
                <a:uFillTx/>
                <a:latin typeface="Vale Sans Medium" panose="020B0603020204030204" pitchFamily="34" charset="0"/>
                <a:ea typeface="+mn-ea"/>
                <a:cs typeface="Arial" panose="020B0604020202020204" pitchFamily="34" charset="0"/>
              </a:rPr>
              <a:t>Formatação geral dos documentos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xmlns="" id="{ABEF6280-83E5-4537-9855-29B536427B54}"/>
              </a:ext>
            </a:extLst>
          </p:cNvPr>
          <p:cNvSpPr/>
          <p:nvPr/>
        </p:nvSpPr>
        <p:spPr>
          <a:xfrm>
            <a:off x="415925" y="2019299"/>
            <a:ext cx="7628188" cy="465132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987" name="CaixaDeTexto 3">
            <a:extLst>
              <a:ext uri="{FF2B5EF4-FFF2-40B4-BE49-F238E27FC236}">
                <a16:creationId xmlns:a16="http://schemas.microsoft.com/office/drawing/2014/main" xmlns="" id="{1159A3FA-C73B-4A77-92B6-34F8C41C9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362" y="2175135"/>
            <a:ext cx="7009314" cy="433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Arquivos em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E37022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PDF escaneados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, observando se estão legíveis e na ordem correta das páginas;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exceto os arquivos em planilha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, cujos modelos foram disponibilizados.</a:t>
            </a:r>
          </a:p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E37022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Cada documento = 1 arquivo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 Não enviar o documento dividido em vários arquivos. Ex. a lei deve ser encaminhada como </a:t>
            </a:r>
            <a:r>
              <a:rPr kumimoji="0" lang="pt-BR" altLang="pt-BR" sz="1800" b="0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arquivo único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 Não pode ser 1 arquivo por página.</a:t>
            </a:r>
          </a:p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E37022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Nomear os documentos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de forma que permita sua identificação imediata.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Ex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pt-BR" altLang="pt-BR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CanaaCarajas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_Lei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Conselho; </a:t>
            </a:r>
            <a:r>
              <a:rPr kumimoji="0" lang="pt-BR" altLang="pt-BR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NovaLima</a:t>
            </a:r>
            <a:r>
              <a:rPr kumimoji="0" lang="pt-BR" altLang="pt-B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_ordenador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despesa.</a:t>
            </a:r>
          </a:p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Enviar os documentos dentro do </a:t>
            </a:r>
            <a:r>
              <a:rPr kumimoji="0" lang="pt-BR" alt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E37022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prazo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estabelecido pelo ponto focal, que disponibilizará os documentos para a Fundação Vale.</a:t>
            </a:r>
          </a:p>
          <a:p>
            <a:pPr marL="285750" marR="0" lvl="0" indent="-28575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Arquivos </a:t>
            </a:r>
            <a:r>
              <a:rPr kumimoji="0" lang="pt-BR" altLang="pt-BR" sz="18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em word</a:t>
            </a:r>
            <a:r>
              <a:rPr kumimoji="0" lang="pt-BR" alt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 sem identificação oficial não serão aceitos.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B9EE5B7-C53C-22AF-FFF5-F102A6D3E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7" y="1111836"/>
            <a:ext cx="11109325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Os Conselhos devem verificar com os pontos focais da Vale </a:t>
            </a:r>
            <a:r>
              <a:rPr kumimoji="0" lang="pt-BR" altLang="pt-BR" sz="1900" b="1" i="0" u="none" strike="noStrike" kern="1200" cap="none" spc="0" normalizeH="0" baseline="0" noProof="0" dirty="0">
                <a:ln>
                  <a:noFill/>
                </a:ln>
                <a:solidFill>
                  <a:srgbClr val="F4740A"/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os prazos de envio, </a:t>
            </a:r>
            <a:r>
              <a:rPr kumimoji="0" lang="pt-BR" altLang="pt-BR" sz="1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Vale Sans Light" panose="020B0403020204030204" pitchFamily="34" charset="0"/>
                <a:ea typeface="+mn-ea"/>
                <a:cs typeface="Arial" panose="020B0604020202020204" pitchFamily="34" charset="0"/>
              </a:rPr>
              <a:t>considerando as demais etapas do processo.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xmlns="" id="{E4032558-5B16-90A0-6695-16DFB84F9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8575" y="-34925"/>
            <a:ext cx="247650" cy="6927850"/>
          </a:xfrm>
          <a:prstGeom prst="rect">
            <a:avLst/>
          </a:prstGeom>
          <a:solidFill>
            <a:srgbClr val="007E7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defTabSz="9128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128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altLang="pt-BR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  <a:sym typeface="Helvetica Neue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Imagem 2" descr="Texto, Logotipo&#10;&#10;Descrição gerada automaticamente">
            <a:extLst>
              <a:ext uri="{FF2B5EF4-FFF2-40B4-BE49-F238E27FC236}">
                <a16:creationId xmlns:a16="http://schemas.microsoft.com/office/drawing/2014/main" xmlns="" id="{C1890295-2B85-EA32-819B-9D6E73AA5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2665413"/>
            <a:ext cx="389413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0AxsKnRr.YHnNAcG1LOg"/>
</p:tagLst>
</file>

<file path=ppt/theme/theme1.xml><?xml version="1.0" encoding="utf-8"?>
<a:theme xmlns:a="http://schemas.openxmlformats.org/drawingml/2006/main" name="4_Em branco">
  <a:themeElements>
    <a:clrScheme name="Hiperlink Verde Va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7A"/>
      </a:hlink>
      <a:folHlink>
        <a:srgbClr val="007E7A"/>
      </a:folHlink>
    </a:clrScheme>
    <a:fontScheme name="Vale - Caecilia e Myriad">
      <a:majorFont>
        <a:latin typeface="Caecilia Roman"/>
        <a:ea typeface=""/>
        <a:cs typeface=""/>
      </a:majorFont>
      <a:minorFont>
        <a:latin typeface="Myriad Pro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m branco">
  <a:themeElements>
    <a:clrScheme name="Hiperlink Verde Val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7E7A"/>
      </a:hlink>
      <a:folHlink>
        <a:srgbClr val="007E7A"/>
      </a:folHlink>
    </a:clrScheme>
    <a:fontScheme name="Vale - Caecilia e Myriad">
      <a:majorFont>
        <a:latin typeface="Caecilia Roman"/>
        <a:ea typeface=""/>
        <a:cs typeface=""/>
      </a:majorFont>
      <a:minorFont>
        <a:latin typeface="Myriad Pro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 2013 - 2022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1357</Words>
  <Application>Microsoft Office PowerPoint</Application>
  <PresentationFormat>Personalizar</PresentationFormat>
  <Paragraphs>124</Paragraphs>
  <Slides>13</Slides>
  <Notes>7</Notes>
  <HiddenSlides>0</HiddenSlides>
  <MMClips>0</MMClips>
  <ScaleCrop>false</ScaleCrop>
  <HeadingPairs>
    <vt:vector size="6" baseType="variant">
      <vt:variant>
        <vt:lpstr>Tema</vt:lpstr>
      </vt:variant>
      <vt:variant>
        <vt:i4>4</vt:i4>
      </vt:variant>
      <vt:variant>
        <vt:lpstr>Servidores OLE incorporados</vt:lpstr>
      </vt:variant>
      <vt:variant>
        <vt:i4>3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4_Em branco</vt:lpstr>
      <vt:lpstr>Em branco</vt:lpstr>
      <vt:lpstr>3_Tema do Office</vt:lpstr>
      <vt:lpstr>1_Tema do Office</vt:lpstr>
      <vt:lpstr>Slide do think-cell</vt:lpstr>
      <vt:lpstr>Planilha Habilitada para Macros do Microsoft Excel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Vale S.A.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Aline Torre</dc:creator>
  <cp:lastModifiedBy>CMDCA-ADMIN</cp:lastModifiedBy>
  <cp:revision>6</cp:revision>
  <dcterms:created xsi:type="dcterms:W3CDTF">2023-04-26T18:23:33Z</dcterms:created>
  <dcterms:modified xsi:type="dcterms:W3CDTF">2023-09-14T17:15:34Z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40ed6a7-0f03-43d9-901d-02d4a7e408aa_Enabled">
    <vt:lpwstr>true</vt:lpwstr>
  </property>
  <property fmtid="{D5CDD505-2E9C-101B-9397-08002B2CF9AE}" pid="3" name="MSIP_Label_340ed6a7-0f03-43d9-901d-02d4a7e408aa_SetDate">
    <vt:lpwstr>2023-05-11T13:16:53Z</vt:lpwstr>
  </property>
  <property fmtid="{D5CDD505-2E9C-101B-9397-08002B2CF9AE}" pid="4" name="MSIP_Label_340ed6a7-0f03-43d9-901d-02d4a7e408aa_Method">
    <vt:lpwstr>Privileged</vt:lpwstr>
  </property>
  <property fmtid="{D5CDD505-2E9C-101B-9397-08002B2CF9AE}" pid="5" name="MSIP_Label_340ed6a7-0f03-43d9-901d-02d4a7e408aa_Name">
    <vt:lpwstr>Public</vt:lpwstr>
  </property>
  <property fmtid="{D5CDD505-2E9C-101B-9397-08002B2CF9AE}" pid="6" name="MSIP_Label_340ed6a7-0f03-43d9-901d-02d4a7e408aa_SiteId">
    <vt:lpwstr>7893571b-6c2c-4cef-b4da-7d4b266a0626</vt:lpwstr>
  </property>
  <property fmtid="{D5CDD505-2E9C-101B-9397-08002B2CF9AE}" pid="7" name="MSIP_Label_340ed6a7-0f03-43d9-901d-02d4a7e408aa_ActionId">
    <vt:lpwstr>eb9b874d-a65d-4e61-bffe-25bfb7ac74d5</vt:lpwstr>
  </property>
  <property fmtid="{D5CDD505-2E9C-101B-9397-08002B2CF9AE}" pid="8" name="MSIP_Label_340ed6a7-0f03-43d9-901d-02d4a7e408aa_ContentBits">
    <vt:lpwstr>0</vt:lpwstr>
  </property>
</Properties>
</file>